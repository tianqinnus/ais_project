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685010f1c431e" /><Relationship Type="http://schemas.openxmlformats.org/officeDocument/2006/relationships/extended-properties" Target="/docProps/app.xml" Id="R7b559fa2ec194000" /><Relationship Type="http://schemas.openxmlformats.org/officeDocument/2006/relationships/officeDocument" Target="/ppt/presentation.xml" Id="Rac38b4529877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3c16e6e464670"/>
  </p:sldMasterIdLst>
  <p:notesMasterIdLst>
    <p:notesMasterId xmlns:r="http://schemas.openxmlformats.org/officeDocument/2006/relationships" r:id="Re23942ec37344b03"/>
  </p:notesMasterIdLst>
  <p:sldIdLst>
    <p:sldId xmlns:r="http://schemas.openxmlformats.org/officeDocument/2006/relationships" id="256" r:id="Rb9c2502e7a6543a3"/>
    <p:sldId xmlns:r="http://schemas.openxmlformats.org/officeDocument/2006/relationships" id="257" r:id="Rb54988f5cba04736"/>
    <p:sldId xmlns:r="http://schemas.openxmlformats.org/officeDocument/2006/relationships" id="258" r:id="R5bb9c87119a44201"/>
    <p:sldId xmlns:r="http://schemas.openxmlformats.org/officeDocument/2006/relationships" id="259" r:id="R5d682a763fcf4f2e"/>
    <p:sldId xmlns:r="http://schemas.openxmlformats.org/officeDocument/2006/relationships" id="260" r:id="R699d3d63373e4698"/>
    <p:sldId xmlns:r="http://schemas.openxmlformats.org/officeDocument/2006/relationships" id="261" r:id="R8ea4572e9dce4b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33ffc669741d5" /><Relationship Type="http://schemas.openxmlformats.org/officeDocument/2006/relationships/slideMaster" Target="/ppt/slideMasters/slideMaster1.xml" Id="Rf3c3c16e6e464670" /><Relationship Type="http://schemas.openxmlformats.org/officeDocument/2006/relationships/notesMaster" Target="/ppt/notesMasters/notesMaster1.xml" Id="Re23942ec37344b03" /><Relationship Type="http://schemas.openxmlformats.org/officeDocument/2006/relationships/presProps" Target="/ppt/presProps.xml" Id="Rb1fc0d4541244b43" /><Relationship Type="http://schemas.openxmlformats.org/officeDocument/2006/relationships/tableStyles" Target="/ppt/tableStyles.xml" Id="R59697cfca23a48f2" /><Relationship Type="http://schemas.openxmlformats.org/officeDocument/2006/relationships/slide" Target="/ppt/slides/slide1.xml" Id="Rb9c2502e7a6543a3" /><Relationship Type="http://schemas.openxmlformats.org/officeDocument/2006/relationships/slide" Target="/ppt/slides/slide2.xml" Id="Rb54988f5cba04736" /><Relationship Type="http://schemas.openxmlformats.org/officeDocument/2006/relationships/slide" Target="/ppt/slides/slide3.xml" Id="R5bb9c87119a44201" /><Relationship Type="http://schemas.openxmlformats.org/officeDocument/2006/relationships/slide" Target="/ppt/slides/slide4.xml" Id="R5d682a763fcf4f2e" /><Relationship Type="http://schemas.openxmlformats.org/officeDocument/2006/relationships/slide" Target="/ppt/slides/slide5.xml" Id="R699d3d63373e4698" /><Relationship Type="http://schemas.openxmlformats.org/officeDocument/2006/relationships/slide" Target="/ppt/slides/slide6.xml" Id="R8ea4572e9dce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657459b3704c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3e2ebba32461d" /><Relationship Type="http://schemas.openxmlformats.org/officeDocument/2006/relationships/notesMaster" Target="/ppt/notesMasters/notesMaster1.xml" Id="Ra2d79dbe498342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959edda3f4b52" /><Relationship Type="http://schemas.openxmlformats.org/officeDocument/2006/relationships/notesMaster" Target="/ppt/notesMasters/notesMaster1.xml" Id="R466b6c65dd2045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9dff6420f40a2" /><Relationship Type="http://schemas.openxmlformats.org/officeDocument/2006/relationships/notesMaster" Target="/ppt/notesMasters/notesMaster1.xml" Id="R5dc3d73114924a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dd56a63c74814" /><Relationship Type="http://schemas.openxmlformats.org/officeDocument/2006/relationships/notesMaster" Target="/ppt/notesMasters/notesMaster1.xml" Id="R29485f4f329f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97f56c81594939" /><Relationship Type="http://schemas.openxmlformats.org/officeDocument/2006/relationships/notesMaster" Target="/ppt/notesMasters/notesMaster1.xml" Id="Ra57f1400d1494c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6897de649463d" /><Relationship Type="http://schemas.openxmlformats.org/officeDocument/2006/relationships/notesMaster" Target="/ppt/notesMasters/notesMaster1.xml" Id="R5590cc17ca11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code. Cover artwork generated for this presentation as a technical illustration, not a photograph of a real vehicle.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experiment sequence test_00 through test_12c. Cost experiments were reviewed but excluded from final no-cost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risk-ranking mean AP 0.192175 ± 0.014271; five-class Macro F1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The dry run produced one latest prediction for 5,037 vehicles and seven COLLECT_MORE_DATA decisions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9f2a2fb95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b55cda6ce48de" /><Relationship Type="http://schemas.openxmlformats.org/officeDocument/2006/relationships/slideLayout" Target="/ppt/slideLayouts/slideLayout1.xml" Id="Rda568e372781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68e372781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1612dbc44097" /><Relationship Type="http://schemas.openxmlformats.org/officeDocument/2006/relationships/image" Target="/ppt/media/image.png" Id="R669eab11887948a3" /><Relationship Type="http://schemas.openxmlformats.org/officeDocument/2006/relationships/notesSlide" Target="/ppt/notesSlides/notesSlide1.xml" Id="Rab75aba843f0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d580e8b74f6a" /><Relationship Type="http://schemas.openxmlformats.org/officeDocument/2006/relationships/notesSlide" Target="/ppt/notesSlides/notesSlide2.xml" Id="Rbcd3567d17b1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a556ae0854a86" /><Relationship Type="http://schemas.openxmlformats.org/officeDocument/2006/relationships/notesSlide" Target="/ppt/notesSlides/notesSlide3.xml" Id="R5dab696378e147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2af7d52f486c" /><Relationship Type="http://schemas.openxmlformats.org/officeDocument/2006/relationships/chart" Target="/ppt/slides/charts/chart1.xml" Id="Rf983c16dc57f4df5" /><Relationship Type="http://schemas.openxmlformats.org/officeDocument/2006/relationships/notesSlide" Target="/ppt/notesSlides/notesSlide4.xml" Id="Rba15e204e9be45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df210f32242b0" /><Relationship Type="http://schemas.openxmlformats.org/officeDocument/2006/relationships/notesSlide" Target="/ppt/notesSlides/notesSlide5.xml" Id="Rf392697dace1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238fda1f4ffd" /><Relationship Type="http://schemas.openxmlformats.org/officeDocument/2006/relationships/notesSlide" Target="/ppt/notesSlides/notesSlide6.xml" Id="R8a69befadb5b42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58727E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0A332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02B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7F6F2"/>
        </a:solidFill>
        <a:ln xmlns:a="http://schemas.openxmlformats.org/drawingml/2006/main" w="0">
          <a:solidFill>
            <a:srgbClr val="F7F6F2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  <a:ln xmlns:a="http://schemas.openxmlformats.org/drawingml/2006/main" w="0">
      <a:solidFill>
        <a:srgbClr val="F7F6F2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eab11887948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E653D-34F2-4B40-981C-DA4516E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E9093-EAED-455B-9F2D-0ED8A3F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0A33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83DFA-CEB4-4438-BE16-0F6EAA5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Iteration,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Evaluation and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54243-6F29-46E4-9765-AB7A9DF7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SCANIA Component X</a:t>
            </a:r>
          </a:p>
          <a:p xmlns:a="http://schemas.openxmlformats.org/drawingml/2006/main">
            <a:pPr algn="l">
              <a:defRPr sz="1575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predictive maintenance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E6EE2-ACDD-4731-877C-314DF1BD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Final model, temporal rules and production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05B0C-B379-4592-8B0F-FFF095ED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92307-683B-4286-817F-D719FC37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</p:spTree>
    <p:extLst>
      <p:ext uri="{BB962C8B-B14F-4D97-AF65-F5344CB8AC3E}">
        <p14:creationId xmlns:p14="http://schemas.microsoft.com/office/powerpoint/2010/main" val="1401337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9E945-7EF1-401E-A3A2-346FDABD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563E-7763-4EAF-B2AF-189B25A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66009-E513-4556-BCC6-212FD16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Six experiment stages led to the final no-cost XGBoost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AD3EE-E91B-4527-ADBD-98D193D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FDE34-DAF5-49EA-9792-0CB29315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00AF9-C6FC-459B-9C5C-84A5F3A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E086-AC30-4B1D-B633-9D4694F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BC7BD-FE8F-4ECE-9CFA-088DA431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C700F-6D30-4134-95E1-99B1C79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Latest-state baseline exposed severe 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95217-B226-4F2F-B5AE-EC59967D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9D2FB-7A25-4F1C-89D4-847293C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1F568-B897-4A52-A80C-0CA74192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4EB60-D601-4CDC-B37F-A8A3932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Nonlinear five-class probabilities improved flexibility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8CD29-2725-4F2F-91CF-D4567990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4F745-5327-45CF-B399-53D76B5E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13205-1FC0-4A39-845D-F80DB99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Vehicle-aware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C3CEF-8D18-4154-85CA-272E772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Vehicle separation prevented leakage across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C3F64-99A1-451A-B425-2059D0CE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6B247-81FA-478E-AD98-056BAB9F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43D58-4E47-4E0C-9A67-52E46A8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C23A2-86F7-468F-886D-DD5F13C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Rates, changes and past-only history used repeated readouts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88520-74AF-4EB1-87BF-66AF12E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B0C3A-2E0A-4D42-B040-7B74D7D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E9E97-D482-4341-99A7-3EEF5FE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Policy experiments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62057-667F-43D6-A772-DCCE259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Calibration, cost and capacity rules were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1E497-7023-423E-879B-75778D93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54996-7FFE-487E-B608-B3433EC3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A3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4CCF9-BB89-4EAB-9090-AF976BF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B1E41-C589-4940-A6D9-65D34D0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and parameter selection used no operational cost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5C239-A682-4245-AA77-9C53016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85238-E260-4818-B80E-9081B44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F961D-CFCA-4940-83BC-8073D3D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864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 with vehicle-aware history; cost-based selection removed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D8D1B-AE7F-4FDC-8920-2215744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328713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D94D8-EDAB-4116-9DF3-4741C3F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63C62-B95B-4288-924E-74FD070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DDA3C-FD84-4801-8A73-645C5207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29BC8-153B-43BC-912E-E442C3A4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548EB-1924-4FAC-9112-86E1D5E4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81050" y="1676400"/>
          <a:ext xmlns:a="http://schemas.openxmlformats.org/drawingml/2006/main" cx="7334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2571750"/>
                <a:gridCol w="3981450"/>
              </a:tblGrid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All rates plus 6 and 12-unit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510EF-2F3B-4E29-BB6E-3836515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4429-7B13-4152-8378-EAC4697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777DA-820F-4E2A-A44B-FB4135B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/ parameter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8C18D-8372-4539-86CC-B403365F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5DB99-AFCC-4155-85C5-A2817D9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random seeds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C4029-4E06-45BF-9F50-1C9C9EA3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94067-48EB-4245-8EE1-4134DE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DDDB4-915D-4126-A157-D41C756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03709-37FC-4D56-B931-69C3210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FIVE-CLASS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FF64F-1BB2-40C1-A0A6-42E88804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62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132F5-325C-4A7C-AABA-17CFB4E2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40746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5AD01-E304-4AA8-84A2-B876E0DE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DF7F9-BE24-44D7-BC78-06195C68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D1C38-C8DB-4854-8281-3F903DA1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PolicyDev selected the configurations; Official Validation stayed outside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80D6E-192F-45D4-850E-76EF6A28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114C1-E22C-4647-B076-9D48E808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83c16dc57f4d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DFDCA-3852-44AD-B1BE-2B19D39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570B4-C1C6-4618-9A9B-1E42B31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C0C6C-40C1-48E9-AE6E-BB4D530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E980F-8DD7-4006-86B1-40ACC4B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64527-DBE4-4F6D-9482-2F43BFB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CC711-A269-4190-9126-4FD9CED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8FA1F-8924-45E7-AE45-6E76EDF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4C13C-E8FB-4130-931F-4343941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461CB-5C9D-4D48-9E0F-72B6BDF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0.970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F2083-9645-42E0-B661-600E59A0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C25C8-98FE-4476-85E0-BE60C6A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is dominated by C0. Macro F1 and horizon AP better reflect minority-risk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270A1-39EC-4B53-BB0A-CB50271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132549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DCEB8-C81B-42B3-8E97-6900CC3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50E98-1AC9-48C1-B4A0-DB0633C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3D5D5-7EF4-4364-B746-3D4BBFD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Probabilities and recent history produce a stable maintenance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94AD3-3C77-4400-A581-0A271D84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86AC9-66CE-41BA-8DAE-F0865ADD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33918-CF18-419E-B020-C4993EC8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81050" y="1914525"/>
          <a:ext xmlns:a="http://schemas.openxmlformats.org/drawingml/2006/main" cx="106299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Only one readout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COLLECT_MORE_DATA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with fewer than three historical readouts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MANUAL_REVIEW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TRV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Low confidence and repeated large class jumps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UNSTABLE / MANUAL_REVIEW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DFB30-2D70-42EB-8CBB-0B4B5C9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81050" y="4105275"/>
          <a:ext xmlns:a="http://schemas.openxmlformats.org/drawingml/2006/main" cx="1062990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Core 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C4 + extreme Risk6 +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PRIORITY_INSPECT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TR2 / TR3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+ extreme Risk12, or extreme persistent Risk6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INSPECT</a:t>
                      </a:r>
                    </a:p>
                  </a:txBody>
                  <a:tcPr marL="91440" marR="91440" marT="45720" marB="45720">
                    <a:solidFill>
                      <a:srgbClr val="FBEDE1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C2, or high Risk24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ENHANCED_MONITOR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C1, or high Risk48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MONITOR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No combined evidence for escalation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marL="91440" marR="91440" marT="45720" marB="45720">
                    <a:solidFill>
                      <a:srgbClr val="EBF0E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DAC15-3D11-41DD-B467-35BF2E3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969029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D8030A-B345-47BD-B55D-3175428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360BD-DD89-4FB1-8401-C36DCD09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B3C2C-5392-4580-9836-94424B19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The model creates one latest decision per vehicle and stores it for the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84CDA-21D1-4CDA-8101-EC674BB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E01F5-7E01-42B6-91A7-F137B331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6664C-9F70-4B01-BAA6-0B7DF80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074D-876D-4340-9956-A41F320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2CF8-A24A-4E3C-A303-3E014B5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49434-A921-4059-A7B6-DB6EE90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truck_readout +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D1454-2A48-4CF6-A863-A04FB7D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81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0E4DE-81DF-464E-91DB-9680D465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BCCCA-6857-4331-A258-593D861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7647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3B319-D969-4DD6-8A11-1C790855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current, rate, change,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9D875-1AA0-4DF7-8C33-EE358492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8F5CA-D0C6-42E0-A756-B63F1FF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89056-BDCE-452A-8882-2F8F8EE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86BC2-56E6-4FB3-9FCA-F1A5B3B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P(C0...C4) and four horizons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FC3C6-8706-41A7-98CF-45254BF2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5C18C-6DBB-4549-B8B4-CDF6417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A3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935DB-8D0C-491E-BB1B-9FAC5E1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A15B9-7C40-4E26-96E5-CB336AD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TR0-TR6, TRV and TRD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3B328-F619-4E8B-B91D-9A41217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811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D93CD-1947-4A2B-AA16-EAD4AF81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EABA-3531-4AB2-B70A-7B506930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764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Stored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10951-505F-4553-AD40-A21FF7F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D09C3-695A-482C-B882-4E18479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9839E-7AEE-49E0-9CB8-A04348A2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03B1E-973A-4325-951D-C21E4FD9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C6677-A600-4B45-9556-7B1F285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 row per active vehicle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7BBC8-6041-43EE-9AF2-64CC4F8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F9DFB-6DD8-4EDE-9170-75866217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34299-D1A7-4C2B-B7C5-2338D607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27E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B31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6B9B9-D337-4944-9E41-66DC0AF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One readout bypasses the model and receives COLLECT_MORE_DATA.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482B3-9E97-4E9D-8F6C-8B83EB0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F9F074-36C9-49BC-8E0E-08E8651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EB8C3-A70C-4A60-B344-74F5D72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95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28CB68-A664-4461-9362-ECDC4829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D332A-6DAD-4541-B4AB-B79FF7C2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86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model predictions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6987C-20D0-4C50-9BC8-D3D649B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E59334-C037-4998-ABD0-46DFE13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collect-more-data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840889-F195-4A5E-97C5-19D74DA9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Dashboard query: latest analysis row per vehicle; isactive = 1; in_maintenance IS NULL.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BBBE87-83F0-472E-9612-FD5AE924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310867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2026-10-12T22:42:23.6610000Z</dcterms:created>
  <dcterms:modified xsi:type="dcterms:W3CDTF">2026-10-12T22:42:23.6610000Z</dcterms:modified>
</coreProperties>
</file>