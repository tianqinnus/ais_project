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b5a835d8654ac0" /><Relationship Type="http://schemas.openxmlformats.org/officeDocument/2006/relationships/extended-properties" Target="/docProps/app.xml" Id="R1d2058c752ec40d7" /><Relationship Type="http://schemas.openxmlformats.org/officeDocument/2006/relationships/officeDocument" Target="/ppt/presentation.xml" Id="R5355b9b90b3f48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4feab8ddb84523"/>
  </p:sldMasterIdLst>
  <p:notesMasterIdLst>
    <p:notesMasterId xmlns:r="http://schemas.openxmlformats.org/officeDocument/2006/relationships" r:id="R225f064e70d24975"/>
  </p:notesMasterIdLst>
  <p:sldIdLst>
    <p:sldId xmlns:r="http://schemas.openxmlformats.org/officeDocument/2006/relationships" id="256" r:id="Rf091cdadd67640b0"/>
    <p:sldId xmlns:r="http://schemas.openxmlformats.org/officeDocument/2006/relationships" id="257" r:id="R4a0f705d341f492b"/>
    <p:sldId xmlns:r="http://schemas.openxmlformats.org/officeDocument/2006/relationships" id="258" r:id="R7876eb39176a47f9"/>
    <p:sldId xmlns:r="http://schemas.openxmlformats.org/officeDocument/2006/relationships" id="259" r:id="Rd15da6d0a26c4c94"/>
    <p:sldId xmlns:r="http://schemas.openxmlformats.org/officeDocument/2006/relationships" id="260" r:id="R560b14767d1b43d2"/>
    <p:sldId xmlns:r="http://schemas.openxmlformats.org/officeDocument/2006/relationships" id="261" r:id="Rbaec892ad5114b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b1d134845f48b2" /><Relationship Type="http://schemas.openxmlformats.org/officeDocument/2006/relationships/slideMaster" Target="/ppt/slideMasters/slideMaster1.xml" Id="Rc34feab8ddb84523" /><Relationship Type="http://schemas.openxmlformats.org/officeDocument/2006/relationships/notesMaster" Target="/ppt/notesMasters/notesMaster1.xml" Id="R225f064e70d24975" /><Relationship Type="http://schemas.openxmlformats.org/officeDocument/2006/relationships/presProps" Target="/ppt/presProps.xml" Id="Rb8ed8ac7c40a47ed" /><Relationship Type="http://schemas.openxmlformats.org/officeDocument/2006/relationships/tableStyles" Target="/ppt/tableStyles.xml" Id="R1ef3748090da4a1c" /><Relationship Type="http://schemas.openxmlformats.org/officeDocument/2006/relationships/slide" Target="/ppt/slides/slide1.xml" Id="Rf091cdadd67640b0" /><Relationship Type="http://schemas.openxmlformats.org/officeDocument/2006/relationships/slide" Target="/ppt/slides/slide2.xml" Id="R4a0f705d341f492b" /><Relationship Type="http://schemas.openxmlformats.org/officeDocument/2006/relationships/slide" Target="/ppt/slides/slide3.xml" Id="R7876eb39176a47f9" /><Relationship Type="http://schemas.openxmlformats.org/officeDocument/2006/relationships/slide" Target="/ppt/slides/slide4.xml" Id="Rd15da6d0a26c4c94" /><Relationship Type="http://schemas.openxmlformats.org/officeDocument/2006/relationships/slide" Target="/ppt/slides/slide5.xml" Id="R560b14767d1b43d2" /><Relationship Type="http://schemas.openxmlformats.org/officeDocument/2006/relationships/slide" Target="/ppt/slides/slide6.xml" Id="Rbaec892ad5114b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c62f1942a94e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5ebac666b345b2" /><Relationship Type="http://schemas.openxmlformats.org/officeDocument/2006/relationships/notesMaster" Target="/ppt/notesMasters/notesMaster1.xml" Id="Ra9ddbb95d7b544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acd8e07f6c4eb3" /><Relationship Type="http://schemas.openxmlformats.org/officeDocument/2006/relationships/notesMaster" Target="/ppt/notesMasters/notesMaster1.xml" Id="R21c374983fbb45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ebe01e0f4e4704" /><Relationship Type="http://schemas.openxmlformats.org/officeDocument/2006/relationships/notesMaster" Target="/ppt/notesMasters/notesMaster1.xml" Id="R0f1299c36fde47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c1c09786e3407c" /><Relationship Type="http://schemas.openxmlformats.org/officeDocument/2006/relationships/notesMaster" Target="/ppt/notesMasters/notesMaster1.xml" Id="Re8e06189c51748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781ba6a899448a" /><Relationship Type="http://schemas.openxmlformats.org/officeDocument/2006/relationships/notesMaster" Target="/ppt/notesMasters/notesMaster1.xml" Id="R314fd71fd1e648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c814e9477d4fb8" /><Relationship Type="http://schemas.openxmlformats.org/officeDocument/2006/relationships/notesMaster" Target="/ppt/notesMasters/notesMaster1.xml" Id="Rd15c287c7bab48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 and SystemCode/data/fleetcare_inference.py. This slide summarises the current offline scoring and stored-result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experiment sequence test_00 through test_12c. Cost experiments were reviewed but removed from final no-cost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test_12c_feature_parameter_search.py. P3 uses 250 estimators, learning rate 0.05 and depth 5. P5 uses 250 estimators, learning rate 0.05 and depth 4 with lower regularisation.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test_12c results. Official Validation: F5/P3 Macro F1 0.201098, mean horizon AP 0.040280; F5/P5 Macro F1 0.203502, mean horizon AP 0.043174. PolicyDev winners: 0.192175 ± 0.014271 for risk ranking and 0.201593 ± 0.003539 for five-class classification.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SystemCode/data/fleetcare_inference.py. High-risk evidence uses Risk48 P80, Risk24 P85, Risk12 P90 and Risk6 P95; TR1 and TR2 use P99.5 escalation evidence. TR0 precedes TRV.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SystemCode/data/run_model.py, SystemCode/data/fleetcare_inference.py and verified dry-run output. Dashboard query filters to the latest analysis row per vehicle, isactive = 1 and in_maintenance IS NULL.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0e1c66b6345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a08fb7e81c4690" /><Relationship Type="http://schemas.openxmlformats.org/officeDocument/2006/relationships/slideLayout" Target="/ppt/slideLayouts/slideLayout1.xml" Id="Rb0eb04ab92f946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eb04ab92f946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e8efb35a74948" /><Relationship Type="http://schemas.openxmlformats.org/officeDocument/2006/relationships/notesSlide" Target="/ppt/notesSlides/notesSlide1.xml" Id="Rb30a6ab1641c4f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4723cbbe64590" /><Relationship Type="http://schemas.openxmlformats.org/officeDocument/2006/relationships/notesSlide" Target="/ppt/notesSlides/notesSlide2.xml" Id="R467e6ceb83b74e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3202fcd864911" /><Relationship Type="http://schemas.openxmlformats.org/officeDocument/2006/relationships/notesSlide" Target="/ppt/notesSlides/notesSlide3.xml" Id="Ra66966be08c542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bca96881f4481" /><Relationship Type="http://schemas.openxmlformats.org/officeDocument/2006/relationships/chart" Target="/ppt/slides/charts/chart1.xml" Id="Rf8a4c67257594879" /><Relationship Type="http://schemas.openxmlformats.org/officeDocument/2006/relationships/notesSlide" Target="/ppt/notesSlides/notesSlide4.xml" Id="R8c179b8d45d541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2331e075f4de3" /><Relationship Type="http://schemas.openxmlformats.org/officeDocument/2006/relationships/notesSlide" Target="/ppt/notesSlides/notesSlide5.xml" Id="R10e382c9554d4a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95dbda99d4817" /><Relationship Type="http://schemas.openxmlformats.org/officeDocument/2006/relationships/notesSlide" Target="/ppt/notesSlides/notesSlide6.xml" Id="Raefa2f8e7d6044d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12314D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00868A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231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D60B0E-EBFC-4611-8905-88E33316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01 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CFF63-2E11-44C7-AEB7-A444B21E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FleetCare AI decision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59CD4-A3F8-442A-AA90-1BBFADA2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Goal: convert irregular vehicle readouts into traceable maintenance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90F57-1972-4A3E-B761-41060DE3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1A537-DC7A-4472-A783-988CC929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Operational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E278E-36C4-446D-9317-EA411903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1943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truck_readout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truck specifications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latest vehicle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EB554-59DC-409E-A6B5-3688A8B0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4310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0C32D-CCB4-48D9-AA5E-A32AA3A4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574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Feature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74937-5186-4FA3-869D-921E12B3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9825"/>
            <a:ext cx="1943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Current values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Rates and changes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Past-only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B2303-7566-49A3-B3EB-9EDC9FB1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4310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F9BAC-4DF1-4C4E-91E3-AB119493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XGBoost models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85D39-2272-4064-9E96-BEEB5331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9825"/>
            <a:ext cx="1943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P(C0...C4)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Risk6 / 12 / 24 / 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B6DF2-4DFE-4B0E-80CB-5D47E6FD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4310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A7DC0-35D5-47AC-A05E-42972B45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574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Temporal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940D9-CA22-4085-B087-E0A23295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9825"/>
            <a:ext cx="1943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Persistence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Deterioration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History quality</a:t>
            </a:r>
          </a:p>
        </p:txBody>
      </p:sp>
      <p:cxnSp>
        <p:nvCxnSpPr>
          <p:cNvPr id="57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81300" y="2619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81650" y="2619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382000" y="2619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3B8CBC-8DF1-4D0E-815A-C6C5D67F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47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5944B-FBC5-4454-AB46-3795DA78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47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DFB02-DA1A-47D1-8EFD-D885EA4E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47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61BF0-3E44-4C92-8F9C-0106C39A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B15E9B-43D1-4D82-8806-125F72F0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SHAP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EA323-1BA2-4809-84C3-B3AD4825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62475"/>
            <a:ext cx="1943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Top feature contributions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per vehicle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7D358A-76CC-4D5F-936C-74E2E492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33E4E3-544E-41D4-A996-A93A4879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Stored decisions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569C28-D4A7-47B2-98C2-5EBE389D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62475"/>
            <a:ext cx="1943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analysis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prediction_shap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8E9BFE-56FA-4B53-8AE6-FD916F86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957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219294-F628-4CCE-8746-9824A4AD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10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Web 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E5787D-E94A-45C1-8FE5-18C5B826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62475"/>
            <a:ext cx="1943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Fleet priorities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Vehicle evidence</a:t>
            </a:r>
          </a:p>
        </p:txBody>
      </p:sp>
      <p:cxnSp>
        <p:nvCxnSpPr>
          <p:cNvPr id="72" name=""/>
          <p:cNvCxnSpPr>
            <a:stCxn xmlns:a="http://schemas.openxmlformats.org/drawingml/2006/main" id="1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4457700" y="3295650"/>
            <a:ext cx="280035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7258050" y="3295650"/>
            <a:ext cx="280035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581650" y="46291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382000" y="46291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B279CB-AB25-43B2-8E1E-1EDFFC2B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95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0AA797-B936-4EE0-AE1B-9F50C018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95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C6E7EE-6A03-4BFA-B3E2-1452664D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48325"/>
            <a:ext cx="1064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One offline scoring path. One latest action per active vehicle. The dashboard reads stored evidence rather than rerunning the model.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C67C7F-4B85-4F96-BDA2-D90DB598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CDDAA1-62C5-4BF7-8AE6-1C5D93AB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EA24EE-349F-427F-B10F-DE9891D5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0:00–0:30  ·  30 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0CAC52-12DE-440C-904D-BE8BF8F2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019782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6DD71C-100C-48BD-9E15-58AE313B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02  MODEL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2587D-4010-437E-AF48-067A789C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Six iterations shaped the final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BE9AF-A8C2-40ED-BF4D-D013CC25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Each stage addressed a limitation found in the previous experiment.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4FB4E-277C-47FA-83FF-339BC6C5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43829-BA3D-4966-AD38-28DA7689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01  Random Forest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CEFAD-75DB-4E02-ADBD-205A5ACA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Latest-state baseline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Class imbalance became visible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8CB0E-48F3-4EBB-9B16-E0D09A47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431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82D70-EB24-4718-AC47-69D96DF0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574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02  XGBoost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E4E36-BD20-45A7-AD78-05115020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09825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Nonlinear five-class probabilities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Better fit for complex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A5F60-B693-4C7E-9895-EE17894E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431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D2DC2-428C-4A3C-9016-310741BA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574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03  Vehicle-aware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9E6DF-F4A5-479F-8DA0-B1BD1D47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9825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Separate vehicles across splits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Reduced leakage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DACA2-C7D1-409A-AE85-BEB35457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00525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B20D2-7146-4FFC-BB2B-E763E553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06  Final 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D2872-4818-48CF-A496-BB4B7761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No-cost objective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Two selected configurations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53CB4-0736-4802-88F7-EACA9304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00525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11430">
            <a:solidFill>
              <a:srgbClr val="E28C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2881B-71C3-48FE-A3F9-206A8CB0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3148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28C2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28C2F"/>
                </a:solidFill>
                <a:latin typeface="Arial"/>
                <a:ea typeface="Arial"/>
                <a:cs typeface="Arial"/>
              </a:rPr>
              <a:t>05  Policy experiments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DEA886-FF1F-4CE4-93C6-57DA6485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667250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Calibration and capacity tested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Cost objective later removed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4A157-95E7-458F-94D5-CBE95A65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00525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2191E-0CDE-45A2-90D3-A13A9CAB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148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04  Temporal 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E2D353-0901-4FD9-B330-837DF88B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Rates, changes and history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Past-only construction</a:t>
            </a:r>
          </a:p>
        </p:txBody>
      </p:sp>
      <p:cxnSp>
        <p:nvCxnSpPr>
          <p:cNvPr id="5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76650" y="246697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67625" y="246697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0086975" y="2990850"/>
            <a:ext cx="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9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667625" y="4724400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6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676650" y="4724400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DCF027-8E5B-4960-A884-A5DE6179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E46B58-799A-4E41-8A18-AACAB938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581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control leakage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56BC79-5D2E-4459-AF57-51574351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00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add 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45CE81-0F37-445E-9D19-66F3BC7A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00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test policy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DD000B-55A7-4596-9949-6A380C94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Final direction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296915-79E2-4A02-84B9-0F531B9D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72125"/>
            <a:ext cx="947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6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XGBoost with vehicle-aware history. Cost-based selection was excluded because the public dataset has no operational cost model.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22DEB9-8212-4DE1-B6C3-E130F604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8C8842-FD47-474E-BC32-3F636D50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1F9AF0-861F-485E-AA7A-787851C9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0:30–1:15  ·  45 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6A389A-C0B9-4782-B15E-EE6D3EF1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65731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AB703F-428D-4FA2-A257-82A350B0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03  FEATURE AND PARAMETER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4A61F-928E-4349-98D2-37144545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684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Feature design moved from broad rates to focused short-term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BCE97-F9A5-46B4-9E97-2112AD7E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Twenty-five combinations were screened, then finalists were checked across five random seeds.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34098-F663-4DAD-AB24-097AB5D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847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63F75-1C1A-4474-8B4D-C3E41332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53F68-852B-4C50-A68C-622AD566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54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Rates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all horizons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3C21F-C2D8-44A2-A809-90493878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1847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51CD7-716C-4E39-B3B8-D4AD5216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669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A7A2C-2016-472D-B1DD-818D0B29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19350"/>
            <a:ext cx="154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Rates + changes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all horizons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A9729-AD8C-4137-A59A-AE228F48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1847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FE7CF-F7F9-4D18-91AF-4E681191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669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02438-F95E-4B30-9F53-D24C6CC7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19350"/>
            <a:ext cx="154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Short rates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6 and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16A89-4EC2-4301-8152-74AEF5B5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52625"/>
            <a:ext cx="1847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6CE23-638C-4B99-A5DF-2D881EA1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669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2DABA-3589-4437-A094-95BAD7EB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19350"/>
            <a:ext cx="154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Long rates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24 and 48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30ACC-48E0-42F4-9E66-2A8BD908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1847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A2C62-7D38-4470-8EDE-3947E6C5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669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F5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4ACF4B-0A16-4D5C-8B6A-120A5AD3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19350"/>
            <a:ext cx="154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All rates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+ short changes</a:t>
            </a:r>
          </a:p>
        </p:txBody>
      </p:sp>
      <p:cxnSp>
        <p:nvCxnSpPr>
          <p:cNvPr id="63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81250" y="24669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562475" y="24669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743700" y="24669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924925" y="24669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C5D6C-4351-45EE-8D74-402F7312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43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5358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add movement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D1FDEF-BD22-4948-89BE-CD325A37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43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short focus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137B9-2441-43DE-99F3-F3D295B8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43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long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1941FB-DFA0-4308-B9E8-D036A048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43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681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combine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112769-FFA4-4DDD-975D-114B3BB1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957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D24F4A-475E-42B7-9B51-8132A5E5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100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25 combinations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8F3405-12FA-4B66-B11F-051BCDA9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62425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5 feature sets × 5 parameter sets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Initial screening on PolicyDev</a:t>
            </a:r>
          </a:p>
        </p:txBody>
      </p:sp>
      <p:cxnSp>
        <p:nvCxnSpPr>
          <p:cNvPr id="74" name=""/>
          <p:cNvCxnSpPr>
            <a:stCxn xmlns:a="http://schemas.openxmlformats.org/drawingml/2006/main" id="1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5362575" y="2981325"/>
            <a:ext cx="481965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91A393-E787-4F93-BEA5-8C292A0F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400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291C4B-0911-4DDE-82DF-D2A3E79D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Risk ranking winner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60D217-4E80-4C8C-A4B0-DBCD39D7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369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F5 + P3 medium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Mean horizon AP = 0.192 ± 0.014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C837E1-5E13-4487-B0C4-71FF2708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91100"/>
            <a:ext cx="400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3E3192-5830-494F-B994-7DF2D919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054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Five-class winner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056D6D-E8D8-4516-AF96-B7573BC4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57825"/>
            <a:ext cx="369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F5 + P5 less regularized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Macro F1 = 0.202 ± 0.004</a:t>
            </a:r>
          </a:p>
        </p:txBody>
      </p:sp>
      <p:cxnSp>
        <p:nvCxnSpPr>
          <p:cNvPr id="81" name=""/>
          <p:cNvCxnSpPr>
            <a:stCxn xmlns:a="http://schemas.openxmlformats.org/drawingml/2006/main" id="27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2533650" y="4819650"/>
            <a:ext cx="2828925" cy="171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27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5362575" y="4819650"/>
            <a:ext cx="3762375" cy="171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6952B5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5D1958-9CE8-4B8F-A602-2ADF59EC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6732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rank risk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6786DD-5E29-4161-9206-7873BB1F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A37028-B3DE-4B23-BA8A-79A16BDF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D337BD-F9FF-4CE0-87F7-4AEA16E3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BA054A-84C8-4446-AA1E-3D58DEE7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1:15–2:00  ·  45 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519512-10DA-4E6F-9373-B1A16F62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64348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7A519-64F6-4720-987F-635C3784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04  MODEL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9522B-50BE-4C15-9F28-F1F4C20C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Two metrics answer different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E1B25-5FB0-4523-B421-EA137DED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Macro F1 evaluates five-class balance; horizon AP evaluates risk ranking under class imbalance.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95300" y="2143125"/>
          <a:ext xmlns:a="http://schemas.openxmlformats.org/drawingml/2006/main" cx="6381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a4c6725759487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064BD-BBE6-4BF6-B967-7BB6C20D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Official Validation, five-seed mean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77BD4-C312-4BA5-A815-C58D50DB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1866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06DEF-4233-4B74-863B-815E749B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145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Risk ranking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A33E2-ED9B-4279-81A7-D5D3A914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66975"/>
            <a:ext cx="1562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PolicyDev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0.192 ± 0.014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Selected: F5 + P3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15572-8ADE-4AD6-BD44-8A3AEB10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866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8D7C6-096F-4191-A89D-D9BE22F4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145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Five-class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2CEC3-5411-4FF6-B97A-08DE795A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66975"/>
            <a:ext cx="1562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PolicyDev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0.202 ± 0.004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Selected: F5 + P5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4961B-D0D9-4712-AB46-A6019F24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95750"/>
            <a:ext cx="3962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11430">
            <a:solidFill>
              <a:srgbClr val="E28C2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9FB65-1511-40CB-A307-2DF94C1C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28C2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28C2F"/>
                </a:solidFill>
                <a:latin typeface="Arial"/>
                <a:ea typeface="Arial"/>
                <a:cs typeface="Arial"/>
              </a:rPr>
              <a:t>Why accuracy misleads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254C8-AADE-4E12-8C14-ACE81F91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62475"/>
            <a:ext cx="36576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969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Accuracy = 0.970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Macro F1 = 0.203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C0 dominates the label distribution.</a:t>
            </a:r>
          </a:p>
        </p:txBody>
      </p:sp>
      <p:cxnSp>
        <p:nvCxnSpPr>
          <p:cNvPr id="36" name=""/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362950" y="3752850"/>
            <a:ext cx="1047750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9410700" y="3752850"/>
            <a:ext cx="1047750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6952B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11750-F7CF-4C12-824F-369C784D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Official Validation remained diagnostic and did not influence model selection.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E45221-78DB-4CD2-89A8-9EDDFED3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0EBA4-1D2D-441E-80EC-3A0623BE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6DEA3B-6EE9-4DFA-BB48-D53E7496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2:00–2:50  ·  50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426D12-3058-4E1B-8C07-2E9915E3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11295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146560-64BE-46A7-BDB4-B5F83438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05  TEMPORAL RULE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0EC96-1604-49D2-8DD8-DD8A17B4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82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The rule path checks data quality before maintenance severity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C41B6-24F6-4F1C-81EF-B7A39A32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Recent history stabilises actions when class probabilities are close or predictions jump.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47515-D46E-4D27-86D3-7A510703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324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2D2D7-38BC-4C8C-B400-0ED1A4FA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Latest prediction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E8220-9E02-4FFA-85DE-DD20860E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201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Class + Risk6 / 12 / 24 / 48</a:t>
            </a:r>
          </a:p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Recent five predictions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D1C9C-8680-4F28-8118-86CB47DE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324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B8312-F923-4B1F-AC6E-2D102C57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History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9DC50-3E33-49A1-839B-98B93455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05075"/>
            <a:ext cx="201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Only one readout?</a:t>
            </a:r>
          </a:p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C3/C4 with &lt;3 history?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D3230-BCE8-4A77-BCB7-72364B72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2324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3B802-D12E-42E2-B15A-D932B647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Stability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141E0-5205-4BA1-B4C9-E279C993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05075"/>
            <a:ext cx="201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Confidence &lt; 0.35</a:t>
            </a:r>
          </a:p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Margin &lt; 0.03</a:t>
            </a:r>
          </a:p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Repeated large jumps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3B683-7258-4E93-8E38-FCBC20AA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2324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11430">
            <a:solidFill>
              <a:srgbClr val="E28C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E7102-1438-483A-B8A9-CC53E3DC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52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28C2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28C2F"/>
                </a:solidFill>
                <a:latin typeface="Arial"/>
                <a:ea typeface="Arial"/>
                <a:cs typeface="Arial"/>
              </a:rPr>
              <a:t>Risk ladder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C1C3C-61FA-4ECF-8729-74AC1FA4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05075"/>
            <a:ext cx="201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Evaluate the strongest</a:t>
            </a:r>
          </a:p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combined evidence</a:t>
            </a:r>
          </a:p>
        </p:txBody>
      </p:sp>
      <p:cxnSp>
        <p:nvCxnSpPr>
          <p:cNvPr id="66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57500" y="26384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695950" y="26384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34400" y="26384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E28C2F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1462A-EF65-4C5B-95C6-F8681194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119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enough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1C1E7-27CB-4891-A75D-757D0B6E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28C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28C2F"/>
                </a:solidFill>
                <a:latin typeface="Arial"/>
                <a:ea typeface="Arial"/>
                <a:cs typeface="Arial"/>
              </a:rPr>
              <a:t>stable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A2E17-952D-41CF-97E3-317A51A4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766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EB33B-32E4-46A8-9E30-18E22069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TRD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05E28A-1093-4F6B-9A26-D60695F7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COLLECT_MORE_DATA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76220-7F7C-41CA-9E70-6EF4043E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766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AB0B88-6223-4F90-8221-2A601791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TR0 / TRV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EDB9FA-7DC8-42B7-B3E3-92877978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195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MANUAL_REVIEW</a:t>
            </a:r>
          </a:p>
        </p:txBody>
      </p:sp>
      <p:cxnSp>
        <p:nvCxnSpPr>
          <p:cNvPr id="77" name=""/>
          <p:cNvCxnSpPr>
            <a:stCxn xmlns:a="http://schemas.openxmlformats.org/drawingml/2006/main" id="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4533900" y="32385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0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7372350" y="32385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DDBCE9-F0F7-4B41-A307-304E3A6D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051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insufficient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0C14AC-24A8-410A-AAD2-2B73DFC7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051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unstable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C1EEAE-8CF1-4041-9EDA-A944B5D1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28C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28C2F"/>
                </a:solidFill>
                <a:latin typeface="Arial"/>
                <a:ea typeface="Arial"/>
                <a:cs typeface="Arial"/>
              </a:rPr>
              <a:t>ACTION LADDER  ·  HIGHEST EVIDENCE FIRST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2788B9-BD15-4930-ABB2-E403AF59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2057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A"/>
          </a:solidFill>
          <a:ln xmlns:a="http://schemas.openxmlformats.org/drawingml/2006/main" w="11430">
            <a:solidFill>
              <a:srgbClr val="C7584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657444-DEC4-4D85-9D89-9F05A1AB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83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7584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75847"/>
                </a:solidFill>
                <a:latin typeface="Arial"/>
                <a:ea typeface="Arial"/>
                <a:cs typeface="Arial"/>
              </a:rPr>
              <a:t>TR1  PRIORITY_INSPECT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0C596F-DCEE-4DB1-9F77-5BB32331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C4 + extreme Risk6</a:t>
            </a:r>
          </a:p>
          <a:p xmlns:a="http://schemas.openxmlformats.org/drawingml/2006/main">
            <a:pPr algn="l">
              <a:defRPr sz="9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+ persistence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7F6B99-DE56-4715-88F3-5DFBB5CA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62500"/>
            <a:ext cx="2057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11430">
            <a:solidFill>
              <a:srgbClr val="E28C2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7EE66B-AE8E-42AC-BC07-33B7CC45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76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28C2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28C2F"/>
                </a:solidFill>
                <a:latin typeface="Arial"/>
                <a:ea typeface="Arial"/>
                <a:cs typeface="Arial"/>
              </a:rPr>
              <a:t>TR2 / TR3  INSPECT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1317C6-241C-4A7C-9DC9-44E97932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197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C3/C4 + Risk12</a:t>
            </a:r>
          </a:p>
          <a:p xmlns:a="http://schemas.openxmlformats.org/drawingml/2006/main">
            <a:pPr algn="l">
              <a:defRPr sz="9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or persistent Risk6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437B49-C185-4A0E-8163-A44A39D2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62500"/>
            <a:ext cx="2057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11430">
            <a:solidFill>
              <a:srgbClr val="B7791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DC2944-217C-467A-9632-F8087FDA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76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7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791F"/>
                </a:solidFill>
                <a:latin typeface="Arial"/>
                <a:ea typeface="Arial"/>
                <a:cs typeface="Arial"/>
              </a:rPr>
              <a:t>TR4  ENHANCED_MONITOR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377678-2A5E-4811-8C6C-8E952F17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97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C2 or high Risk24</a:t>
            </a:r>
          </a:p>
          <a:p xmlns:a="http://schemas.openxmlformats.org/drawingml/2006/main">
            <a:pPr algn="l">
              <a:defRPr sz="9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+ trend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41FAAF-0CBB-4278-A3CA-2D06FD85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62500"/>
            <a:ext cx="2057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2E5D7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521418-CDD7-4D31-BB4F-6EFFE0ED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76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5D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E5D7A"/>
                </a:solidFill>
                <a:latin typeface="Arial"/>
                <a:ea typeface="Arial"/>
                <a:cs typeface="Arial"/>
              </a:rPr>
              <a:t>TR5  MONITOR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DFF332-F7B2-413F-9209-3D7C727D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197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C1 or high Risk48</a:t>
            </a:r>
          </a:p>
          <a:p xmlns:a="http://schemas.openxmlformats.org/drawingml/2006/main">
            <a:pPr algn="l">
              <a:defRPr sz="9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+ trend evidence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67AB75-6E19-4F2E-BB0E-6DB15711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62500"/>
            <a:ext cx="2057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E"/>
          </a:solidFill>
          <a:ln xmlns:a="http://schemas.openxmlformats.org/drawingml/2006/main" w="11430">
            <a:solidFill>
              <a:srgbClr val="567B6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E81392-DCEF-434D-8FDC-B601CCD9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76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67B6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67B63"/>
                </a:solidFill>
                <a:latin typeface="Arial"/>
                <a:ea typeface="Arial"/>
                <a:cs typeface="Arial"/>
              </a:rPr>
              <a:t>TR6  CONTINUE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D29B38-7022-4D8C-A573-D83F7813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197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No combined evidence</a:t>
            </a:r>
          </a:p>
          <a:p xmlns:a="http://schemas.openxmlformats.org/drawingml/2006/main">
            <a:pPr algn="l">
              <a:defRPr sz="9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for escalation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43AE08-F15C-4D58-BD44-D9315787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33BCDF-B009-47D3-B4D6-934294E9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EDA242-33DF-407E-9C00-7F39C22C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2:50–3:50  ·  60 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3468F4-C6AD-4579-A7E5-567EA878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03003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168291-C1D8-4F9E-835D-88F14E90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06  PRODUCTION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190C6-237D-482E-ADF7-8F3E7DBE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96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The script predicts once, stores once, and serves the latest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EDD52-0776-4166-A93B-3B7ADFBA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The application does not rerun the model when users open the dashboard.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FF5CC-F306-4618-AAE7-132762B1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095EB-692A-49F5-A0C8-E2DF8790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PostgreSQL: operational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45BB0-5846-4C1E-A1FC-EF71CF98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552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truck_readout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truck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263F9-FDEC-417E-8D3F-59451239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9775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1561E-0745-434D-A847-8D4866FB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2407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run_model.py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253AD-4AE7-4DFD-A01C-6FA41567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2552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CLI entrypoint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credentials + dry-run options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569F2-DA41-4E14-813E-25540540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9775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0E39D-96D8-4ABA-9A77-D3022265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2407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Web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3C9F9-7B8A-4288-B80B-7E7CB6DB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552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Latest active vehicle row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Action +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EA6B3-3F55-4D06-8258-EBFF1C75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40A59-048D-4889-9D8B-6B74046A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Model artifacts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64B02-6305-4BEB-B7D1-2A925172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2552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5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XGBoost model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feature schema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thresholds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E780D-21F4-43BF-A30D-D39A0A76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0BC41-5448-4DFD-B5FA-85216580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100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fleetcare_inference.py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C4323-0228-4F07-A213-BAA2F9C2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62475"/>
            <a:ext cx="2552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5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Load data + build features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Predict + SHAP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Apply temporal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3A2B3-5CF9-4701-8818-9C167800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957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39EFF-CE13-4155-8953-61108B49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PostgreSQL: public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296AE-1DF8-43FF-B27F-0E30DF7E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62475"/>
            <a:ext cx="2552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analysis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prediction_shap</a:t>
            </a:r>
          </a:p>
        </p:txBody>
      </p:sp>
      <p:cxnSp>
        <p:nvCxnSpPr>
          <p:cNvPr id="5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90900" y="260985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7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810250" y="3209925"/>
            <a:ext cx="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90900" y="471487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239000" y="471487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9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9658350" y="3209925"/>
            <a:ext cx="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309DE9-F973-43C1-BE03-F50B89EC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574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2DD3A5-03DF-46B2-A908-68BC5A6B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624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A74F62-420C-4962-BFEC-5A44284A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624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00F6A4-A790-4DCF-8A6D-D11A66E6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BEFCB4-A64C-41F6-AECD-62D2BF50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7EDB54-FE9C-44BA-85FE-8E07BD64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007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193,095 readouts   ·   5,037 predictions   ·   7 collect-more-data decisions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52F35B-FE3D-4FCF-8C49-4E24C1E5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7D3129-8C09-402A-9D6E-08DF0B24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302ACE-8EF0-407B-B534-304108D8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3:50–4:40  ·  50 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65ABA1-963F-4977-87D1-6CBEA54F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71647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2026-10-12T22:48:19.0110000Z</dcterms:created>
  <dcterms:modified xsi:type="dcterms:W3CDTF">2026-10-12T22:48:19.0110000Z</dcterms:modified>
</coreProperties>
</file>