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85703d3b4b47d0" /><Relationship Type="http://schemas.openxmlformats.org/officeDocument/2006/relationships/extended-properties" Target="/docProps/app.xml" Id="R807bd4362f5f41fe" /><Relationship Type="http://schemas.openxmlformats.org/officeDocument/2006/relationships/officeDocument" Target="/ppt/presentation.xml" Id="R03a72ba9094e4d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f03f1433734865"/>
  </p:sldMasterIdLst>
  <p:notesMasterIdLst>
    <p:notesMasterId xmlns:r="http://schemas.openxmlformats.org/officeDocument/2006/relationships" r:id="Rfcf21e3e85b64627"/>
  </p:notesMasterIdLst>
  <p:sldIdLst>
    <p:sldId xmlns:r="http://schemas.openxmlformats.org/officeDocument/2006/relationships" id="256" r:id="R1d87e91fb91c4042"/>
    <p:sldId xmlns:r="http://schemas.openxmlformats.org/officeDocument/2006/relationships" id="257" r:id="R678a4a54855f46c4"/>
    <p:sldId xmlns:r="http://schemas.openxmlformats.org/officeDocument/2006/relationships" id="258" r:id="R950404c59fe34e02"/>
    <p:sldId xmlns:r="http://schemas.openxmlformats.org/officeDocument/2006/relationships" id="259" r:id="R14dcac8bf4ea436e"/>
    <p:sldId xmlns:r="http://schemas.openxmlformats.org/officeDocument/2006/relationships" id="260" r:id="Rdea0e83642bd47f4"/>
    <p:sldId xmlns:r="http://schemas.openxmlformats.org/officeDocument/2006/relationships" id="261" r:id="Rf2724297974642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2caec751d44a88" /><Relationship Type="http://schemas.openxmlformats.org/officeDocument/2006/relationships/slideMaster" Target="/ppt/slideMasters/slideMaster1.xml" Id="Raaf03f1433734865" /><Relationship Type="http://schemas.openxmlformats.org/officeDocument/2006/relationships/notesMaster" Target="/ppt/notesMasters/notesMaster1.xml" Id="Rfcf21e3e85b64627" /><Relationship Type="http://schemas.openxmlformats.org/officeDocument/2006/relationships/presProps" Target="/ppt/presProps.xml" Id="R0f030253162c4fbf" /><Relationship Type="http://schemas.openxmlformats.org/officeDocument/2006/relationships/tableStyles" Target="/ppt/tableStyles.xml" Id="R8ab7911b931d4ab5" /><Relationship Type="http://schemas.openxmlformats.org/officeDocument/2006/relationships/slide" Target="/ppt/slides/slide1.xml" Id="R1d87e91fb91c4042" /><Relationship Type="http://schemas.openxmlformats.org/officeDocument/2006/relationships/slide" Target="/ppt/slides/slide2.xml" Id="R678a4a54855f46c4" /><Relationship Type="http://schemas.openxmlformats.org/officeDocument/2006/relationships/slide" Target="/ppt/slides/slide3.xml" Id="R950404c59fe34e02" /><Relationship Type="http://schemas.openxmlformats.org/officeDocument/2006/relationships/slide" Target="/ppt/slides/slide4.xml" Id="R14dcac8bf4ea436e" /><Relationship Type="http://schemas.openxmlformats.org/officeDocument/2006/relationships/slide" Target="/ppt/slides/slide5.xml" Id="Rdea0e83642bd47f4" /><Relationship Type="http://schemas.openxmlformats.org/officeDocument/2006/relationships/slide" Target="/ppt/slides/slide6.xml" Id="Rf2724297974642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45150ade6f4e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b9f176cb0941b5" /><Relationship Type="http://schemas.openxmlformats.org/officeDocument/2006/relationships/notesMaster" Target="/ppt/notesMasters/notesMaster1.xml" Id="Rc041a6970a044b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34cf123b8b46a6" /><Relationship Type="http://schemas.openxmlformats.org/officeDocument/2006/relationships/notesMaster" Target="/ppt/notesMasters/notesMaster1.xml" Id="Rce800ed1823246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ae89714a734590" /><Relationship Type="http://schemas.openxmlformats.org/officeDocument/2006/relationships/notesMaster" Target="/ppt/notesMasters/notesMaster1.xml" Id="R0dc5517b428b42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718097b5ea4287" /><Relationship Type="http://schemas.openxmlformats.org/officeDocument/2006/relationships/notesMaster" Target="/ppt/notesMasters/notesMaster1.xml" Id="Rb5b11739e23345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c0ade106a24c9d" /><Relationship Type="http://schemas.openxmlformats.org/officeDocument/2006/relationships/notesMaster" Target="/ppt/notesMasters/notesMaster1.xml" Id="R5ea9e6d5812542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2cea477f76495c" /><Relationship Type="http://schemas.openxmlformats.org/officeDocument/2006/relationships/notesMaster" Target="/ppt/notesMasters/notesMaster1.xml" Id="Reaa13c58547d40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model outputs and final inference code in SystemCode/data/fleetcare_inference.py.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model experiment sequence in repository history: test_00, test_01, test_02-05, test_06c-10c, test_11c and test_12c. Cost experiments were reviewed but excluded from the final no-cost selection objective.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test_12c_feature_parameter_search.py on the model branch. P3: 250 estimators, learning rate 0.05, depth 5. P5: 250 estimators, learning rate 0.05, depth 4 with lower regularization.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results from test_12c. Official Validation: F5/P3 Macro F1 0.201098, mean horizon AP 0.040280; F5/P5 Macro F1 0.203502, mean horizon AP 0.043174. PolicyDev winners: risk-ranking mean AP 0.192175 ± 0.014271; five-class Macro F1 0.201593 ± 0.003539. Earlier Official Validation accuracy mean 0.970194 and Macro F1 mean 0.202518.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SystemCode/data/fleetcare_inference.py. Current thresholds: Risk48 P80, Risk24 P85, Risk12 P90 and Risk6 P95 for high-risk evidence; action escalation for TR1 and TR2 uses P99.5. TR0 precedes TRV in rule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SystemCode/data/run_model.py, SystemCode/data/fleetcare_inference.py and verified dry-run output from 8 October 2026. Dry run produced one latest prediction for 5,037 vehicles and seven COLLECT_MORE_DATA decisions, without database writes.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a4da40fa4145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6b494b0d3740e6" /><Relationship Type="http://schemas.openxmlformats.org/officeDocument/2006/relationships/slideLayout" Target="/ppt/slideLayouts/slideLayout1.xml" Id="R29e54f6c0f524b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e54f6c0f524b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3ea25049043d5" /><Relationship Type="http://schemas.openxmlformats.org/officeDocument/2006/relationships/notesSlide" Target="/ppt/notesSlides/notesSlide1.xml" Id="Re6c66ba3b8b14e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d17266f784eed" /><Relationship Type="http://schemas.openxmlformats.org/officeDocument/2006/relationships/notesSlide" Target="/ppt/notesSlides/notesSlide2.xml" Id="Rf5031d4899e441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1cecfd0c24ca1" /><Relationship Type="http://schemas.openxmlformats.org/officeDocument/2006/relationships/notesSlide" Target="/ppt/notesSlides/notesSlide3.xml" Id="R032e655725f446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5e6e801ae4065" /><Relationship Type="http://schemas.openxmlformats.org/officeDocument/2006/relationships/chart" Target="/ppt/slides/charts/chart1.xml" Id="R75c267615b474159" /><Relationship Type="http://schemas.openxmlformats.org/officeDocument/2006/relationships/notesSlide" Target="/ppt/notesSlides/notesSlide4.xml" Id="R3126f29bb01949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e8f79cbd34b75" /><Relationship Type="http://schemas.openxmlformats.org/officeDocument/2006/relationships/notesSlide" Target="/ppt/notesSlides/notesSlide5.xml" Id="R1fbef145bb7648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a7e6f764d4806" /><Relationship Type="http://schemas.openxmlformats.org/officeDocument/2006/relationships/notesSlide" Target="/ppt/notesSlides/notesSlide6.xml" Id="R37e3e687d908491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Macro F1</c:v>
          </c:tx>
          <c:spPr>
            <a:solidFill xmlns:a="http://schemas.openxmlformats.org/drawingml/2006/main">
              <a:srgbClr val="13A6A6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0.201098</c:v>
              </c:pt>
              <c:pt idx="1">
                <c:v>0.203502</c:v>
              </c:pt>
            </c:numLit>
          </c:val>
        </c:ser>
        <c:ser>
          <c:idx val="1"/>
          <c:order val="1"/>
          <c:tx>
            <c:v>Mean horizon AP</c:v>
          </c:tx>
          <c:spPr>
            <a:solidFill xmlns:a="http://schemas.openxmlformats.org/drawingml/2006/main">
              <a:srgbClr val="F59E0B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0.04028</c:v>
              </c:pt>
              <c:pt idx="1">
                <c:v>0.043174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7D5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2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DF2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FA60EC-BA0B-4D69-AAFD-381CC91F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8D9D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8D9D4"/>
                </a:solidFill>
                <a:latin typeface="Arial"/>
                <a:ea typeface="Arial"/>
                <a:cs typeface="Arial"/>
              </a:rPr>
              <a:t>FLEETCARE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DD1D5-403A-4B9C-B643-5EFA8C0E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38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Iteration, Evaluation</a:t>
            </a:r>
          </a:p>
          <a:p xmlns:a="http://schemas.openxmlformats.org/drawingml/2006/main">
            <a: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Decision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BEEE5-329C-46EF-BF6A-F5CE9CD3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C9D8E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C9D8E3"/>
                </a:solidFill>
                <a:latin typeface="Arial"/>
                <a:ea typeface="Arial"/>
                <a:cs typeface="Arial"/>
              </a:rPr>
              <a:t>SCANIA Component X predictive maintenance</a:t>
            </a:r>
          </a:p>
          <a:p xmlns:a="http://schemas.openxmlformats.org/drawingml/2006/main">
            <a:pPr algn="l">
              <a:defRPr sz="1725" b="0" i="0">
                <a:solidFill>
                  <a:srgbClr val="C9D8E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C9D8E3"/>
                </a:solidFill>
                <a:latin typeface="Arial"/>
                <a:ea typeface="Arial"/>
                <a:cs typeface="Arial"/>
              </a:rPr>
              <a:t>Final model, temporal rule engine and production inference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2E9A3-8E89-4D46-9343-0EC6F8DE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600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3A6A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1C437-1296-4298-89B1-A59A94AF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8D9D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8D9D4"/>
                </a:solidFill>
                <a:latin typeface="Arial"/>
                <a:ea typeface="Arial"/>
                <a:cs typeface="Arial"/>
              </a:rPr>
              <a:t>Five-class probability model  |  Risk6 / 12 / 24 / 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BE330-E7B9-4716-A3E4-43AE32BD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2D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FC2D0"/>
                </a:solidFill>
                <a:latin typeface="Arial"/>
                <a:ea typeface="Arial"/>
                <a:cs typeface="Arial"/>
              </a:rPr>
              <a:t>Intelligent Reasoning Systems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5338A-016D-45E6-BFF4-6306BAFE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095375"/>
            <a:ext cx="0" cy="423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76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D7D22C-AC69-4861-9065-D2FBF2DF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95375"/>
            <a:ext cx="0" cy="423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76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F40B0-031E-408E-A543-C89F8E3E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095375"/>
            <a:ext cx="0" cy="423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7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C75170-DB40-4671-B395-B58F01BA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76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6BBACC-0452-47DF-9416-A670436D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087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76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C61747-5BD7-4DFD-AA40-C9B15F7B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291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76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BDC054-51C1-4BEB-BCE9-B264E2FD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573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4201F1-183C-4F39-AC96-3131DC0C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62350"/>
            <a:ext cx="1066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A6A6"/>
          </a:solidFill>
          <a:ln xmlns:a="http://schemas.openxmlformats.org/drawingml/2006/main" w="9525">
            <a:solidFill>
              <a:srgbClr val="13A6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Risk6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51194B-53D8-41EA-9D54-8B0E3838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43450"/>
            <a:ext cx="9906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3653"/>
          </a:solidFill>
          <a:ln xmlns:a="http://schemas.openxmlformats.org/drawingml/2006/main" w="19050">
            <a:solidFill>
              <a:srgbClr val="78D9D4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D9D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8D9D4"/>
                </a:solidFill>
                <a:latin typeface="Arial"/>
                <a:ea typeface="Arial"/>
                <a:cs typeface="Arial"/>
              </a:rPr>
              <a:t>TR1</a:t>
            </a:r>
          </a:p>
        </p:txBody>
      </p:sp>
    </p:spTree>
    <p:extLst>
      <p:ext uri="{BB962C8B-B14F-4D97-AF65-F5344CB8AC3E}">
        <p14:creationId xmlns:p14="http://schemas.microsoft.com/office/powerpoint/2010/main" val="9356641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BAEB5D-FAE5-4A10-8221-6C0CAA6C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Model iteration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183A3-7B60-489F-9D35-382C1523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A6A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8A0B0-3238-4BE5-BF80-70FFABE2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Each iteration addressed a specific limitation found in the previous experiment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66F12-A8D4-468C-9939-289570E4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CD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FAB17-7356-4622-B7C8-F3593580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9525">
            <a:solidFill>
              <a:srgbClr val="13A6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AF619-D4DD-49BB-A029-C86DBB90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766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003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Random Forest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0F965-BEC2-4D9B-8785-F270D63D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876675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93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Latest-state baseline</a:t>
            </a:r>
          </a:p>
          <a:p xmlns:a="http://schemas.openxmlformats.org/drawingml/2006/main">
            <a:pPr algn="ctr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Exposed class imbalance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35C1E-86C3-4A9F-A44B-F0CB0F51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765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9525">
            <a:solidFill>
              <a:srgbClr val="13A6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C9BDF-F2D3-4330-8465-911F6EC2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766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XGBoost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AC902-2979-4038-A5A3-6CB49913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76675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Nonlinear five-class</a:t>
            </a:r>
          </a:p>
          <a:p xmlns:a="http://schemas.openxmlformats.org/drawingml/2006/main">
            <a:pPr algn="ctr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probabilities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28CDE-00FE-4D8B-86CE-EDCE428A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9525">
            <a:solidFill>
              <a:srgbClr val="13A6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F4BD9B-3D84-4048-B3C4-4F91F33E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766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16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Vehicle-aware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231C6A-7601-4B6A-B052-A391EE42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76675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Vehicle split and</a:t>
            </a:r>
          </a:p>
          <a:p xmlns:a="http://schemas.openxmlformats.org/drawingml/2006/main">
            <a:pPr algn="ctr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past-only temporal features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CA5AE-799C-4760-835A-02843C22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9525">
            <a:solidFill>
              <a:srgbClr val="13A6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758021-3E8C-4844-95A5-19BE53A9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766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555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Multi-readout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7DA014-1430-4B87-8886-E57BA84B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76675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Rates, changes and</a:t>
            </a:r>
          </a:p>
          <a:p xmlns:a="http://schemas.openxmlformats.org/drawingml/2006/main">
            <a:pPr algn="ctr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historical windows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DCC68A-05C7-43F6-9B44-4F604104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765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6A6"/>
          </a:solidFill>
          <a:ln xmlns:a="http://schemas.openxmlformats.org/drawingml/2006/main" w="9525">
            <a:solidFill>
              <a:srgbClr val="13A6A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0D434F-7D27-49BE-863A-2685376E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766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655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Policy trials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D5B54-C6E9-43FD-8B9D-95541124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76675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203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Calibration, cost and</a:t>
            </a:r>
          </a:p>
          <a:p xmlns:a="http://schemas.openxmlformats.org/drawingml/2006/main">
            <a:pPr algn="ctr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capacity experiments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A3909C-BEBF-42F9-B4BA-0FA26303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765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047192-B591-4167-8203-C9A35F07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766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108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Final 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770366-0832-40E9-BA61-8AB55101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876675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3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No-cost feature and</a:t>
            </a:r>
          </a:p>
          <a:p xmlns:a="http://schemas.openxmlformats.org/drawingml/2006/main">
            <a:pPr algn="ctr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parameter selection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B1DE3D-16E1-4CD6-ABC4-8E5078B9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6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7F8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7F85"/>
                </a:solidFill>
                <a:latin typeface="Arial"/>
                <a:ea typeface="Arial"/>
                <a:cs typeface="Arial"/>
              </a:rPr>
              <a:t>Final direction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B25F46-5BE8-4BBD-B233-648B8B41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The project retained XGBoost with vehicle-aware history. Cost-based model selection was removed because the public dataset does not provide an operational cost model.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49C448-9C70-45CB-963A-9F415DCA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FleetCare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67FA03-0023-4329-85C7-FE90C2DF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400021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7CE40-F85C-4F12-8094-C8E4EEE4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Feature and parameter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03D60-B3EF-46C9-986A-9804B134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A6A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AAB34-4AEA-4CDB-ACD7-0921E39B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Five feature collections were screened against five XGBoost configurations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7239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38200"/>
                <a:gridCol w="2476500"/>
                <a:gridCol w="3924300"/>
              </a:tblGrid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Feature collection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Rate, all horizons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Broad temporal baseline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F2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Rate + change, all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Adds absolute historical movement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F3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Short rates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Focuses on 6 and 12-unit windows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F4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Long rates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Focuses on 24 and 48-unit windows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F5</a:t>
                      </a:r>
                    </a:p>
                  </a:txBody>
                  <a:tcPr marL="91440" marR="91440" marT="45720" marB="45720">
                    <a:solidFill>
                      <a:srgbClr val="E4F5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Rates + short changes</a:t>
                      </a:r>
                    </a:p>
                  </a:txBody>
                  <a:tcPr marL="91440" marR="91440" marT="45720" marB="45720">
                    <a:solidFill>
                      <a:srgbClr val="E4F5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Keeps all rates and adds 6/12-unit changes</a:t>
                      </a:r>
                    </a:p>
                  </a:txBody>
                  <a:tcPr marL="91440" marR="91440" marT="45720" marB="45720">
                    <a:solidFill>
                      <a:srgbClr val="E4F5F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D0949-7003-4FD3-8C28-39291673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573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Search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5D5BA-25D3-4991-B5A1-7F7AF849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71700"/>
            <a:ext cx="95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59E0B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ED07F-E66F-499D-AD9A-52DA53BC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098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feature / parameter combinations</a:t>
            </a:r>
          </a:p>
          <a:p xmlns:a="http://schemas.openxmlformats.org/drawingml/2006/main">
            <a:pPr algn="l">
              <a:defRPr sz="12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in the first screening round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5F4D9-6BF5-482D-94A1-F37BEF1A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14675"/>
            <a:ext cx="95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3A6A6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3A6A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043709-CF6F-4268-AE59-AE95C021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527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random seeds for finalists</a:t>
            </a:r>
          </a:p>
          <a:p xmlns:a="http://schemas.openxmlformats.org/drawingml/2006/main">
            <a:pPr algn="l">
              <a:defRPr sz="12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42, 52, 62, 72, 82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595EA-0CE3-4372-B352-7D077F01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10050"/>
            <a:ext cx="3200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Risk ranking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F5 + P3 medium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1CFC9-2334-419B-901B-FD5476A6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05400"/>
            <a:ext cx="3200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B7F85"/>
          </a:solidFill>
          <a:ln xmlns:a="http://schemas.openxmlformats.org/drawingml/2006/main" w="9525">
            <a:solidFill>
              <a:srgbClr val="0B7F8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Five-class classification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F5 + P5 less regularized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DCECFA-A685-4314-A120-1F81BF62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FleetCare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00B3B-E412-478C-A77C-F7F96A92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947080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7EE01-E60C-491C-8A39-7690121A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Final model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08798-4485-41B5-812B-8E0D3241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A6A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5BB70-CADE-4A14-AD71-FA0DD6B2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PolicyDev selected the configurations; Official Validation remained excluded from model selection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952625"/>
          <a:ext xmlns:a="http://schemas.openxmlformats.org/drawingml/2006/main" cx="6572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5c267615b47415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FEB6D-A998-4823-8056-ACF05154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Official Validation, five-seed mean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C5C29-D1F8-4F33-AB48-633B0FEA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76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PolicyDev winners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E50F6-7E87-41EF-A493-83F525EE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145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B7F85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7F85"/>
                </a:solidFill>
                <a:latin typeface="Arial"/>
                <a:ea typeface="Arial"/>
                <a:cs typeface="Arial"/>
              </a:rPr>
              <a:t>0.192 ± 0.014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DC484-F02E-4185-B59D-BF2D17B3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717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Mean horizon AP</a:t>
            </a:r>
          </a:p>
          <a:p xmlns:a="http://schemas.openxmlformats.org/drawingml/2006/main">
            <a:pPr algn="l">
              <a:defRPr sz="12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F5 + P3 medium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7C421-A5ED-4C87-9BD7-F6D04588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813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59E0B"/>
                </a:solidFill>
                <a:latin typeface="Arial"/>
                <a:ea typeface="Arial"/>
                <a:cs typeface="Arial"/>
              </a:rPr>
              <a:t>0.202 ± 0.004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3F02E-807D-4D3F-97AE-09168C13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38575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Macro F1</a:t>
            </a:r>
          </a:p>
          <a:p xmlns:a="http://schemas.openxmlformats.org/drawingml/2006/main">
            <a:pPr algn="l">
              <a:defRPr sz="12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F5 + P5 less regularized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F029B7-A4DB-4535-8DFB-9C8FC941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62500"/>
            <a:ext cx="3333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9E4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Accuracy 0.970</a:t>
            </a:r>
          </a:p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Macro F1 0.203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8914E-C190-4A23-8AE0-8BC06853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High accuracy mainly reflects the dominant C0 class. Macro F1 and horizon AP provide a more honest view of minority-risk performance.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A2028D-375D-4CDE-BDFA-AC3BBB34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FleetCare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B721FA-537A-48C9-A262-5A6661E1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185736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F41B02-9AFD-43C5-86C1-FFEDAF96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Temporal rule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77482-F587-4AEE-990E-16E0F43C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A6A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E74B4-43E8-4CB0-8A88-8BEF1851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The model supplies probabilities; deterministic rules convert evidence into maintenance actions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1B2A2-427A-41A1-A63A-27D5AF6F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Reliability safeguards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618B4-C6A0-4660-97F7-078ADBE3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162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9525">
            <a:solidFill>
              <a:srgbClr val="B8C8D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TRD</a:t>
            </a:r>
          </a:p>
          <a:p xmlns:a="http://schemas.openxmlformats.org/drawingml/2006/main">
            <a:pPr algn="ctr">
              <a:defRPr sz="13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1 readout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98B8F-E309-4EA0-8B4C-92746137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209800"/>
            <a:ext cx="2400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586A78"/>
          </a:solidFill>
          <a:ln xmlns:a="http://schemas.openxmlformats.org/drawingml/2006/main" w="9525">
            <a:solidFill>
              <a:srgbClr val="586A78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COLLECT MORE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04A3EC-174F-4859-B627-DFCB57A5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8602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EB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4531F-47E0-4D21-B9B7-5E80720F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676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F2C66D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TR0</a:t>
            </a:r>
          </a:p>
          <a:p xmlns:a="http://schemas.openxmlformats.org/drawingml/2006/main">
            <a:pPr algn="ctr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C3/C4 + &lt;3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2B45C5-7FD2-41DD-9BC4-9CFB5E65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38500"/>
            <a:ext cx="1885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MANUAL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EE7C2-D58F-4274-B83B-70FE1AE0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1472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A64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250A62-56F5-4D3E-9175-B3308F2A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E5A3A0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TRV</a:t>
            </a:r>
          </a:p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low confidence + repeated jumps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7D31E1-F1DC-4A2B-B2C7-375E36E9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48150"/>
            <a:ext cx="1619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9525">
            <a:solidFill>
              <a:srgbClr val="D9534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UNSTABLE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MANUAL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642E63-8A42-499A-BABF-934B09B5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7200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7B7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B2966-115E-4800-BB9E-695C8347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6192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Maintenance decision ladder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19E315-F496-4B79-ACA2-84A7221D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95500"/>
            <a:ext cx="10287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7F2DB8-FC58-43E9-B70C-91DD7212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145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C4 + Risk6 top 0.5% + persistent / fast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992A58-F19D-4075-AB1D-07313F1F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95500"/>
            <a:ext cx="1866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9534F"/>
          </a:solidFill>
          <a:ln xmlns:a="http://schemas.openxmlformats.org/drawingml/2006/main" w="9525">
            <a:solidFill>
              <a:srgbClr val="D9534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PRIORITY INSPECT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C223FB-04FE-4F51-9506-5BC46C84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76550"/>
            <a:ext cx="10287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TR2 / TR3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B985DF-2619-42E2-9072-19F9950F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956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C3/C4 with extreme Risk12, or extreme persistent Risk6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8DFB16-A83A-4AE8-BD02-7300B482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76550"/>
            <a:ext cx="1866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77732"/>
          </a:solidFill>
          <a:ln xmlns:a="http://schemas.openxmlformats.org/drawingml/2006/main" w="9525">
            <a:solidFill>
              <a:srgbClr val="E7773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9C129C-3CF4-484D-838E-D79E7C52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57600"/>
            <a:ext cx="10287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43073D-C465-4B0C-BB48-642A529B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766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C2, or high Risk24 with persistence / deterioration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C723F1-7C19-4FF9-987E-7E879737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57600"/>
            <a:ext cx="1866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ENHANCED MONITOR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C870E3-1AC3-4DCE-9AF9-7EBE2A09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438650"/>
            <a:ext cx="10287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5BFA2D-999A-43E5-BA96-B88E08FC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577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C1, or high Risk48 with persistence / deterioration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DA3E96-4046-4E17-90A8-9D6227F9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38650"/>
            <a:ext cx="1866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7F85"/>
          </a:solidFill>
          <a:ln xmlns:a="http://schemas.openxmlformats.org/drawingml/2006/main" w="9525">
            <a:solidFill>
              <a:srgbClr val="0B7F8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43C0C8-93E2-4960-BA71-C96AFDEB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219700"/>
            <a:ext cx="10287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0AA4B5-2972-4871-8C2E-7814B9FB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387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No combined evidence for escalation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7BD1F6-B320-4FA8-A327-4C09E70A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219700"/>
            <a:ext cx="1866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F9D72"/>
          </a:solidFill>
          <a:ln xmlns:a="http://schemas.openxmlformats.org/drawingml/2006/main" w="9525">
            <a:solidFill>
              <a:srgbClr val="1F9D7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CONTINUE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5DA511-7326-4DA2-A116-EEC56D77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8640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Volatility safeguard: confidence &lt; 0.35, probability margin &lt; 0.03, and at least three class jumps of two or more levels within the recent five predictions.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A0D08C-84B7-4327-82E8-68FA0C52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FleetCare AI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EB67F6-4C0B-4086-89DF-9E090C0E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277734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AEB766-826E-4E2A-B961-F64CB977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Production inference script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1CAAC-4723-4550-9DF4-4970F67B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3A6A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A8401-98ED-4C6D-A232-B7AB71BF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The application reads stored results; the model runs only when operational data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1A420-5ED0-43EE-A1D1-4D168E63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1428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C8D7E0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truck_readout</a:t>
            </a:r>
          </a:p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truck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A313F-3038-48CF-B7BD-283807FF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574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A6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428E8-B6EC-4CCA-9695-01061FEC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952625"/>
            <a:ext cx="18288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C8D7E0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Feature engineering</a:t>
            </a:r>
          </a:p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current, rate, change</a:t>
            </a:r>
          </a:p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rolling history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BC980-F68E-4CF6-AA53-A9382EF8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574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A6A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A4941-7EFC-4F37-83F2-6327DE70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52625"/>
            <a:ext cx="1619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XGBoost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P(C0…C4)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Risk6/12/24/48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ACC6C7-4DF0-479E-9EB9-74689AAC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574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A6A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4A39D-45D2-4606-A2CC-2EFF46CE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1524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B7F85"/>
          </a:solidFill>
          <a:ln xmlns:a="http://schemas.openxmlformats.org/drawingml/2006/main" w="9525">
            <a:solidFill>
              <a:srgbClr val="0B7F8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Rule engine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TR0–TR6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TRV and TRD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C3CFD9-32DC-491C-B397-CC88699F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574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A6A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603F5-67FB-4D3F-A469-5D530014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52625"/>
            <a:ext cx="1619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C8D7E0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Stored output</a:t>
            </a:r>
          </a:p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analysis</a:t>
            </a:r>
          </a:p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prediction_shap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6ACAD3-E596-4071-A00C-8B500BCA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574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3A6A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023975-90D3-45C3-AD2F-215F10C3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52625"/>
            <a:ext cx="1428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C8D7E0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Backend</a:t>
            </a:r>
          </a:p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latest row</a:t>
            </a:r>
          </a:p>
          <a:p xmlns:a="http://schemas.openxmlformats.org/drawingml/2006/main">
            <a:pPr algn="ctr">
              <a:defRPr sz="12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per vehicle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BB8E1A-C6E5-4E2E-A906-E7DED9CB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Run command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60979-3ECB-4D95-A5B9-197E3644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619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8D9D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D9D4"/>
                </a:solidFill>
                <a:latin typeface="Arial"/>
                <a:ea typeface="Arial"/>
                <a:cs typeface="Arial"/>
              </a:rPr>
              <a:t>.venv/bin/python -u SystemCode/data/run_model.py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4FCCC5-5A66-4E5B-BFC0-91E4541E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Each vehicle receives one latest decision. Vehicles with one readout bypass the model and receive COLLECT_MORE_DATA.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8062D2-204F-489C-AA8E-4ED9A591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Verified dry run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5FD041-C9E1-455E-9583-FFCD2278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5762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7F85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7F85"/>
                </a:solidFill>
                <a:latin typeface="Arial"/>
                <a:ea typeface="Arial"/>
                <a:cs typeface="Arial"/>
              </a:rPr>
              <a:t>193,095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DC5243-EE5F-4EFF-8699-625C565E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81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readouts loaded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571B3A-7ACC-412A-8530-57A43C28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59E0B"/>
                </a:solidFill>
                <a:latin typeface="Arial"/>
                <a:ea typeface="Arial"/>
                <a:cs typeface="Arial"/>
              </a:rPr>
              <a:t>5,037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056B8B-0342-4A5C-81FC-E107219E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005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latest model predictions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035A1B-B9E7-4E91-A4C6-319B94D3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958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D9534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D9534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AAAE7A-EE28-42DF-9616-DDAA4555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85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collect-more-data decisions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316747-919B-40C8-AB0F-838DF16C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Dashboard queries filter to the latest analysis row per vehicle, then exclude inactive or in-maintenance vehicles.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DF2DB8-CB47-471F-AA05-00BC4126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FleetCare 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B4FF26-3200-49A8-B652-0D020F57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A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A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643134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2026-10-12T22:33:32.1940000Z</dcterms:created>
  <dcterms:modified xsi:type="dcterms:W3CDTF">2026-10-12T22:33:32.1940000Z</dcterms:modified>
</coreProperties>
</file>