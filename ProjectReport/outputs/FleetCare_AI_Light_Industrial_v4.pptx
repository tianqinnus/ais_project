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a45da635284613" /><Relationship Type="http://schemas.openxmlformats.org/officeDocument/2006/relationships/extended-properties" Target="/docProps/app.xml" Id="R3605093e17664609" /><Relationship Type="http://schemas.openxmlformats.org/officeDocument/2006/relationships/officeDocument" Target="/ppt/presentation.xml" Id="R671b3dc4cf9449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9e7750ede84ea7"/>
  </p:sldMasterIdLst>
  <p:notesMasterIdLst>
    <p:notesMasterId xmlns:r="http://schemas.openxmlformats.org/officeDocument/2006/relationships" r:id="R0862dc0068334a87"/>
  </p:notesMasterIdLst>
  <p:sldIdLst>
    <p:sldId xmlns:r="http://schemas.openxmlformats.org/officeDocument/2006/relationships" id="256" r:id="R64ba8b0d9b3742a7"/>
    <p:sldId xmlns:r="http://schemas.openxmlformats.org/officeDocument/2006/relationships" id="257" r:id="R294c3fe1d20e4f42"/>
    <p:sldId xmlns:r="http://schemas.openxmlformats.org/officeDocument/2006/relationships" id="258" r:id="R7e7bca91592048db"/>
    <p:sldId xmlns:r="http://schemas.openxmlformats.org/officeDocument/2006/relationships" id="259" r:id="R7d0377ac7f194046"/>
    <p:sldId xmlns:r="http://schemas.openxmlformats.org/officeDocument/2006/relationships" id="260" r:id="R91e0d7e0da344d2f"/>
    <p:sldId xmlns:r="http://schemas.openxmlformats.org/officeDocument/2006/relationships" id="261" r:id="Rad005cd279aa48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9773b3660c4ff6" /><Relationship Type="http://schemas.openxmlformats.org/officeDocument/2006/relationships/slideMaster" Target="/ppt/slideMasters/slideMaster1.xml" Id="Rac9e7750ede84ea7" /><Relationship Type="http://schemas.openxmlformats.org/officeDocument/2006/relationships/notesMaster" Target="/ppt/notesMasters/notesMaster1.xml" Id="R0862dc0068334a87" /><Relationship Type="http://schemas.openxmlformats.org/officeDocument/2006/relationships/presProps" Target="/ppt/presProps.xml" Id="R77dcc67b361244a1" /><Relationship Type="http://schemas.openxmlformats.org/officeDocument/2006/relationships/tableStyles" Target="/ppt/tableStyles.xml" Id="Rda1f832c04e545e6" /><Relationship Type="http://schemas.openxmlformats.org/officeDocument/2006/relationships/slide" Target="/ppt/slides/slide1.xml" Id="R64ba8b0d9b3742a7" /><Relationship Type="http://schemas.openxmlformats.org/officeDocument/2006/relationships/slide" Target="/ppt/slides/slide2.xml" Id="R294c3fe1d20e4f42" /><Relationship Type="http://schemas.openxmlformats.org/officeDocument/2006/relationships/slide" Target="/ppt/slides/slide3.xml" Id="R7e7bca91592048db" /><Relationship Type="http://schemas.openxmlformats.org/officeDocument/2006/relationships/slide" Target="/ppt/slides/slide4.xml" Id="R7d0377ac7f194046" /><Relationship Type="http://schemas.openxmlformats.org/officeDocument/2006/relationships/slide" Target="/ppt/slides/slide5.xml" Id="R91e0d7e0da344d2f" /><Relationship Type="http://schemas.openxmlformats.org/officeDocument/2006/relationships/slide" Target="/ppt/slides/slide6.xml" Id="Rad005cd279aa48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cd1576ff924c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ec4f7ad5f2485a" /><Relationship Type="http://schemas.openxmlformats.org/officeDocument/2006/relationships/notesMaster" Target="/ppt/notesMasters/notesMaster1.xml" Id="R7359a3e8f5b849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8c3d869db14fc7" /><Relationship Type="http://schemas.openxmlformats.org/officeDocument/2006/relationships/notesMaster" Target="/ppt/notesMasters/notesMaster1.xml" Id="R69978c4d0ba345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07baa3e259456e" /><Relationship Type="http://schemas.openxmlformats.org/officeDocument/2006/relationships/notesMaster" Target="/ppt/notesMasters/notesMaster1.xml" Id="Re4c30515c5cd48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c7fc1e8aa3497e" /><Relationship Type="http://schemas.openxmlformats.org/officeDocument/2006/relationships/notesMaster" Target="/ppt/notesMasters/notesMaster1.xml" Id="Rca320df68d8b46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ed7060b0de4cca" /><Relationship Type="http://schemas.openxmlformats.org/officeDocument/2006/relationships/notesMaster" Target="/ppt/notesMasters/notesMaster1.xml" Id="R44a84eeb99394c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cc6db7973242a1" /><Relationship Type="http://schemas.openxmlformats.org/officeDocument/2006/relationships/notesMaster" Target="/ppt/notesMasters/notesMaster1.xml" Id="Rcee32383644a40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model outputs and final inference code in SystemCode/data/fleetcare_inference.py.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model experiment sequence in repository history: test_00, test_01, test_02-05, test_06c-10c, test_11c and test_12c. Cost experiments were reviewed but excluded from the final no-cost selection objective.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test_12c_feature_parameter_search.py on the model branch. P3: 250 estimators, learning rate 0.05, depth 5. P5: 250 estimators, learning rate 0.05, depth 4 with lower regularization.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results from test_12c. Official Validation: F5/P3 Macro F1 0.201098, mean horizon AP 0.040280; F5/P5 Macro F1 0.203502, mean horizon AP 0.043174. PolicyDev winners: risk-ranking mean AP 0.192175 ± 0.014271; five-class Macro F1 0.201593 ± 0.003539. Earlier Official Validation accuracy mean 0.970194 and Macro F1 mean 0.202518.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SystemCode/data/fleetcare_inference.py. Current thresholds: Risk48 P80, Risk24 P85, Risk12 P90 and Risk6 P95 for high-risk evidence; action escalation for TR1 and TR2 uses P99.5. TR0 precedes TRV in rule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SystemCode/data/run_model.py, SystemCode/data/fleetcare_inference.py and verified dry-run output from 8 October 2026. Dry run produced one latest prediction for 5,037 vehicles and seven COLLECT_MORE_DATA decisions, without database writes.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9782ff32d49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eb193fccb347f9" /><Relationship Type="http://schemas.openxmlformats.org/officeDocument/2006/relationships/slideLayout" Target="/ppt/slideLayouts/slideLayout1.xml" Id="R0f404239a19d43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404239a19d43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264a178ec47fa" /><Relationship Type="http://schemas.openxmlformats.org/officeDocument/2006/relationships/notesSlide" Target="/ppt/notesSlides/notesSlide1.xml" Id="R6ae96061221146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c3a36a2944312" /><Relationship Type="http://schemas.openxmlformats.org/officeDocument/2006/relationships/notesSlide" Target="/ppt/notesSlides/notesSlide2.xml" Id="Rf27e19ef17fe42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a36d54e37425e" /><Relationship Type="http://schemas.openxmlformats.org/officeDocument/2006/relationships/notesSlide" Target="/ppt/notesSlides/notesSlide3.xml" Id="R330badfb70d141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13e12cf0946f3" /><Relationship Type="http://schemas.openxmlformats.org/officeDocument/2006/relationships/chart" Target="/ppt/slides/charts/chart1.xml" Id="Raf39dd916e4946f0" /><Relationship Type="http://schemas.openxmlformats.org/officeDocument/2006/relationships/notesSlide" Target="/ppt/notesSlides/notesSlide4.xml" Id="R9e4e43ddf0ba49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ac1507f5a495f" /><Relationship Type="http://schemas.openxmlformats.org/officeDocument/2006/relationships/notesSlide" Target="/ppt/notesSlides/notesSlide5.xml" Id="R0cdcfabf441f48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b6085abc54687" /><Relationship Type="http://schemas.openxmlformats.org/officeDocument/2006/relationships/notesSlide" Target="/ppt/notesSlides/notesSlide6.xml" Id="R31e8530a56f5441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607D8B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E9A23B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D5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DF2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CA304-EE90-41E2-AA4C-5506BBCC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0" cy="1790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0">
            <a:solidFill>
              <a:srgbClr val="E9A23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71EFA-E860-41BD-AA4A-176921BF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45B4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45B47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C5AEE-0EF8-4015-9820-FCA9F276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Model Iteration, Evaluation</a:t>
            </a:r>
          </a:p>
          <a:p xmlns:a="http://schemas.openxmlformats.org/drawingml/2006/main">
            <a:pPr algn="l">
              <a:defRPr sz="390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and Decision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BC958-4113-41C8-B39F-D42B09DA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SCANIA Component X predictive maintenance</a:t>
            </a:r>
          </a:p>
          <a:p xmlns:a="http://schemas.openxmlformats.org/drawingml/2006/main">
            <a:pPr algn="l">
              <a:defRPr sz="17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Final model, temporal rule engine and production inference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E606A-0955-4EAA-BC7A-3FB5CB70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9A23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3E97F-D64B-44B8-AE47-23D0EB1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55A6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55A64"/>
                </a:solidFill>
                <a:latin typeface="Arial"/>
                <a:ea typeface="Arial"/>
                <a:cs typeface="Arial"/>
              </a:rPr>
              <a:t>Five-class probability model with Risk6, Risk12, Risk24 and Risk48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5BDF3-77BD-4E5D-B912-200AB61B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Intelligent Reasoning Systems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13C43-F6F5-4ED2-A6E6-AB9AAE3A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9537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0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82535-2978-4A84-A359-F614D7CE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9537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0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41C92-98E0-4076-A868-3DE192C9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09537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0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20937-ABD4-4029-AACF-347CC92C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0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62064-2A24-41E1-8975-4F1436FF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0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92CC5-EB85-4745-AFBC-791B4117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0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32D3F-C818-485F-BB61-C65F077F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573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9525">
            <a:solidFill>
              <a:srgbClr val="E9A2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94D22-D5B0-4AF7-A86E-A96D963C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106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ECEE"/>
          </a:solidFill>
          <a:ln xmlns:a="http://schemas.openxmlformats.org/drawingml/2006/main" w="9525">
            <a:solidFill>
              <a:srgbClr val="4F687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Risk6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4C40A-6D42-4AD1-9415-AF3AFAE6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43450"/>
            <a:ext cx="990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5B4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5B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45B47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</p:spTree>
    <p:extLst>
      <p:ext uri="{BB962C8B-B14F-4D97-AF65-F5344CB8AC3E}">
        <p14:creationId xmlns:p14="http://schemas.microsoft.com/office/powerpoint/2010/main" val="8947509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9B2C2E-7607-4CCB-82C6-3A6B25B6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Model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90648-E52B-4DA9-81D4-613A00D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A23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D4802-0568-4183-9FDD-F0B2B905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Each iteration addressed a specific limitation found in the previous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04092-71F7-48B8-8E3B-8C8B6C6B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CD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66298-E6EA-463C-B3B2-A2951FFF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D8B"/>
          </a:solidFill>
          <a:ln xmlns:a="http://schemas.openxmlformats.org/drawingml/2006/main" w="9525">
            <a:solidFill>
              <a:srgbClr val="607D8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B9DBD-C1AA-4C36-AEE8-BAE298FF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003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CAC97-D9BD-4D64-A97D-DEDB8E44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Latest-state baseline</a:t>
            </a:r>
          </a:p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Exposed class imbalance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6F334-5378-4575-A485-96F39EE0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D8B"/>
          </a:solidFill>
          <a:ln xmlns:a="http://schemas.openxmlformats.org/drawingml/2006/main" w="9525">
            <a:solidFill>
              <a:srgbClr val="607D8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C4DD2-D584-4128-B361-171B9740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490E0-0E3F-42A8-9FB0-66EBE237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Nonlinear five-class</a:t>
            </a:r>
          </a:p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probabilities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6AABF-498A-46D8-8289-2CF50674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D8B"/>
          </a:solidFill>
          <a:ln xmlns:a="http://schemas.openxmlformats.org/drawingml/2006/main" w="9525">
            <a:solidFill>
              <a:srgbClr val="607D8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45588-8C93-4809-9BD0-4BF4D2B6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16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Vehicle-aware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D4ABF-5574-4044-83DE-FBC08B8A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Vehicle split and</a:t>
            </a:r>
          </a:p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past-only temporal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845C1-31A9-443E-BA95-C2239874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D8B"/>
          </a:solidFill>
          <a:ln xmlns:a="http://schemas.openxmlformats.org/drawingml/2006/main" w="9525">
            <a:solidFill>
              <a:srgbClr val="607D8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2A019-6E09-4DE4-9688-14B6DC6D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555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Multi-readout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A5EB9-ACE9-4386-B43A-DB09DF81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Rates, changes and</a:t>
            </a:r>
          </a:p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historical windows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5B346-1906-465C-901C-85C5345A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D8B"/>
          </a:solidFill>
          <a:ln xmlns:a="http://schemas.openxmlformats.org/drawingml/2006/main" w="9525">
            <a:solidFill>
              <a:srgbClr val="607D8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8C1CC-05DB-4A8D-8E72-BF23660F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55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Policy trials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62D82-D166-4CC7-868C-46EC6E28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203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Calibration, cost and</a:t>
            </a:r>
          </a:p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capacity experiments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A06AC-8E05-43E0-8D59-F677BA09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23B"/>
          </a:solidFill>
          <a:ln xmlns:a="http://schemas.openxmlformats.org/drawingml/2006/main" w="9525">
            <a:solidFill>
              <a:srgbClr val="E9A2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37DF97-52D6-46D6-ADDB-6B22962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108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Final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9B5E3-982D-4E39-842A-1E93AC94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No-cost feature and</a:t>
            </a:r>
          </a:p>
          <a:p xmlns:a="http://schemas.openxmlformats.org/drawingml/2006/main">
            <a:pPr algn="ctr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parameter selection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29F25D-37F7-423C-BEFD-43C6FC59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F687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F6873"/>
                </a:solidFill>
                <a:latin typeface="Arial"/>
                <a:ea typeface="Arial"/>
                <a:cs typeface="Arial"/>
              </a:rPr>
              <a:t>Final direction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58207-5765-4B6B-BCD3-62B98532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The project retained XGBoost with vehicle-aware history. Cost-based model selection was removed because the public dataset does not provide an operational cost model.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070A33-195D-4CF2-9C4E-36BCC27E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80492F-E21C-4656-90D5-32CD47CD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7667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70C80-4958-4B64-87D3-843C10D0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Feature and parameter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B2872-876A-4E73-B90F-53DD62B8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A23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029AC-3A8A-4019-9943-A24634D1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Five feature collections were screened against five XGBoost configurations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2476500"/>
                <a:gridCol w="3924300"/>
              </a:tblGrid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Set</a:t>
                      </a:r>
                    </a:p>
                  </a:txBody>
                  <a:tcPr marL="91440" marR="91440" marT="45720" marB="45720">
                    <a:solidFill>
                      <a:srgbClr val="E4E9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Feature collection</a:t>
                      </a:r>
                    </a:p>
                  </a:txBody>
                  <a:tcPr marL="91440" marR="91440" marT="45720" marB="45720">
                    <a:solidFill>
                      <a:srgbClr val="E4E9E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E4E9EA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Rate, all horizons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Broad temporal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F2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Rate + change, 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Adds absolute historical movement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F3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Short 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Focuses on 6 and 12-unit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F4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Long 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Focuses on 24 and 48-unit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F5</a:t>
                      </a:r>
                    </a:p>
                  </a:txBody>
                  <a:tcPr marL="91440" marR="91440" marT="45720" marB="45720">
                    <a:solidFill>
                      <a:srgbClr val="FFF0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Rates + short changes</a:t>
                      </a:r>
                    </a:p>
                  </a:txBody>
                  <a:tcPr marL="91440" marR="91440" marT="45720" marB="45720">
                    <a:solidFill>
                      <a:srgbClr val="FFF0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Keeps all rates and adds 6/12-unit changes</a:t>
                      </a:r>
                    </a:p>
                  </a:txBody>
                  <a:tcPr marL="91440" marR="91440" marT="45720" marB="45720">
                    <a:solidFill>
                      <a:srgbClr val="FFF0D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4E1EC-CD23-4A87-82E5-D90CBC12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Search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8D85C-C8DE-4467-AF23-21DFC6E4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7170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E9A23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E9A23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ACA44-9EFD-4C38-B447-905667F0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feature / parameter combinations</a:t>
            </a:r>
          </a:p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in the first screening 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FD651-635B-4B9F-B876-0D799F2B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14675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607D8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607D8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1871A-9F0F-407A-A7AF-573E10C3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527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random seeds for finalists</a:t>
            </a:r>
          </a:p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42, 52, 62, 72, 82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702CE-005D-43A2-B635-E6A62597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320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ECEE"/>
          </a:solidFill>
          <a:ln xmlns:a="http://schemas.openxmlformats.org/drawingml/2006/main" w="9525">
            <a:solidFill>
              <a:srgbClr val="4F687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Risk ranking</a:t>
            </a:r>
          </a:p>
          <a:p xmlns:a="http://schemas.openxmlformats.org/drawingml/2006/main">
            <a:pPr algn="ctr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BA413-2906-4C0C-928A-BD6EF46C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05400"/>
            <a:ext cx="320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E9A2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Five-class classification</a:t>
            </a:r>
          </a:p>
          <a:p xmlns:a="http://schemas.openxmlformats.org/drawingml/2006/main">
            <a:pPr algn="ctr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04D36-F968-4850-936A-AEDA9F3E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043A6-D0DF-40D2-A35A-4481C39C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39003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99C0A-B5A8-4E47-8581-205916D1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Final model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8A22E-A34B-41D3-A96F-7B6EDEFB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A23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83AFA-BCC2-4C1B-A1D8-B781A433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PolicyDev selected the configurations. Official Validation remained excluded from model selection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952625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39dd916e4946f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02EF8-E7A5-4BAB-8433-393ABBD7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BD797-A513-46B1-889C-FECB04D5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76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PolicyDev winners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4D9D3-3E91-401E-8B61-2596C962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4F687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4F6873"/>
                </a:solidFill>
                <a:latin typeface="Arial"/>
                <a:ea typeface="Arial"/>
                <a:cs typeface="Arial"/>
              </a:rPr>
              <a:t>0.192 ± 0.014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AD502-06E4-466E-B1CE-108B979A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Mean horizon AP</a:t>
            </a:r>
          </a:p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491AF-91F4-4221-AED3-EA7D39A2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813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E9A23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E9A23B"/>
                </a:solidFill>
                <a:latin typeface="Arial"/>
                <a:ea typeface="Arial"/>
                <a:cs typeface="Arial"/>
              </a:rPr>
              <a:t>0.202 ± 0.004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096B0-BD74-46F4-8D88-347A569B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3857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Macro F1</a:t>
            </a:r>
          </a:p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387B2-5224-43D4-96BB-7E309AB6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62500"/>
            <a:ext cx="3333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9E4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Accuracy 0.970</a:t>
            </a:r>
          </a:p>
          <a:p xmlns:a="http://schemas.openxmlformats.org/drawingml/2006/main">
            <a:pPr algn="ctr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Macro F1 0.203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26ACA-A31F-4D58-8CE8-545A8FB0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High accuracy mainly reflects the dominant C0 class. Macro F1 and horizon AP provide a more honest view of minority-risk performance.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58183-0347-4577-B4FE-A200C1E1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5E8E7-7BC5-4C32-9580-D1FE83CF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9465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393335-9AEC-49AC-B138-B6D4405F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Temporal rule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4682D-875E-4B1E-86A6-8A26E658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A23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BB56F-EEEB-4588-A594-56D21DC0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The model supplies probabilities. Deterministic rules convert evidence into maintenance 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E014B-D135-4385-8419-FE305E63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Reliability safeguards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1077C-7C8F-43F8-A4C4-2258C30B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62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B8C8D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TRD</a:t>
            </a:r>
          </a:p>
          <a:p xmlns:a="http://schemas.openxmlformats.org/drawingml/2006/main">
            <a:pPr algn="ctr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1 readout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453A0-0CC4-4CB3-B87F-F0860BE4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098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65747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COLLECT MORE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968E0-EFCF-4750-A66E-B1D41794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860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EB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3632E-E2D6-4C2F-8BBE-37EFDCEA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676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2C66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TR0</a:t>
            </a:r>
          </a:p>
          <a:p xmlns:a="http://schemas.openxmlformats.org/drawingml/2006/main">
            <a:pPr algn="ctr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C3/C4 + &lt;3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4C06D-59C5-43DB-BC59-6F569385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38500"/>
            <a:ext cx="1885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9525">
            <a:solidFill>
              <a:srgbClr val="E9A2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MANUAL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49DF3-DBF1-4864-BF6C-F3232DDC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147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A64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36DE5-E4E5-4B16-B7C8-476806A4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E5A3A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TRV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low confidence + repeated jumps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DA570-6095-460A-9C67-56B824AC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9E8E4"/>
          </a:solidFill>
          <a:ln xmlns:a="http://schemas.openxmlformats.org/drawingml/2006/main" w="9525">
            <a:solidFill>
              <a:srgbClr val="C45B4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UNSTABLE</a:t>
            </a:r>
          </a:p>
          <a:p xmlns:a="http://schemas.openxmlformats.org/drawingml/2006/main">
            <a:pPr algn="ctr">
              <a:defRPr sz="11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MANUAL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6E96C-2E37-4769-BAFE-E5FA329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72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7B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8A830-C959-490E-993A-7B265B87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19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Maintenance decision ladder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A1B58-9343-477A-91E6-EE55D09A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955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0F1"/>
          </a:solidFill>
          <a:ln xmlns:a="http://schemas.openxmlformats.org/drawingml/2006/main" w="9525">
            <a:solidFill>
              <a:srgbClr val="455A6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09D92-9910-4885-AAB4-F89D899D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145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C4 + Risk6 top 0.5% + persistent / fast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9AB3F-A7BC-46A9-AE4E-EC81C9C4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9550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9E8E4"/>
          </a:solidFill>
          <a:ln xmlns:a="http://schemas.openxmlformats.org/drawingml/2006/main" w="9525">
            <a:solidFill>
              <a:srgbClr val="C45B4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PRIORITY INSPECT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52E5C-C76F-4238-98D9-9945A83A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7655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0F1"/>
          </a:solidFill>
          <a:ln xmlns:a="http://schemas.openxmlformats.org/drawingml/2006/main" w="9525">
            <a:solidFill>
              <a:srgbClr val="455A6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TR2 / TR3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795B5-66A1-413C-9694-7FC84117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C3/C4 with extreme Risk12, or extreme persistent Risk6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FDEE7-121B-4058-8E4D-401B8E78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7655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BECE1"/>
          </a:solidFill>
          <a:ln xmlns:a="http://schemas.openxmlformats.org/drawingml/2006/main" w="9525">
            <a:solidFill>
              <a:srgbClr val="E7773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28B31-3744-445A-BDC3-F0353106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576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0F1"/>
          </a:solidFill>
          <a:ln xmlns:a="http://schemas.openxmlformats.org/drawingml/2006/main" w="9525">
            <a:solidFill>
              <a:srgbClr val="455A6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F76F0E-8627-4C71-985F-1BC5D711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C2, or high Risk24 with persistence / deterioration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0BC211-0FC6-4553-BCC2-F8128D37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5760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E9A2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ENHANCED MONITOR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095A6F-557D-42D3-9FCB-9CDFFA4A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3865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0F1"/>
          </a:solidFill>
          <a:ln xmlns:a="http://schemas.openxmlformats.org/drawingml/2006/main" w="9525">
            <a:solidFill>
              <a:srgbClr val="455A6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985B75-052C-4B83-B6A0-BD50039B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C1, or high Risk48 with persistence / deterioration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060333-5B4C-47EB-B239-EE31697F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3865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EF0"/>
          </a:solidFill>
          <a:ln xmlns:a="http://schemas.openxmlformats.org/drawingml/2006/main" w="9525">
            <a:solidFill>
              <a:srgbClr val="4F687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C4E904-A376-40E1-856C-3CFF428C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197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0F1"/>
          </a:solidFill>
          <a:ln xmlns:a="http://schemas.openxmlformats.org/drawingml/2006/main" w="9525">
            <a:solidFill>
              <a:srgbClr val="455A6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CFA4B8-E67A-4315-80D0-16F956EF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387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No combined evidence for escalation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803680-4ACE-44E5-BD09-11111212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1970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BF0EA"/>
          </a:solidFill>
          <a:ln xmlns:a="http://schemas.openxmlformats.org/drawingml/2006/main" w="9525">
            <a:solidFill>
              <a:srgbClr val="647A67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356D9C-9BF5-44F0-B436-068EBCFD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Volatility safeguard: confidence &lt; 0.35, probability margin &lt; 0.03, and at least three class jumps of two or more levels within the recent five predictions.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78CE93-A826-47AB-97CB-28DEEDA3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C32251-2611-431C-8F58-06CE1309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92136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12D44B-FDAF-4EF0-825F-A7228EC5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Production inference 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4E298-22EF-4CBD-9C86-2F4DF980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A23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5A94B-4486-4E69-87E8-589B7CC4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The application reads stored results. The model runs only when operational data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A906D-1635-432C-B278-9479DC40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428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C8D0D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truck_readout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truck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531B1-4D54-47FA-8826-A4C7374E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07D8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D0528-B8B8-4197-8C51-7E32BD36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52625"/>
            <a:ext cx="1828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C8D0D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Feature engineering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current, rate, change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rolling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7B0FF-5C1A-4D56-84A8-704E9962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07D8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98DF4-009C-45B4-90CB-267CD809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52625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4E9EA"/>
          </a:solidFill>
          <a:ln xmlns:a="http://schemas.openxmlformats.org/drawingml/2006/main" w="9525">
            <a:solidFill>
              <a:srgbClr val="455A6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Final XGBoost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P(C0…C4)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Risk6/12/24/48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E7474-F0C9-4022-ABB2-F824E2A7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07D8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F26EF-4C3A-4FB2-BDBC-73659AEF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524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E9A23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Rule engine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TR0–TR6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TRV and TRD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105FE-4CEB-4277-98F3-6D2E2DB0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07D8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6C5DD-9BB4-4E8F-A3BF-9632318D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52625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C8D0D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Stored output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analysis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prediction_shap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64E61-33E3-43B4-9CF6-250579C0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07D8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6B2F8-0DA0-41D8-A5CD-3593C500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52625"/>
            <a:ext cx="1428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C8D0D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Backend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latest row</a:t>
            </a:r>
          </a:p>
          <a:p xmlns:a="http://schemas.openxmlformats.org/drawingml/2006/main">
            <a:pPr algn="ctr"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per vehicle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746FC-1DFE-4E7C-A596-959ACA96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Run command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87AF0-45DA-4DEB-B691-7E82B9C7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619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EF"/>
          </a:solidFill>
          <a:ln xmlns:a="http://schemas.openxmlformats.org/drawingml/2006/main" w="9525">
            <a:solidFill>
              <a:srgbClr val="455A6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.venv/bin/python -u SystemCode/data/run_model.py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CE303-910C-4216-9400-F392DFFF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Each vehicle receives one latest decision. Vehicles with one readout bypass the model and receive COLLECT_MORE_DATA.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BD2FED-48B0-40DE-836C-C6D54800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63238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2C41A-E081-47C5-A7E0-9CBA4A59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4F687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4F6873"/>
                </a:solidFill>
                <a:latin typeface="Arial"/>
                <a:ea typeface="Arial"/>
                <a:cs typeface="Arial"/>
              </a:rPr>
              <a:t>193,095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71AB0-31A7-45BA-9BB2-FCCC909E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81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readouts loaded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0A2AE-12CF-4622-BE15-C86E213A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E9A23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A23B"/>
                </a:solidFill>
                <a:latin typeface="Arial"/>
                <a:ea typeface="Arial"/>
                <a:cs typeface="Arial"/>
              </a:rPr>
              <a:t>5,037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1D17D-9A4D-4244-9CF0-8E31535F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005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latest model predictions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603BB9-048B-475F-ABAB-DC7C79F3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C45B47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C45B4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C8BC1-63C3-4A75-A354-BA5820B5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85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collect-more-data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07F38E-B1D5-45EE-949C-6634003B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Dashboard queries filter to the latest analysis row per vehicle, then exclude inactive or in-maintenance vehicles.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966876-2F3A-47D0-98C8-5538B5EC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A8AA26-57ED-40E3-96F6-18175F3E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5747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574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32463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2026-10-12T22:38:00.5610000Z</dcterms:created>
  <dcterms:modified xsi:type="dcterms:W3CDTF">2026-10-12T22:38:00.5610000Z</dcterms:modified>
</coreProperties>
</file>