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b880843bb4444e" /><Relationship Type="http://schemas.openxmlformats.org/officeDocument/2006/relationships/extended-properties" Target="/docProps/app.xml" Id="Rf4a1f32fbff84ad9" /><Relationship Type="http://schemas.openxmlformats.org/officeDocument/2006/relationships/officeDocument" Target="/ppt/presentation.xml" Id="Rd8629119d66d4d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0097222f54269"/>
  </p:sldMasterIdLst>
  <p:notesMasterIdLst>
    <p:notesMasterId xmlns:r="http://schemas.openxmlformats.org/officeDocument/2006/relationships" r:id="R6be00f9c12894bb2"/>
  </p:notesMasterIdLst>
  <p:sldIdLst>
    <p:sldId xmlns:r="http://schemas.openxmlformats.org/officeDocument/2006/relationships" id="256" r:id="R310580afb8884451"/>
    <p:sldId xmlns:r="http://schemas.openxmlformats.org/officeDocument/2006/relationships" id="257" r:id="R9da7f831fff54de1"/>
    <p:sldId xmlns:r="http://schemas.openxmlformats.org/officeDocument/2006/relationships" id="258" r:id="Rf70829ef777d4989"/>
    <p:sldId xmlns:r="http://schemas.openxmlformats.org/officeDocument/2006/relationships" id="259" r:id="R45cb795151d44182"/>
    <p:sldId xmlns:r="http://schemas.openxmlformats.org/officeDocument/2006/relationships" id="260" r:id="Raa3ec46cf9ab4cbe"/>
    <p:sldId xmlns:r="http://schemas.openxmlformats.org/officeDocument/2006/relationships" id="261" r:id="R96af072366884b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9c1a4b72544b42" /><Relationship Type="http://schemas.openxmlformats.org/officeDocument/2006/relationships/slideMaster" Target="/ppt/slideMasters/slideMaster1.xml" Id="Rd850097222f54269" /><Relationship Type="http://schemas.openxmlformats.org/officeDocument/2006/relationships/notesMaster" Target="/ppt/notesMasters/notesMaster1.xml" Id="R6be00f9c12894bb2" /><Relationship Type="http://schemas.openxmlformats.org/officeDocument/2006/relationships/presProps" Target="/ppt/presProps.xml" Id="Rf6df68b1fa7f4966" /><Relationship Type="http://schemas.openxmlformats.org/officeDocument/2006/relationships/tableStyles" Target="/ppt/tableStyles.xml" Id="Rdbffb74f7be142c6" /><Relationship Type="http://schemas.openxmlformats.org/officeDocument/2006/relationships/slide" Target="/ppt/slides/slide1.xml" Id="R310580afb8884451" /><Relationship Type="http://schemas.openxmlformats.org/officeDocument/2006/relationships/slide" Target="/ppt/slides/slide2.xml" Id="R9da7f831fff54de1" /><Relationship Type="http://schemas.openxmlformats.org/officeDocument/2006/relationships/slide" Target="/ppt/slides/slide3.xml" Id="Rf70829ef777d4989" /><Relationship Type="http://schemas.openxmlformats.org/officeDocument/2006/relationships/slide" Target="/ppt/slides/slide4.xml" Id="R45cb795151d44182" /><Relationship Type="http://schemas.openxmlformats.org/officeDocument/2006/relationships/slide" Target="/ppt/slides/slide5.xml" Id="Raa3ec46cf9ab4cbe" /><Relationship Type="http://schemas.openxmlformats.org/officeDocument/2006/relationships/slide" Target="/ppt/slides/slide6.xml" Id="R96af07236688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c106e123204a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ae8a9442b4a0a" /><Relationship Type="http://schemas.openxmlformats.org/officeDocument/2006/relationships/notesMaster" Target="/ppt/notesMasters/notesMaster1.xml" Id="R626caf217c1a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b450039c4845b7" /><Relationship Type="http://schemas.openxmlformats.org/officeDocument/2006/relationships/notesMaster" Target="/ppt/notesMasters/notesMaster1.xml" Id="R9abe42cd77ee48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2b8f2e756a473b" /><Relationship Type="http://schemas.openxmlformats.org/officeDocument/2006/relationships/notesMaster" Target="/ppt/notesMasters/notesMaster1.xml" Id="R50768d11eb8a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2b6d8f11fb44e3" /><Relationship Type="http://schemas.openxmlformats.org/officeDocument/2006/relationships/notesMaster" Target="/ppt/notesMasters/notesMaster1.xml" Id="R2ad20829baf64a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9087ad49694337" /><Relationship Type="http://schemas.openxmlformats.org/officeDocument/2006/relationships/notesMaster" Target="/ppt/notesMasters/notesMaster1.xml" Id="R5943f384a044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843373d6254193" /><Relationship Type="http://schemas.openxmlformats.org/officeDocument/2006/relationships/notesMaster" Target="/ppt/notesMasters/notesMaster1.xml" Id="Rf920466ac741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The truck artwork is a generated technical illustration and is not presented as a real vehicle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experiment sequence test_00 through test_12c. Cost experiments were reviewed but excluded because the public dataset provides no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 uses 250 estimators, learning rate 0.05 and depth 5. P5 uses 250 estimators, learning rate 0.05 and depth 4 with lower regularisation.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 ranking 0.192175 ± 0.014271 and five-class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High-risk evidence uses Risk48 P80, Risk24 P85, Risk12 P90 and Risk6 P95.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Dashboard query filters to the latest analysis row per vehicle,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b57813c9c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dfb59063b46fc" /><Relationship Type="http://schemas.openxmlformats.org/officeDocument/2006/relationships/slideLayout" Target="/ppt/slideLayouts/slideLayout1.xml" Id="R590dba474cd045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dba474cd045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7196a84954a5c" /><Relationship Type="http://schemas.openxmlformats.org/officeDocument/2006/relationships/image" Target="/ppt/media/image.png" Id="Rcb89e974f2cf40ab" /><Relationship Type="http://schemas.openxmlformats.org/officeDocument/2006/relationships/notesSlide" Target="/ppt/notesSlides/notesSlide1.xml" Id="R6004b809e8b349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2c63e6ae54e98" /><Relationship Type="http://schemas.openxmlformats.org/officeDocument/2006/relationships/notesSlide" Target="/ppt/notesSlides/notesSlide2.xml" Id="Rdcb7906cca11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320f1c4104eb3" /><Relationship Type="http://schemas.openxmlformats.org/officeDocument/2006/relationships/notesSlide" Target="/ppt/notesSlides/notesSlide3.xml" Id="Ra744d7af9043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db97132904ce4" /><Relationship Type="http://schemas.openxmlformats.org/officeDocument/2006/relationships/chart" Target="/ppt/slides/charts/chart1.xml" Id="R9374ec1bc0c34430" /><Relationship Type="http://schemas.openxmlformats.org/officeDocument/2006/relationships/notesSlide" Target="/ppt/notesSlides/notesSlide4.xml" Id="R153018ac48dc4e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ca7132b9349ab" /><Relationship Type="http://schemas.openxmlformats.org/officeDocument/2006/relationships/notesSlide" Target="/ppt/notesSlides/notesSlide5.xml" Id="R14d9c10e4bed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061c22e0e40b8" /><Relationship Type="http://schemas.openxmlformats.org/officeDocument/2006/relationships/notesSlide" Target="/ppt/notesSlides/notesSlide6.xml" Id="R34489debabe141e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83A56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1A5A1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23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5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6F4EF"/>
        </a:solidFill>
        <a:ln xmlns:a="http://schemas.openxmlformats.org/drawingml/2006/main" w="0">
          <a:solidFill>
            <a:srgbClr val="F6F4E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4EF"/>
    </a:solidFill>
    <a:ln xmlns:a="http://schemas.openxmlformats.org/drawingml/2006/main" w="0">
      <a:solidFill>
        <a:srgbClr val="F6F4E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A88E0-2366-4FC2-9174-84F209C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7D413-A3F2-4326-8C95-805EA57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9EBBC-3A3F-46DD-A88A-D5344AB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7049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9044A-6F9C-481E-9F62-F12B1F4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22C3B-6A98-4C5B-84A4-4F6FF2C9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94093-4763-4397-B209-620B90A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6BDE1-1039-419D-94DE-0CD5A719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7ED75-0519-43B1-99E6-3E65030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72A5-9543-4D84-BBF9-33910C5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01  /  EXECUTIVE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3C12C-0340-4AD0-995D-64F05D49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4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The system converts irregular telemetry into one auditable action per vehicle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ED0E6-7A8F-4DE0-BA54-D14A23FB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A five-class model ranks risk; a temporal rule layer stabilises operational decisions.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9e974f2cf40ab"/>
          <a:stretch xmlns:a="http://schemas.openxmlformats.org/drawingml/2006/main"/>
        </p:blipFill>
        <p:spPr>
          <a:xfrm xmlns:a="http://schemas.openxmlformats.org/drawingml/2006/main">
            <a:off x="5715000" y="1502267"/>
            <a:ext cx="6000750" cy="33772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2B8C2-F532-4A0C-9694-A9EFC20D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51A7A-87CF-4676-913D-D3A407A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classes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17097-8C95-4F9F-8993-0C4F6488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95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D9815-FA54-4D71-B86F-F733D51F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78E5C-3EAC-4A4B-9F78-C09AF3B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45D9B-89EF-45C2-9293-4D7167CF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C1179-E619-46FF-8A1F-0D4688F2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BE579-4982-4FA7-B7DD-3FFFF8F0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D3DBD-90C7-4F3C-A30D-D34ACBDF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A8C94-6529-4751-A9F3-44C0986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24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latest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0D6F0-75B2-465B-990D-02D4D981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per active vehicle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F5387-56D4-47C1-9E55-4F7F29B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6BC94-2950-47B2-BDF3-3CE9E89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4A90C-99C6-49FB-AF33-AD3B5F6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AFB16-7FA5-4696-8062-FAA597D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098AB-E66D-4A42-B149-2ED6995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81625"/>
            <a:ext cx="2305050" cy="590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8E6E1"/>
          </a:solidFill>
          <a:ln xmlns:a="http://schemas.openxmlformats.org/drawingml/2006/main" w="19050">
            <a:solidFill>
              <a:srgbClr val="F6F4E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3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EB335-C5E2-4B3D-8F64-F041B45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dashboard reads stored evidence; it does not rerun the model.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C2F16-14FB-4BB7-8F89-43602E46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F9C30-4D6C-47D4-93F6-54DDAEB7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575889-896C-470D-A3F4-7FABD9FE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599087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68A656-2DD6-4BD8-ADCB-3744D8A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44C63-4F60-4D81-A850-60B165DF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2B253-2EDB-4B22-969E-13E8B44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90109-90EF-45E9-983B-9DFF9750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2193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F6964-3024-4BCA-9BAE-9AA36C7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99A59-1405-4041-BDDB-CBF8375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13560-91C8-4AF4-89D1-3E06A67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42288-452F-4373-8EF3-40425B7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1416E-E533-4045-B436-FF579DE7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02  /  MODEL ITERATION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378E9-07AD-480F-A8E1-F30112F1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7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Each iteration solved one failure mode and narrowed the final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C305F-3358-4F7A-A5B8-F55FAE2D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sequence moved from a static baseline to vehicle-aware temporal modelling and no-cost selection.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FC3C5-CDB9-450E-8258-5E0ED33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CAD3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53C05-9DF0-46EB-8C9A-C0DB208B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55167-DD7D-4C46-8B73-0B22D4C7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C7862-8E48-40D6-B3E6-74ADE8BB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1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Static baseline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Class imbalance exposed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086FA-1FC3-44AE-897E-435F867C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77B8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03A37-53B9-4B12-85EA-A2FCCCE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183A5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9DE37-7700-4A8E-8DD9-5C4B987D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209D1-174A-4D27-BDAE-3C8F6BDC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Nonlinear model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Full probabilities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6B859-7F52-48AB-B45A-33DB9DE7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83A5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78E3F-BD90-474F-8F83-A1E534E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F1227-9AED-42B7-B8B7-88912B39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A6E36-0BC4-47BD-996B-634632D0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82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Leakage control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Vehicle-aware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4368B-3358-450F-8B7E-0072C0A8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A7C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6CA78-FCD8-4FCC-BF20-C825DD75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41A5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A5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A5A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D3697-3690-4252-90F5-77C3B76B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2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0D1CDF-DD60-480F-BF48-A5979ADF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Rates + changes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58DAD-1F50-4BF3-A2A5-C1F70EF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A5A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663EF-1DFF-4451-86AF-EC14038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C28B2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8B2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30BB51-0262-4A40-B951-B2690BF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C47FB-7398-4C05-9A60-B14008CB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57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Calibration + capacity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Cost later removed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440638-815C-46B0-8C99-D4DEAED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28B2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36182F-A311-4C15-87C4-38505F12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190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7BBCA5-D4FB-48A5-A003-CEC411D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26F6B-D8C7-4E8B-B862-6D36DCD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38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25 combinations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Two winners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581754-35A1-4951-A1A6-CF2A9CD8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62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D4DB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8647B1-E5E9-42C4-BD09-2C61371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9096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1430">
            <a:solidFill>
              <a:srgbClr val="5D4DB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05B579-562B-4413-B4EC-2733855C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05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567AB4-6871-4ED0-807F-C0DFBD6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XGBoost + vehicle-aware history + past-only temporal features + no-cost model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64AC68-611F-4E28-AB99-1F49CE3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9CF877-787E-4655-8C2D-EA71F8DA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F832ED-3CBC-43DA-947C-2AF83C0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965263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C60D32-A8E5-4863-98AC-A1651A9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C9290-08D0-4861-816B-476967B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CE84F-1751-4D3E-A062-539324F4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210AA-C332-41AB-A4AC-50E8C584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0AD8B-AEFB-481B-B3E9-8B0B30F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7336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4969B-C2F7-4A6A-834F-1611AC9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FEA2B-DF45-47BD-A349-854695B4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F210F-83B9-4A92-9A50-54296C05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A6B6F-4DAB-4FCB-A72B-8C324C9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03  /  MODEL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689D6-1259-42A6-8A19-01F9797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9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Twenty-five candidates narrowed to two models with different jobs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A82AD-F6B6-4E59-A94F-22E70D3F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Feature design and parameter search were evaluated together, then checked across five random seeds.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EDBB1-B514-4552-9E7D-E72DE3E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FEATURE EVOLUTION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D7C5C-B9E4-40F9-BD7F-04249E33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952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02DFF-511D-44B1-BBD5-F2293E89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AE37D-C73D-4DB5-B8DB-79D2B237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5737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rates, all horizons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D7A1C-C918-45BE-A5B3-85D2C0FC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F9C71-8ABE-4FFE-936A-69EEEFD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76A7A-3BCD-4CE5-A6F1-842B468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rates +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F9604-0D73-4DDA-98E2-B2886BC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5812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9525">
            <a:solidFill>
              <a:srgbClr val="0A7C8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4BC5B-5D87-419D-AAB8-D17A6DE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97ED2-0413-44C3-9049-16BBD6A4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05125"/>
            <a:ext cx="2085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short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F0E50-9D07-4EF8-A62E-325A8611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895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8C2D7-516A-423F-B220-F8343074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E4535-47E8-4650-924D-1E72D6E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long rates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1A159-7E56-4435-93D1-C1366647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2099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5F42A-9031-46C5-B8F6-C6D9C6AA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C7EB3-1E4E-4328-84D5-B9DCEDE1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52875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all rates + short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8E435-D591-4819-BBEF-EB773FEB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PARAMETER FAMILIES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9E217-AE64-4281-B18E-ACE7FFE0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B8769-0897-4EA6-9995-E4C922E6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27A16-C2F9-4FC6-B9EE-A8FE40F1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regularized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4D64D-E722-4F21-B8CA-64B0D8AF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39E09-6B8C-43B0-A81D-EEA3E6C6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33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shallow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63285-5D9F-4785-B6B8-8BE75C2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6E49CD-F7AE-4204-A6D5-CED6B314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57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67FC8D-BE01-4D1E-99D1-FB359A42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B89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B70490-B3C4-4F01-88EF-E61924C3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very shallow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28AA87-CB4E-43BA-AF4C-9A3317A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38100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5505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E20B36-3398-4CA1-9406-B31CB98A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05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less regularized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3ED8FF-E186-42A7-9233-51B9862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2952750" cy="8572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9525">
            <a:solidFill>
              <a:srgbClr val="183A5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25 combinations</a:t>
            </a:r>
          </a:p>
          <a:p xmlns:a="http://schemas.openxmlformats.org/drawingml/2006/main">
            <a:pPr algn="ctr">
              <a:defRPr sz="15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initial screening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5210D-D714-46CB-ADCF-1D6BA1ED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381250" cy="7810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9525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6 finalists</a:t>
            </a:r>
          </a:p>
          <a:p xmlns:a="http://schemas.openxmlformats.org/drawingml/2006/main">
            <a:pPr algn="ctr">
              <a:defRPr sz="14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5 random seeds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D025D9-A025-466C-8EDE-29A07C6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1809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9525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2 selected</a:t>
            </a:r>
          </a:p>
          <a:p xmlns:a="http://schemas.openxmlformats.org/drawingml/2006/main">
            <a:pPr algn="ctr">
              <a:defRPr sz="14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3F472F-6762-4F83-9C9B-EEFCBEC7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E89F9D-789E-4F4C-ABEA-88B69E1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1B83C0-827B-4C9E-BDC2-067FF3B8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4288">
            <a:solidFill>
              <a:srgbClr val="0A7C8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69CE3D-FBE6-46C0-BAA0-58D6C21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FE0753-D140-46CF-AB06-53BB3971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24500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2BD506-5136-4FA4-BC57-6BF329FF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91200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3DF46F-B053-4753-BF6B-1B36DB80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4288">
            <a:solidFill>
              <a:srgbClr val="5D4DB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2F4A67-CBE0-4A75-BC4B-D1FDAFAE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14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FIVE-CLASS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7C079E-6CF2-4015-B6EB-E92375D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24500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6E7CC4-032F-4248-B069-12C1CCF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91200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0793D2-25E1-40FE-A2D2-177AD663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82F23D-4970-4A99-83F2-6FF467B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46AEE7-8B21-49A1-88C6-2858E817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586103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6B8FC5-0637-4E49-A966-877BAF6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3A7CF-B6CB-4D2B-8E7E-1348F3A5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08AB-579E-44B4-B533-299B2FA8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D477F-2D0A-43AB-A9A8-D7B52F5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6FA20-BCF6-42A4-B4EE-2C7FE10B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F1280-0505-4846-926E-35E4E51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32480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4DE8A-9B15-4C86-94DB-C3B76A72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73F32-C79B-4307-BF3C-2217EB0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5DDC8-FBF9-4383-8110-751B9046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04  / 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1259-C782-43FB-82E1-136F2457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High accuracy hides the minority-class 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5DC84-4F11-488E-A0BD-DA9797C6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PolicyDev selected the models; Official Validation remained an independent diagnostic.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46983-E3E0-48E9-ABCB-CA44BC8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1485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1818C-3A0B-43BF-9B89-8320A3A4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0E52B-9EBB-4DE7-9BAB-C68EC55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PolicyDev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A57A2-5A33-4ADB-B626-8D92267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622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D7349-8B9F-4492-AA68-D5FE30F8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1638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35FB4-112E-4C2D-847D-40D2ECFE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9561F-5605-46A5-97E2-ACDA40B9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764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69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Official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E5645-0067-41EA-A039-D3E3A66B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Selection and validation answer</a:t>
            </a:r>
          </a:p>
          <a:p xmlns:a="http://schemas.openxmlformats.org/drawingml/2006/main">
            <a:pPr algn="l">
              <a:defRPr sz="12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different questions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5000625" y="1676400"/>
          <a:ext xmlns:a="http://schemas.openxmlformats.org/drawingml/2006/main" cx="62865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74ec1bc0c34430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B055C-B78C-44D7-934E-99272121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49A2F-0D65-4E7E-9787-4B2D54E9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0.970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FF11A-BEFF-419B-87D6-7E33F0C6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DCB53-E881-4AC2-BCDF-9D12A150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Dominated by C0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7813C-907A-417E-A15D-8767CF2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38725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6FE2E-D102-45A6-854F-47326F4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0.203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55E2F-6AF8-41F5-8673-2F30DA9A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13138-6760-4AA1-9397-3B1A542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8AEE6-3DA6-4A5C-A55A-4D9883A8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38725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9D14F-B4FF-48DC-AFFD-6718EBB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0.043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82DC6-E5F7-4277-9B59-E4356669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86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D1A89-F17C-47B7-8A15-7CB368D7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27830-7339-4133-9425-50F7DC9D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01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EDD8"/>
          </a:solidFill>
          <a:ln xmlns:a="http://schemas.openxmlformats.org/drawingml/2006/main" w="9525">
            <a:solidFill>
              <a:srgbClr val="C28B2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5C05F-A129-4F40-9467-06175D34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149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READ THIS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B09072-37EE-4729-AE92-4C64C75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43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41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Macro F1 and horizon AP</a:t>
            </a:r>
          </a:p>
          <a:p xmlns:a="http://schemas.openxmlformats.org/drawingml/2006/main">
            <a:pPr algn="l">
              <a:defRPr sz="12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carry the decision signal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DBCE8-FA10-4554-9639-7D36AA3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29A7A-4653-4005-8E0C-705C302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0C1B82-853A-4CB5-96D8-F2AF7C59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38372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ACE0C0-FB42-4BCC-A74C-00203B2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CB2DD-7FE3-4B1C-B47C-0CFCC87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2319-96E4-409D-9F6E-92B9847F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D0ABF-3E4B-4AE0-BBB4-84119FCF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44E12-ADA2-44B6-9403-8593251E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2B234-9D17-431D-B346-7A9A2F6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D966E-5CD6-41F0-BD65-142A5963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37623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EAF95-30D2-40A4-BFB4-F53BC85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59AAA-F9EC-4498-9203-DBF83255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05  /  RULE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DD5ED-F242-4B11-9EF9-52711541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3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Three gates prevent unstable predictions from becoming maintenance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B108E-128B-4F10-BAAE-4414000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Data sufficiency and confidence checks run before the risk-severity ladder.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55278-E6B7-43C6-9930-52191D7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AD3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2CF2E-C358-44C4-9243-1109F89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9DD95-7581-4F25-9EBC-023331A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0E94A-713A-4C78-BF27-5C847948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One readout?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C3/C4 with &lt;3 history?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313DA-E70F-497C-993D-EC71A48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30EB8-7E3F-46DE-8796-D2CA9866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6FD68-763E-4C26-A61B-9CFB3951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Low confidence?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Repeated large jumps?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56BBD-4370-4CA3-A617-A6FD2A29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05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47625">
            <a:solidFill>
              <a:srgbClr val="D9634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3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9FB28-20FE-49C8-B020-8E17FFA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533F9-1A32-45C1-9645-C807844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81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Class + horizon risk</a:t>
            </a:r>
          </a:p>
          <a:p xmlns:a="http://schemas.openxmlformats.org/drawingml/2006/main">
            <a:pPr algn="ctr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+ recent trend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E9E16-9980-47A6-9377-FF8BD723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EEA1E-8675-4ACE-A791-1181D959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ACTION</a:t>
            </a:r>
          </a:p>
          <a:p xmlns:a="http://schemas.openxmlformats.org/drawingml/2006/main">
            <a:pPr algn="ctr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3868D-D096-472D-A0C4-943B89FA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2895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C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DBD63-5574-44E3-80E0-99CC68A5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E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12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788A7-6A82-43C8-B9F3-9E84B52C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28950"/>
            <a:ext cx="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4D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81035-3E14-4302-A826-C3EF2F76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62425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9F8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TR0 / TRV</a:t>
            </a:r>
          </a:p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D75A8-0BF2-4F73-B967-053C2995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SEVERITY LADDER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7C6A3-95EA-43C3-8696-07EA8CA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6AD53-E2DA-4B3D-A534-42F736B9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667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B61C71-424A-471F-B3E2-068D8289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4ABA65-9B74-4F46-ABC7-46D4FDE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621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3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634B"/>
                </a:solidFill>
                <a:latin typeface="Arial"/>
                <a:ea typeface="Arial"/>
                <a:cs typeface="Arial"/>
              </a:rPr>
              <a:t>PRIORITY_INSPECT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8CB8C1-DE8F-4BF0-AA5C-E26B8BF7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71725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B7CF71-723D-4D2D-87A6-1EE1B1D5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B2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182B5-74EF-427F-AE13-47BA202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37DBF-0EBD-4E6E-AF15-C8EDB3C7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D21F1E-8F9B-414A-A054-EF934D09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B88154-4C2F-488E-AB05-B4DA3D2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B2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EEBD22-7DDE-4365-ACA2-B761FCF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14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DE9929-5585-48AA-8940-58A4708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8B2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28B2C"/>
                </a:solidFill>
                <a:latin typeface="Arial"/>
                <a:ea typeface="Arial"/>
                <a:cs typeface="Arial"/>
              </a:rPr>
              <a:t>ENHANCED_MONITOR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6D8B81-45C5-4B0F-9DB3-7D3EBD45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052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A88F33-FBEC-4F1B-896E-BF48FD99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180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A5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A0811C-FB4C-4491-86B4-A98F34F8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814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04BE7-BA87-4735-B4C9-F1E91179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624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7B42C5-B936-40CF-91E8-3E1FC7F7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719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807D7A-1C0A-4678-9FF7-33978AFE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7B6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4E4F83-8DB1-4089-9C22-7F36DB52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482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27B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56F118-9E5E-4F38-8A56-D4E2CF07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29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7B6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629DFA-E469-4F2E-AAF0-F90819C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387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1440C9-2D4F-4D2B-BA4A-242F368A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719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Escalation requires aligned evidence from class, horizon risk and recent history.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17D4B9-9761-41C6-815B-AA7ADEE0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719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History overrides model confidence when evidence is insufficient or unstable.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94D1CC-7DBA-42A2-B793-B782BD1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1D1A0C-95CF-405C-A9A3-949FA3FE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3283C7-3EFD-4ECC-8F63-FB668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791950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64843C-83F4-484D-88C9-D89593F2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0"/>
          </a:solidFill>
          <a:ln xmlns:a="http://schemas.openxmlformats.org/drawingml/2006/main" w="9525">
            <a:solidFill>
              <a:srgbClr val="12233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71BBA-990D-41CE-90F6-AEFFF0A8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88DF-E00B-430E-B5DE-35A0434B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DB34E-237C-4FE2-90A6-6A3B1C28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B3BDD-768F-4FC1-A0A7-BDC8005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BE1E9-D312-4CCD-85C4-65498EBD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26C"/>
          </a:solidFill>
          <a:ln xmlns:a="http://schemas.openxmlformats.org/drawingml/2006/main" w="9525">
            <a:solidFill>
              <a:srgbClr val="5262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C8E52-2380-4869-998F-91A67734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5A1"/>
          </a:solidFill>
          <a:ln xmlns:a="http://schemas.openxmlformats.org/drawingml/2006/main" w="9525">
            <a:solidFill>
              <a:srgbClr val="41A5A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36FD6-BDDC-450E-9129-9C311D61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276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4EB0C-7FE1-4024-9D63-0A5D099B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06  /  PRODUCTION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E38F9-2A6D-4B64-9786-1EA52CD5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233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330"/>
                </a:solidFill>
                <a:latin typeface="Arial"/>
                <a:ea typeface="Arial"/>
                <a:cs typeface="Arial"/>
              </a:rPr>
              <a:t>The production script separates data access, scoring and serving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D3B7B-5F62-490B-B6A0-D06FEFAC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The dashboard consumes stored results; only new operational data triggers another batch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08141-D196-4A10-9BFA-4083C6B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71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B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2DF4B-8668-4653-BF74-D3C12E4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C137C-435A-41C6-A342-71388C9C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715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EE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B7733-9620-4A29-B03B-10036E0A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F5B3B-2A87-4360-A51E-D617B1E2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15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8"/>
          </a:solidFill>
          <a:ln xmlns:a="http://schemas.openxmlformats.org/drawingml/2006/main" w="19050">
            <a:solidFill>
              <a:srgbClr val="F6F4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20499-6EAA-4A26-9820-A5B5656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SERVING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20853-9AB9-44C3-B67B-1EA30A94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9775"/>
            <a:ext cx="16192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77B89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A56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2EDB4-3E9C-4CBD-BA33-AC1F2157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432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run_model.py</a:t>
            </a:r>
          </a:p>
          <a:p xmlns:a="http://schemas.openxmlformats.org/drawingml/2006/main">
            <a:pPr algn="ctr">
              <a:defRPr sz="1275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61F9D-6DEF-4CEB-8756-2E1E06A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432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fleetcare_inference.py</a:t>
            </a:r>
          </a:p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features · model · SHAP ·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A58A7-5CB3-4592-BBFF-688D7395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2350"/>
            <a:ext cx="16192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7C82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Model artifacts</a:t>
            </a:r>
          </a:p>
          <a:p xmlns:a="http://schemas.openxmlformats.org/drawingml/2006/main">
            <a:pPr algn="ctr">
              <a:defRPr sz="1200" b="1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C82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035EA-901C-4880-AA8E-56D8683D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76825"/>
            <a:ext cx="21907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PostgreSQL public</a:t>
            </a:r>
          </a:p>
          <a:p xmlns:a="http://schemas.openxmlformats.org/drawingml/2006/main">
            <a:pPr algn="ctr">
              <a:defRPr sz="1200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E99C4-DCF3-4F5C-BA32-704E67B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768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D4DB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1125" b="1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4DB7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cxnSp>
        <p:nvCxnSpPr>
          <p:cNvPr id="64" name=""/>
          <p:cNvCxnSpPr>
            <a:stCxn xmlns:a="http://schemas.openxmlformats.org/drawingml/2006/main" id="18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714625" y="2695575"/>
            <a:ext cx="25431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77B89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1" idx="4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524250" y="3752850"/>
            <a:ext cx="828675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A7C8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162675" y="3752850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A7C82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0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201025" y="416242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D4DB7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2" idx="4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96400" y="54197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D4DB7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453EB-2114-4DAC-8C0B-59A11320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879E5-3BDE-427B-88A5-7D9F2E5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38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44F0C-8645-4DE6-A009-0B6CE7C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24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514CC9-912F-438B-949A-8D88AA8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A92B8-5A70-4D6F-8539-57A4BE98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7C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7C8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C1B60B-FFA2-4C99-8B9B-9C15105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E227A-4829-4413-9E5A-72B3205E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11787-1D43-4533-AE73-8FC452B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D4DB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D4DB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3539CC-E2FC-414F-8F04-438CEB04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20687A-C130-46CF-B222-79F0FF23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A9B227-54A9-4B77-B33F-4123817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77B89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77B89"/>
                </a:solidFill>
                <a:latin typeface="Arial"/>
                <a:ea typeface="Arial"/>
                <a:cs typeface="Arial"/>
              </a:rPr>
              <a:t>NUS Intelligent Reasoning Systems  /  FleetCare 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F92ECE-9163-43F6-8DE2-DA769EEF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3A5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3A56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743223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2026-10-12T22:54:15.2860000Z</dcterms:created>
  <dcterms:modified xsi:type="dcterms:W3CDTF">2026-10-12T22:54:15.2860000Z</dcterms:modified>
</coreProperties>
</file>