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89cfc15ed04ba0" /><Relationship Type="http://schemas.openxmlformats.org/officeDocument/2006/relationships/extended-properties" Target="/docProps/app.xml" Id="Rc8da114cfc174c71" /><Relationship Type="http://schemas.openxmlformats.org/officeDocument/2006/relationships/officeDocument" Target="/ppt/presentation.xml" Id="R274f7860827e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ac809c8844449"/>
  </p:sldMasterIdLst>
  <p:notesMasterIdLst>
    <p:notesMasterId xmlns:r="http://schemas.openxmlformats.org/officeDocument/2006/relationships" r:id="R4cea51ee7fc34ef0"/>
  </p:notesMasterIdLst>
  <p:sldIdLst>
    <p:sldId xmlns:r="http://schemas.openxmlformats.org/officeDocument/2006/relationships" id="256" r:id="R461e3453b8ec486c"/>
    <p:sldId xmlns:r="http://schemas.openxmlformats.org/officeDocument/2006/relationships" id="257" r:id="R546adaf074794f4a"/>
    <p:sldId xmlns:r="http://schemas.openxmlformats.org/officeDocument/2006/relationships" id="258" r:id="Rc8036a1d91794cf2"/>
    <p:sldId xmlns:r="http://schemas.openxmlformats.org/officeDocument/2006/relationships" id="259" r:id="Rbe9a5e37b56b4a07"/>
    <p:sldId xmlns:r="http://schemas.openxmlformats.org/officeDocument/2006/relationships" id="260" r:id="R9c84ede7fc0b47c9"/>
    <p:sldId xmlns:r="http://schemas.openxmlformats.org/officeDocument/2006/relationships" id="261" r:id="Rfcc1d8a860f548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8ec2e4d7344594" /><Relationship Type="http://schemas.openxmlformats.org/officeDocument/2006/relationships/slideMaster" Target="/ppt/slideMasters/slideMaster1.xml" Id="Rddbac809c8844449" /><Relationship Type="http://schemas.openxmlformats.org/officeDocument/2006/relationships/notesMaster" Target="/ppt/notesMasters/notesMaster1.xml" Id="R4cea51ee7fc34ef0" /><Relationship Type="http://schemas.openxmlformats.org/officeDocument/2006/relationships/presProps" Target="/ppt/presProps.xml" Id="Rc3fea30b35a549f7" /><Relationship Type="http://schemas.openxmlformats.org/officeDocument/2006/relationships/tableStyles" Target="/ppt/tableStyles.xml" Id="R59d7a35620254587" /><Relationship Type="http://schemas.openxmlformats.org/officeDocument/2006/relationships/slide" Target="/ppt/slides/slide1.xml" Id="R461e3453b8ec486c" /><Relationship Type="http://schemas.openxmlformats.org/officeDocument/2006/relationships/slide" Target="/ppt/slides/slide2.xml" Id="R546adaf074794f4a" /><Relationship Type="http://schemas.openxmlformats.org/officeDocument/2006/relationships/slide" Target="/ppt/slides/slide3.xml" Id="Rc8036a1d91794cf2" /><Relationship Type="http://schemas.openxmlformats.org/officeDocument/2006/relationships/slide" Target="/ppt/slides/slide4.xml" Id="Rbe9a5e37b56b4a07" /><Relationship Type="http://schemas.openxmlformats.org/officeDocument/2006/relationships/slide" Target="/ppt/slides/slide5.xml" Id="R9c84ede7fc0b47c9" /><Relationship Type="http://schemas.openxmlformats.org/officeDocument/2006/relationships/slide" Target="/ppt/slides/slide6.xml" Id="Rfcc1d8a860f548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fdf93493a1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a2c78338b44d8b" /><Relationship Type="http://schemas.openxmlformats.org/officeDocument/2006/relationships/notesMaster" Target="/ppt/notesMasters/notesMaster1.xml" Id="R753c95a4ec3b49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aefe9f479457f" /><Relationship Type="http://schemas.openxmlformats.org/officeDocument/2006/relationships/notesMaster" Target="/ppt/notesMasters/notesMaster1.xml" Id="R92d577fef70b41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9f6cdc2264f21" /><Relationship Type="http://schemas.openxmlformats.org/officeDocument/2006/relationships/notesMaster" Target="/ppt/notesMasters/notesMaster1.xml" Id="Rde59e13d6e35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a9b4ec6f7d4304" /><Relationship Type="http://schemas.openxmlformats.org/officeDocument/2006/relationships/notesMaster" Target="/ppt/notesMasters/notesMaster1.xml" Id="R44e4825aacaa4b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43923faf764fd4" /><Relationship Type="http://schemas.openxmlformats.org/officeDocument/2006/relationships/notesMaster" Target="/ppt/notesMasters/notesMaster1.xml" Id="R1a3876babf4b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2192cce4aa40e2" /><Relationship Type="http://schemas.openxmlformats.org/officeDocument/2006/relationships/notesMaster" Target="/ppt/notesMasters/notesMaster1.xml" Id="R06575dd94599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code. Cover artwork generated for this presentation as a technical illustration, not a photograph of a real vehicle.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experiment sequence test_00 through test_12c. Cost experiments were reviewed but excluded from final no-cost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risk-ranking mean AP 0.192175 ± 0.014271; five-class Macro F1 0.201593 ± 0.003539.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The dry run produced one latest prediction for 5,037 vehicles and seven COLLECT_MORE_DATA decisions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2484414c242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c82814b694239" /><Relationship Type="http://schemas.openxmlformats.org/officeDocument/2006/relationships/slideLayout" Target="/ppt/slideLayouts/slideLayout1.xml" Id="R68e9e4ae38b243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9e4ae38b243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83606057f4477" /><Relationship Type="http://schemas.openxmlformats.org/officeDocument/2006/relationships/image" Target="/ppt/media/image.png" Id="R5c8d5a3d22394eab" /><Relationship Type="http://schemas.openxmlformats.org/officeDocument/2006/relationships/notesSlide" Target="/ppt/notesSlides/notesSlide1.xml" Id="R8fd510ca048849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1e1108b2476a" /><Relationship Type="http://schemas.openxmlformats.org/officeDocument/2006/relationships/notesSlide" Target="/ppt/notesSlides/notesSlide2.xml" Id="R50bca18a43be47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6f141d2684c3c" /><Relationship Type="http://schemas.openxmlformats.org/officeDocument/2006/relationships/notesSlide" Target="/ppt/notesSlides/notesSlide3.xml" Id="Rce26f5e2c4624f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45607b05b455e" /><Relationship Type="http://schemas.openxmlformats.org/officeDocument/2006/relationships/chart" Target="/ppt/slides/charts/chart1.xml" Id="Rba1a5f027cdc497d" /><Relationship Type="http://schemas.openxmlformats.org/officeDocument/2006/relationships/notesSlide" Target="/ppt/notesSlides/notesSlide4.xml" Id="R5e45ac9721e549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5e45ea3dd4f0a" /><Relationship Type="http://schemas.openxmlformats.org/officeDocument/2006/relationships/notesSlide" Target="/ppt/notesSlides/notesSlide5.xml" Id="Reed6e9210a9b4e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62a38e77e44ea" /><Relationship Type="http://schemas.openxmlformats.org/officeDocument/2006/relationships/notesSlide" Target="/ppt/notesSlides/notesSlide6.xml" Id="R97a9cf7407e3444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58727E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F0A332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02B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5E4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7F6F2"/>
        </a:solidFill>
        <a:ln xmlns:a="http://schemas.openxmlformats.org/drawingml/2006/main" w="0">
          <a:solidFill>
            <a:srgbClr val="F7F6F2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  <a:ln xmlns:a="http://schemas.openxmlformats.org/drawingml/2006/main" w="0">
      <a:solidFill>
        <a:srgbClr val="F7F6F2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d5a3d22394e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59B2B-6A8A-481C-81C7-8E0B90AF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56EB-9FF0-42F3-B9E6-1D9E963D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0A33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BBEF8-A487-40AC-81F1-37E15D4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Iteration,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Evaluation and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Decision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2E55F-9462-4EE4-9985-AC6956D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SCANIA Component X predictive maintenance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D35CE-4610-4676-834E-83F35036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Final model, temporal rules and production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DB3C6-079C-4343-BF13-F49329A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F9067-D3D2-4AB1-888D-4608C084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</p:spTree>
    <p:extLst>
      <p:ext uri="{BB962C8B-B14F-4D97-AF65-F5344CB8AC3E}">
        <p14:creationId xmlns:p14="http://schemas.microsoft.com/office/powerpoint/2010/main" val="1779572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E1E9F-0387-449B-BD8F-5BE558E7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0A9CD-C309-469B-A44A-243F1966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B05AE-EF47-4652-8882-3033AC2E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Six experiment stages led to the final no-cost XGBoost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C3E9D-160A-4120-AD5B-625751CE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DCE3B-23A5-42DA-8D97-18547331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BC8B2-487B-4014-B4C8-81B36503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BA304-E0EA-4695-8C61-4A66CC87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4889D-7C72-484D-A439-1143D5C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CBFA8-9DB0-4A6C-9CE7-213D95A9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Latest-state baseline exposed severe 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7C6A3-2C6D-4693-B442-32A6DDB5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DD140-0529-4E32-9A6E-47EBB257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BE4D5-7864-49E6-BB60-E6C5005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F91D5-1CE2-42E6-B70D-24624783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Nonlinear five-class probabilities improved flexibility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48208-0654-434C-915E-BFAB22C7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78474-F71C-4658-A222-0666A6C1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BCBB8-6CC8-4D0A-A371-D08BBBDB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Vehicle-aware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BB8A4-D856-4022-94E7-C80CF8BC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Vehicle separation prevented leakage across observations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F9C51-609D-4211-A1FA-24F0B7C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3BD7E-860B-4A32-8835-D0EA163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26CEB-D7DD-41E8-A051-83A38A9E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CAD23-A7D4-483B-8E2F-C824AE2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Rates, changes and past-only history used repeated readouts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4E4BB-21A9-418B-B1B5-3383B23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E9CEC-E6A2-466D-B90C-8DBDC15F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2C9F0-C6A1-4280-81B7-53F2FF3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Policy experiments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6FDE9-840D-4F98-B8F9-70485AA8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Calibration, cost and capacity rules were tested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752B1-BFB9-49B0-98D2-5588419A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C4AE4-C325-4D00-AB33-871C59B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A33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15EE7-14D7-413B-91BF-29A5D8A1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001B1-FCD3-4336-B0ED-19AE207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and parameter selection used no operational cost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4D3DA-8BF7-44D1-A820-7B4735D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30C305-2635-486C-BDF9-74990D3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FBEB6-1655-4B0D-90C9-FF44249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864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9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 with vehicle-aware history; cost-based selection removed because the public dataset has no operational cost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ADE4C-ACC2-4845-B150-608E3663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921022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1BA41-8CE8-49B7-A0DC-3F90B604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03F9A-4F27-439F-9738-E61566F5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078BC-9AF1-43A2-AC2D-6E7EDDF5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DE364-E84D-4B21-9547-6D73E9F4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804B5-6E0F-4344-AF15-80E94E3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81050" y="1676400"/>
          <a:ext xmlns:a="http://schemas.openxmlformats.org/drawingml/2006/main" cx="7334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2571750"/>
                <a:gridCol w="3981450"/>
              </a:tblGrid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All rates plus 6 and 12-unit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2D364-D868-49E5-A2FD-CFF4FBE1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E326D-39B6-427D-9A5C-0E49F503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8597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19087-E49A-4EB6-B7E1-8D761F8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/ parameter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F3A1A-7ABB-4D4B-96EE-C16719F3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49458-032F-4E20-AB29-7FB933B0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random seeds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8E8F2-E562-4FF3-A146-4F1CCD3B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80F65-05AE-4B75-87D2-14C8EE29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9832B-050D-414C-A702-10DC73F2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984DE-A336-4ED1-942A-03F56B66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FIVE-CLASS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1FA10-C351-45B9-B28B-DD47717F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62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43E68-813E-40D6-9ED9-A11B68DE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486554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CF1D5-7093-4E05-99CB-368AF0FB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2ADB0-D65E-4F51-B691-3D3F111C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9256A-6FEA-4822-80D5-6B7519D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PolicyDev selected the configurations; Official Validation stayed outside model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89C33-4654-418E-94CE-185D586A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D06F3-2682-4D07-B5B1-68590504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1a5f027cdc497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91DD3-AC4A-4D08-9774-C0DF1C8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89D60-2E0D-4CD6-811E-C6730BC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A3318-7EAD-42E1-BB6A-60944BD0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FDC21-2FC3-43ED-83C3-CD91604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7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8A04A-E002-42A8-BC51-F9EA936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3324C-E0D3-468C-A8A2-C410346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84525-BEC7-4066-86C8-8B91933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2E7E5-401E-4D5C-A468-D56CBF7A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68ADD-72FE-4989-8817-1FACF541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0.970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43C4C-FD6C-4484-9C1A-9EB2044E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EAD96-3489-482E-82C6-2DDAEF99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59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is dominated by C0. Macro F1 and horizon AP better reflect minority-risk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8DB46-3F16-4BA3-8B95-4EBE8CD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987625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5B1FE-1D93-4D34-8B86-0B2BED1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702E9-CAC8-41B8-9704-A5074D03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4FB11-80D4-4F63-8C9A-4AB81E7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Probabilities and recent history produce a stable maintenance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CAF95-E2AA-4E51-8B0D-C868A08F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46E52-34B0-4419-914A-A482847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F9E0A-DD73-4397-9FC5-928D9885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81050" y="1914525"/>
          <a:ext xmlns:a="http://schemas.openxmlformats.org/drawingml/2006/main" cx="106299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Only one readout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COLLECT_MORE_DATA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with fewer than three historical readouts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MANUAL_REVIEW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TRV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Low confidence and repeated large class jumps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UNSTABLE / MANUAL_REVIEW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CD552-F988-4AB4-BE60-CCF4D9B4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81050" y="4105275"/>
          <a:ext xmlns:a="http://schemas.openxmlformats.org/drawingml/2006/main" cx="10629900" cy="192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Core 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C4 + extreme Risk6 +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PRIORITY_INSPECT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TR2 / TR3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+ extreme Risk12, or extreme persistent Risk6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INSPECT</a:t>
                      </a:r>
                    </a:p>
                  </a:txBody>
                  <a:tcPr marL="91440" marR="91440" marT="45720" marB="45720">
                    <a:solidFill>
                      <a:srgbClr val="FBEDE1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C2, or high Risk24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ENHANCED_MONITOR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C1, or high Risk48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MONITOR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No combined evidence for escalation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CONTINUE</a:t>
                      </a:r>
                    </a:p>
                  </a:txBody>
                  <a:tcPr marL="91440" marR="91440" marT="45720" marB="45720">
                    <a:solidFill>
                      <a:srgbClr val="EBF0E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19C6E-2FAF-4283-820E-8C635C63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140845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A94275-A5BB-45ED-9E4A-E4B0F05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79146-E186-4370-86CA-9020731A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48AF2-FBD6-405C-A712-592C7E86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The model creates one latest decision per vehicle and stores it for the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DD106-E40B-480D-8396-F1D26FE8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AC83D-17E0-40E2-BD62-A217A42E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0C236-0353-460F-B818-A46FD73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2EF3F-1790-488C-BF8F-48EC7FD6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A5356-801E-4208-AE39-0047B79E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72715-00EA-452E-9619-BFFB83BF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truck_readout + truck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0DF90-B87E-4F85-82EB-FC073ACE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811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15EC7-B7B6-4F4B-B444-22D57E1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145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87EA4-30EA-4294-B4F9-6194C89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07FA6-8A98-4451-A381-BD8D9EF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current, rate, change,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F5EF4-D9B5-427F-A81B-2BBF112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81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A1A35-69B2-4407-A14C-0F2359D7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C261C-7D57-43E4-A99D-A1BCB6F8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764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XGBoost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486C4-ADB7-4BBD-A391-BA2D895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P(C0...C4) and four horizons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0707E-10FD-4F71-A2C5-0348405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0D706-EFAA-4455-BDD6-2DF946D9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A3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909D6-10BA-4C46-8639-8EE299B8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83221-7BDA-49AC-BEF6-A1360BFF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TR0-TR6, TRV and TRD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551A0-F828-4AFD-8CE3-265C130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811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750A0-50CD-46A2-BB19-E5BC45F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42D6E-8594-4569-98AC-34E0D513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7647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Stored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CC0D4-176D-4C1B-8AD4-6279879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195B57-33AC-4529-94F3-E5D96913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33EB8-91A9-45A2-96B7-ED51A31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59AB4-2F6A-41D5-8FC5-E4661019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5F81E-B10F-4412-BB80-3F742F7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 row per active vehicle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316C1D-7653-4F33-9D1D-FD9389F7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AA7BCE-F7D0-4CA4-84B3-BF839BD7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7A944-2650-4D95-B9F0-7865333A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27E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B31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14E28-CFD1-4139-A3E7-81F4D81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One readout bypasses the model and receives COLLECT_MORE_DATA.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BCCA94-FF65-454C-8543-16C38A5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D436BD-4F1B-4AE2-A46B-0273B253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5136A0-0393-4F3C-AA72-95308598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95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16BEA8-8E44-4977-8FE9-D6AD0A20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83B40-03DA-403C-AB47-38608C2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86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model predictions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1C5944-CB85-47D6-BE4D-2A0EE7FB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006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594571-D7C5-47E0-AA9A-38A1C96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76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collect-more-data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0708DD-8E56-4564-AB12-F8E40255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Dashboard query: latest analysis row per vehicle; isactive = 1; in_maintenance IS NULL.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C44755-9BA1-4731-B3D8-7BA9A2E0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020459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2026-10-12T22:41:36.3120000Z</dcterms:created>
  <dcterms:modified xsi:type="dcterms:W3CDTF">2026-10-12T22:41:36.3120000Z</dcterms:modified>
</coreProperties>
</file>