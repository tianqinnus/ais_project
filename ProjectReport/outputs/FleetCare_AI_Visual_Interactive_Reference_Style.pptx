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fefb03e15a457d" /><Relationship Type="http://schemas.openxmlformats.org/officeDocument/2006/relationships/extended-properties" Target="/docProps/app.xml" Id="R034bce1d34724b06" /><Relationship Type="http://schemas.openxmlformats.org/officeDocument/2006/relationships/officeDocument" Target="/ppt/presentation.xml" Id="Rc796bb9a0da149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fceff168524732"/>
  </p:sldMasterIdLst>
  <p:notesMasterIdLst>
    <p:notesMasterId xmlns:r="http://schemas.openxmlformats.org/officeDocument/2006/relationships" r:id="R01137d6c1f91440b"/>
  </p:notesMasterIdLst>
  <p:sldIdLst>
    <p:sldId xmlns:r="http://schemas.openxmlformats.org/officeDocument/2006/relationships" id="256" r:id="Rac4fecd8c2b74a16"/>
    <p:sldId xmlns:r="http://schemas.openxmlformats.org/officeDocument/2006/relationships" id="257" r:id="R9ffdc841d6fb43db"/>
    <p:sldId xmlns:r="http://schemas.openxmlformats.org/officeDocument/2006/relationships" id="258" r:id="Ra853846aa4124966"/>
    <p:sldId xmlns:r="http://schemas.openxmlformats.org/officeDocument/2006/relationships" id="259" r:id="R88af7285ad444399"/>
    <p:sldId xmlns:r="http://schemas.openxmlformats.org/officeDocument/2006/relationships" id="260" r:id="Rd4b232ca9b5b48a3"/>
    <p:sldId xmlns:r="http://schemas.openxmlformats.org/officeDocument/2006/relationships" id="261" r:id="Rbd32f6fab4c340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8268931632496e" /><Relationship Type="http://schemas.openxmlformats.org/officeDocument/2006/relationships/slideMaster" Target="/ppt/slideMasters/slideMaster1.xml" Id="R0efceff168524732" /><Relationship Type="http://schemas.openxmlformats.org/officeDocument/2006/relationships/notesMaster" Target="/ppt/notesMasters/notesMaster1.xml" Id="R01137d6c1f91440b" /><Relationship Type="http://schemas.openxmlformats.org/officeDocument/2006/relationships/presProps" Target="/ppt/presProps.xml" Id="R7426197005a84e57" /><Relationship Type="http://schemas.openxmlformats.org/officeDocument/2006/relationships/tableStyles" Target="/ppt/tableStyles.xml" Id="R8b9f134733a94f74" /><Relationship Type="http://schemas.openxmlformats.org/officeDocument/2006/relationships/slide" Target="/ppt/slides/slide1.xml" Id="Rac4fecd8c2b74a16" /><Relationship Type="http://schemas.openxmlformats.org/officeDocument/2006/relationships/slide" Target="/ppt/slides/slide2.xml" Id="R9ffdc841d6fb43db" /><Relationship Type="http://schemas.openxmlformats.org/officeDocument/2006/relationships/slide" Target="/ppt/slides/slide3.xml" Id="Ra853846aa4124966" /><Relationship Type="http://schemas.openxmlformats.org/officeDocument/2006/relationships/slide" Target="/ppt/slides/slide4.xml" Id="R88af7285ad444399" /><Relationship Type="http://schemas.openxmlformats.org/officeDocument/2006/relationships/slide" Target="/ppt/slides/slide5.xml" Id="Rd4b232ca9b5b48a3" /><Relationship Type="http://schemas.openxmlformats.org/officeDocument/2006/relationships/slide" Target="/ppt/slides/slide6.xml" Id="Rbd32f6fab4c340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eb442c973a46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8b351a547c4594" /><Relationship Type="http://schemas.openxmlformats.org/officeDocument/2006/relationships/notesMaster" Target="/ppt/notesMasters/notesMaster1.xml" Id="Rc28669cc4d6c41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013a73fb3f42f4" /><Relationship Type="http://schemas.openxmlformats.org/officeDocument/2006/relationships/notesMaster" Target="/ppt/notesMasters/notesMaster1.xml" Id="R60f628261c9149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287a82263f40fb" /><Relationship Type="http://schemas.openxmlformats.org/officeDocument/2006/relationships/notesMaster" Target="/ppt/notesMasters/notesMaster1.xml" Id="Re6c76070394547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ff11e7bbfd47e9" /><Relationship Type="http://schemas.openxmlformats.org/officeDocument/2006/relationships/notesMaster" Target="/ppt/notesMasters/notesMaster1.xml" Id="R77346d0cf3984e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3eb025518a4ef0" /><Relationship Type="http://schemas.openxmlformats.org/officeDocument/2006/relationships/notesMaster" Target="/ppt/notesMasters/notesMaster1.xml" Id="Re911f261076d4f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cf7c313f334645" /><Relationship Type="http://schemas.openxmlformats.org/officeDocument/2006/relationships/notesMaster" Target="/ppt/notesMasters/notesMaster1.xml" Id="R5f3538f4a50940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 and SystemCode/data/fleetcare_inference.py. This slide summarises the current offline scoring and stored-result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experiment sequence test_00 through test_12c. Cost experiments were reviewed but removed from final no-cost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test_12c_feature_parameter_search.py. P3 uses 250 estimators, learning rate 0.05 and depth 5. P5 uses 250 estimators, learning rate 0.05 and depth 4 with lower regularisation.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results. Official Validation: F5/P3 Macro F1 0.201098, mean horizon AP 0.040280; F5/P5 Macro F1 0.203502, mean horizon AP 0.043174. PolicyDev winners: 0.192175 ± 0.014271 for risk ranking and 0.201593 ± 0.003539 for five-class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High-risk evidence uses Risk48 P80, Risk24 P85, Risk12 P90 and Risk6 P95; TR1 and TR2 use P99.5 escalation evidence. TR0 precedes TRV.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output. Dashboard query filters to the latest analysis row per vehicle, isactive = 1 and in_maintenance IS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b45e521c249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d55bd2d66d47bf" /><Relationship Type="http://schemas.openxmlformats.org/officeDocument/2006/relationships/slideLayout" Target="/ppt/slideLayouts/slideLayout1.xml" Id="Rc12a2a28d79a4d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2a2a28d79a4d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16ecc097d4e16" /><Relationship Type="http://schemas.openxmlformats.org/officeDocument/2006/relationships/notesSlide" Target="/ppt/notesSlides/notesSlide1.xml" Id="R2f5855084f7f40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0dc506c074b26" /><Relationship Type="http://schemas.openxmlformats.org/officeDocument/2006/relationships/notesSlide" Target="/ppt/notesSlides/notesSlide2.xml" Id="R83a05792649947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1c11fe7ae4450" /><Relationship Type="http://schemas.openxmlformats.org/officeDocument/2006/relationships/notesSlide" Target="/ppt/notesSlides/notesSlide3.xml" Id="Rde00e95f340a45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a8478ff63494d" /><Relationship Type="http://schemas.openxmlformats.org/officeDocument/2006/relationships/chart" Target="/ppt/slides/charts/chart1.xml" Id="R96cc89695cd24eb8" /><Relationship Type="http://schemas.openxmlformats.org/officeDocument/2006/relationships/notesSlide" Target="/ppt/notesSlides/notesSlide4.xml" Id="Rb3f6aca087cb4e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e6cd99ca34695" /><Relationship Type="http://schemas.openxmlformats.org/officeDocument/2006/relationships/notesSlide" Target="/ppt/notesSlides/notesSlide5.xml" Id="R712c3a5c962c4f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ba8e645cd4078" /><Relationship Type="http://schemas.openxmlformats.org/officeDocument/2006/relationships/notesSlide" Target="/ppt/notesSlides/notesSlide6.xml" Id="R35e086c0b5c8464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2314D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00868A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31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05A91A-564E-4D82-A933-78192C24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01 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34A98-A1EF-4AF4-B5D5-DAFABA15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FleetCare AI decision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319AF-E7EB-4076-8B35-6A27B06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Goal: convert irregular vehicle readouts into traceable maintenance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D43F9-B69C-4ABB-A733-5E1BFB6A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64E77-DDCF-4A77-85B8-85797CFB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Operational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2EB62-E8D1-4BE7-8ACB-BD5480D8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truck_readout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 specifications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latest vehicle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2DC53-7D44-44A0-971E-58FD4B7D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9EDD3-3579-4B13-8068-AF81A9F5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Feature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C8F19-4DEA-4A02-B1D9-235A0EDE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Current values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 and changes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Past-only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5D1A2-5DFA-44CD-A9C6-9D6078B1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B5299-07DE-44D1-A200-696410C6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XGBoost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0DD45-97B7-4537-B4DF-B13A1536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P(C0...C4)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Risk6 / 12 / 24 / 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2B74F-BE9D-46EC-888A-D7EC1429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BC2C3-5C04-4CBD-88BA-FEB838D8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Temporal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B68F5-5121-4072-A56F-E6186C38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Persistence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Deterioration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History quality</a:t>
            </a:r>
          </a:p>
        </p:txBody>
      </p:sp>
      <p:cxnSp>
        <p:nvCxnSpPr>
          <p:cNvPr id="57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81300" y="2619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81650" y="2619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382000" y="2619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C5497-FD5A-48C6-A437-427C3A2D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47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89427-9DC1-45F9-AD6B-932BEA6E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47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B226F-92B7-4228-8251-7FFFEA48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47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C6704-19AE-4256-83FC-B6D97541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508B3-859F-4A14-B33F-37FA9CCF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SHAP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B6FD50-8BDA-464E-89D7-D7D5684C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62475"/>
            <a:ext cx="1943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Top feature contributions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per vehicle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B1FC29-A8C2-422E-BC7B-D879411E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65E055-871C-4BCA-860A-15E35796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Stored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85E557-4190-4A30-9F49-DFF04241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62475"/>
            <a:ext cx="1943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prediction_shap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51B147-C1D0-4FF1-BA29-F316E167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615B0-C0D6-4F91-A487-91A4B80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Web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B02026-7AF7-4FAA-B949-3D2B700D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62475"/>
            <a:ext cx="1943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Fleet priorities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Vehicle evidence</a:t>
            </a:r>
          </a:p>
        </p:txBody>
      </p:sp>
      <p:cxnSp>
        <p:nvCxnSpPr>
          <p:cNvPr id="72" name=""/>
          <p:cNvCxnSpPr>
            <a:stCxn xmlns:a="http://schemas.openxmlformats.org/drawingml/2006/main" id="1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4457700" y="3295650"/>
            <a:ext cx="28003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7258050" y="3295650"/>
            <a:ext cx="28003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581650" y="46291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382000" y="46291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D05446-3A5E-4A49-B9B1-570A0B54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95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B7F1C5-8FF5-4DD1-874D-B32D4B71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D47011-ED03-4F84-8E06-784D200D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48325"/>
            <a:ext cx="1064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One offline scoring path. One latest action per active vehicle. The dashboard reads stored evidence rather than rerunning the model.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B61807-F3F6-4C5C-9BE5-9EC1E64F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5031A4-3192-4D53-95A9-D6D60A0B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159CA3-6656-48FC-8754-41DA5E21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0:00–0:30  ·  30 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B63487-4BBD-41AC-AA0D-89D02961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7586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AE1E43-731C-4BEC-A457-14A1D55F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02  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7FF4F-4D67-467C-9870-2440F66D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Six iterations shaped the final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692C2-EAC9-4AF9-B975-F6B6D175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Each stage addressed a limitation found in the previous experiment.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1D29D-1932-47C9-A9D0-A0A4FC9B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61D94-7793-4EEB-816D-433B89C3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01  Random Forest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511BF-A212-4F27-B86D-2EEAABFF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Latest-state baseline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Class imbalance became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57CC8-0DD8-4D71-A957-2FEF9CBA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431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5530D-EF9B-402A-A680-A9352309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57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02  XGBoost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9F413-14BC-45F4-920E-1B2EA34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09825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Nonlinear five-class probabilities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Better fit for complex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795B0-A0D0-4AF3-8BB5-2FF57383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431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2774C-1EAE-41B2-98EA-72BC4297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03  Vehicle-aware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72F54-C203-4374-AF0E-9FCE08D7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9825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Separate vehicles across splits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Reduced leakage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AADB5-3BDA-47FC-B744-FB5DAF32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05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96099-053A-4B85-8605-E2BAF7D9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06  Final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26B63-6D51-4470-8966-D52BE14E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No-cost objective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Two selected configurations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887A5-52C7-441D-A7F7-64F3914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005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11430">
            <a:solidFill>
              <a:srgbClr val="E28C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EF569-6658-433E-BD51-2F10C602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148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05  Policy experiments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14FB9-874F-4EFA-BA6F-57C0B4DE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667250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Calibration and capacity tested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Cost objective later removed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3F541-941E-4DA6-9865-6CD297B4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14A26-E4DF-4871-A651-A0DF7D4C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148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04  Temporal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5DA47-BCDE-4E88-8996-AA004CC5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Rates, changes and history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Past-only construction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76650" y="246697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67625" y="246697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head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086975" y="299085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9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667625" y="4724400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6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676650" y="4724400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E0C6C6-748B-4682-8FD1-A65BA73A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253365-7828-4039-B6CE-4C7C1EFD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81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control leakage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E53F5-D861-40ED-BCD4-2F30709B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00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add 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F5AF26-78B3-4961-900F-AF19BD8A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00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test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84FF6-76D9-4B0F-93F2-28F078FE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FEB3DA-92F9-41D1-B234-563189B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72125"/>
            <a:ext cx="947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6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XGBoost with vehicle-aware history. Cost-based selection was excluded because the public dataset has no operational cost model.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219597-04A9-48B0-A03F-5AE8F2AF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C426DF-86C9-42C0-8E99-6837CAAA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2F0973-4C6E-46EB-9ADA-35386EC0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0:30–1:15  ·  45 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86407-52D0-4AAF-84C8-F0C746E6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5822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92984B-E866-4961-9E15-DE98BD8F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03  FEATURE AND PARAMETER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4E810-F200-460E-833D-E46EDEBA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84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Feature design moved from broad rates to focused short-term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90628-F500-49E7-ABA1-1C49E5F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Twenty-five combinations were screened, then finalists were checked across five random seeds.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E4BFB-B463-40BC-9DC7-B55DAE5B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5E002-E761-44B7-B899-A410E5FA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74940-AAB2-46BC-BA1A-19731E28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horizons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1CEFE-FC67-4493-84B4-35BEFFBE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B8B59-DCAF-4047-967E-1614B3DC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47BEA-2B49-44CC-B6D3-5649C0D1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 + changes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horizons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EE0EB-309F-48F9-95B3-7223ECFE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CD5EB-C9E9-4971-AA60-16CD364D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69666-FF3F-4CF4-9F0C-B4E8C339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Short 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6 and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5A456-292F-43CD-A10F-37B8ADDA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EB179-804E-4337-8F2B-1D6A4A17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6BBD5-8CBA-4B22-9A87-FC8CA0DF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Long 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24 and 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1916F-39CC-420A-AE5D-E41806C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225C0-1967-45AE-8802-E100E4E4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F5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F43EE-241B-4DF5-BA5F-2C600ED3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+ short changes</a:t>
            </a:r>
          </a:p>
        </p:txBody>
      </p: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81250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head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62475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head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43700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924925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F993B-2CA4-46B8-81AF-3511AE1D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35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add movement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3D9499-3E0C-4E53-8047-326EF1D0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short focus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6733B-A18E-4A4A-BEE9-205D5CB1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long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6379F-4912-419C-95E5-0F6A210C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681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combine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4CEC4-7187-4882-A29C-20A0610D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957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439308-AB66-404B-A4E1-6430E175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100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25 combinations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562EC-FFFD-45C0-8E76-ECDF239D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62425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5 feature sets × 5 parameter sets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Initial screening on PolicyDev</a:t>
            </a:r>
          </a:p>
        </p:txBody>
      </p:sp>
      <p:cxnSp>
        <p:nvCxnSpPr>
          <p:cNvPr id="74" name=""/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5362575" y="2981325"/>
            <a:ext cx="48196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09AA25-4E14-4B11-A560-F9E27943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FC19F4-1013-4C22-BCCF-55F4FBBD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Risk ranking winner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4768BB-C8EF-444B-88C1-AA3A51C5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F5 + P3 medium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Mean horizon AP = 0.192 ± 0.014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C5A836-4FAB-4303-B00A-2E58E4EB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911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E05EBE-CC9F-41B0-9B4C-90A2C405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054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Five-class winner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7216BF-D563-49F8-A532-356FA307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5782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F5 + P5 less regularized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Macro F1 = 0.202 ± 0.004</a:t>
            </a:r>
          </a:p>
        </p:txBody>
      </p:sp>
      <p:cxnSp>
        <p:nvCxnSpPr>
          <p:cNvPr id="81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2533650" y="4819650"/>
            <a:ext cx="282892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5362575" y="4819650"/>
            <a:ext cx="376237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952B5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966EAE-C07E-4574-A0C8-625F0469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rank risk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28AF3C-3974-4BB3-808A-D405A2F8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367D27-8D5A-427A-8FFB-FEB7FD74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001AD0-D945-431C-AF02-4DA4A0F6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1BD0E4-BA7D-4172-A431-093CE4BB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1:15–2:00  ·  45 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BAD664-6831-4266-B232-E76BB77B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2573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774AD-DA80-4447-9393-0C455D49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04 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1BA39-EAF0-4AC4-A802-2295036C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Two metrics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21796-5716-42B0-A6DE-8EA28C6F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Macro F1 evaluates five-class balance; horizon AP evaluates risk ranking under class imbalance.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95300" y="2143125"/>
          <a:ext xmlns:a="http://schemas.openxmlformats.org/drawingml/2006/main" cx="6381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cc89695cd24eb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9D871-8106-4310-BBA0-D54D0B1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7D370-1C38-4B30-83BE-914BFB3C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1866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9F70A-91C6-49A9-89AD-081B8FA4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E5CA1-E380-4DA9-B99B-770BFA16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66975"/>
            <a:ext cx="1562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PolicyDev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0.192 ± 0.014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Selected: F5 + P3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A3814-7CE9-4EF4-9A6E-893D3012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866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A0416-A775-4BBA-B8DB-B2034A9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Five-class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0AC4E-E348-4520-9DC1-507D7411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66975"/>
            <a:ext cx="1562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PolicyDev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0.202 ± 0.004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Selected: F5 + P5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5F66E-1F78-486F-92AD-A6BD96E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3962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11430">
            <a:solidFill>
              <a:srgbClr val="E28C2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99D96-6A33-4973-83D4-F4CFC459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Why accuracy misleads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E565E-D499-4FDF-8321-BAD878E0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62475"/>
            <a:ext cx="36576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69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Accuracy = 0.970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Macro F1 = 0.203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C0 dominates the label distribution.</a:t>
            </a:r>
          </a:p>
        </p:txBody>
      </p: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362950" y="3752850"/>
            <a:ext cx="1047750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9410700" y="3752850"/>
            <a:ext cx="1047750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952B5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3B781-6660-4C38-B0AD-9FA3C0D2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Official Validation remained diagnostic and did not influence model selection.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21030-DC57-4C17-886C-158848D3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0B185-1718-4127-8FC4-57C843D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73D36-8E43-4AD1-8CFC-90F6A4DE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2:00–2:50  ·  50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B4E29-8827-463F-8502-A2384357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4309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24CEF3-79EB-4727-941E-1CC74FB4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05  TEMPORAL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3526F-50CD-48A0-9971-98F7DC70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82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The rule path checks data quality before maintenance severity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27900-CA31-4373-8406-850ADD4D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Recent history stabilises actions when class probabilities are close or predictions jump.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9283B-4B77-43EE-81F2-DDE25A97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1090A-D733-460A-8F53-FF29ACAF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Latest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A450D-E5BA-4E80-8541-D8B9B036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Class + Risk6 / 12 / 24 / 48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Recent five predictions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C2F99-77A6-4308-BD67-6ADEA1C9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EF0A3-58FC-4E64-A787-1607D862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History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3081D-0CDC-4C84-8FB7-2AE61648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Only one readout?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C3/C4 with &lt;3 history?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FE7BE-E16F-4220-87BC-928284F1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7DC77-BF4E-4C24-9CA8-8C7FA514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Stability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7501E-1488-4A75-996B-98A6EB94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Confidence &lt; 0.35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Margin &lt; 0.03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Repeated large jumps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6622E-262F-4085-A189-BCEBED1A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11430">
            <a:solidFill>
              <a:srgbClr val="E28C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0B5CB-5843-4571-A92B-16F425CE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Risk ladder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FF36B-9302-4AC2-A4F2-3A4D4D89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Evaluate the strongest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combined evidence</a:t>
            </a:r>
          </a:p>
        </p:txBody>
      </p:sp>
      <p:cxnSp>
        <p:nvCxnSpPr>
          <p:cNvPr id="6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57500" y="26384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95950" y="26384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head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34400" y="26384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E28C2F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80D06-339F-4EF3-993A-5FD3F685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119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enough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4658E-08C7-4CDF-A59C-13DFFDD7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F4650-299D-4CFB-9F39-86E583E8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C2FC1-8B82-45E4-841B-BF4017DA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TRD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085D30-81F6-4411-AF0B-13320999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COLLECT_MORE_DATA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78DAE8-0EB7-47FF-A6C2-2E2B4C6E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15C4E-A31F-4C72-875E-3C7D547E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TR0 / TRV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CEDCD-7D39-42FB-BB73-BABC88D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9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MANUAL_REVIEW</a:t>
            </a:r>
          </a:p>
        </p:txBody>
      </p:sp>
      <p:cxnSp>
        <p:nvCxnSpPr>
          <p:cNvPr id="77" name=""/>
          <p:cNvCxnSpPr>
            <a:stCxn xmlns:a="http://schemas.openxmlformats.org/drawingml/2006/main" id="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533900" y="32385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0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372350" y="32385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71C07-A238-4C6C-B20B-7341654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051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insufficient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239F3-E534-4589-AD24-7B2A8188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051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unstable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823577-FD5D-405C-9DC1-F6DC7EE1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723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A"/>
          </a:solidFill>
          <a:ln xmlns:a="http://schemas.openxmlformats.org/drawingml/2006/main" w="9525">
            <a:solidFill>
              <a:srgbClr val="C7584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14D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700222-A948-4A8F-996B-7D4AE4DA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38550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C4 + extreme Risk6 + persistence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C3010D-6F7C-4725-8667-94466CC2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719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C7584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75847"/>
                </a:solidFill>
                <a:latin typeface="Arial"/>
                <a:ea typeface="Arial"/>
                <a:cs typeface="Arial"/>
              </a:rPr>
              <a:t>PRIORITY_INSPECT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8EFD11-304F-44F6-9A23-D8B24B06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05275"/>
            <a:ext cx="723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9525">
            <a:solidFill>
              <a:srgbClr val="E28C2F"/>
            </a:solidFill>
          </a:ln>
        </p:spPr>
        <p:txBody>
          <a:bodyPr xmlns:a="http://schemas.openxmlformats.org/drawingml/2006/main" anchor="ctr">
            <a:normAutofit fontScale="9455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14D"/>
                </a:solidFill>
                <a:latin typeface="Arial"/>
                <a:ea typeface="Arial"/>
                <a:cs typeface="Arial"/>
              </a:rPr>
              <a:t>TR2 / TR3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D821ED-EBCC-4D86-86C2-EFB2DF23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05275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C3/C4 + Risk12, or persistent Risk6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724D38-9DCB-49FD-87FC-972AA031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38650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383C07-486D-42C3-9B53-B0E4793A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0"/>
            <a:ext cx="723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B7791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14D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3ACA1B-0F7B-4774-B0E3-3DC88566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C2 or high Risk24 + trend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ACDA10-3020-43C5-BE2E-375232EB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0537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7791F"/>
                </a:solidFill>
                <a:latin typeface="Arial"/>
                <a:ea typeface="Arial"/>
                <a:cs typeface="Arial"/>
              </a:rPr>
              <a:t>ENHANCED_MONITOR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53E26A-57DE-44BA-A405-FF7D52CF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38725"/>
            <a:ext cx="723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2E5D7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14D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AE9572-285B-4627-8A47-B23352F7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38725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C1 or high Risk48 + trend evidence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F38F71-0089-4EEE-A3E2-3392B598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72100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5D7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E5D7A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226296-49B9-474E-9C37-C41C084C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05450"/>
            <a:ext cx="723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E"/>
          </a:solidFill>
          <a:ln xmlns:a="http://schemas.openxmlformats.org/drawingml/2006/main" w="9525">
            <a:solidFill>
              <a:srgbClr val="567B6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14D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FB24B5-F02C-499C-96E1-500062AA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05450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No combined evidence for escalation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1EB4C7-203E-4BEF-A446-C3E60E96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388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67B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67B63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CFE795-02ED-488F-86A7-0A193D02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Rules escalate only when class, horizon risk and recent history support the same decision.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9032C4-F1DA-4067-B21E-35AAC9A6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934FD9-8D8F-442D-A021-C376D705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95D610-C59C-4BCC-A8E8-DC73DAE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2:50–3:50  ·  60 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F4A49D-5CEC-4C46-8A17-30A69025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9319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EFF98E-2006-46A0-8B22-97DE6990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06  PRODUCTION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CDB46-785B-4052-BF99-C6730070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96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The script predicts once, stores once, and serves the latest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9EC5C-6FFF-404A-A9F0-C09494CF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The application does not rerun the model when users open the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5F225-F572-4E58-B9BB-FA46AD40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EDF7D-D9EA-4E8A-9AE2-AF3C213E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PostgreSQL: operational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6394F-4EC0-4FBB-AB6F-0D70A595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truck_readout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E3462-8E83-453F-AAF9-BE9CE4FA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97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A8F35-F591-4A09-8633-6C9362BF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240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run_model.py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3B275-C531-4D31-B41E-0052C2F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CLI entrypoint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credentials + dry-run options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5BF8B-38C3-4500-ADC6-B42E50ED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97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84C88-4E57-4C5A-8F29-AAF8E64B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240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Web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E0CB6-25C0-4A43-87E3-3B10E630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Latest active vehicle row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Action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ABA24-E280-42B7-8E7A-ED9E90CA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1AFD5-3089-4718-972F-0AF12E64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Model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4B265-95BD-45D9-9953-B76FE9CB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2552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XGBoost model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feature schema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thresholds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52FD3-1C25-4B64-A312-11585372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00CE9-454F-4188-B7B7-EC802B93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fleetcare_inference.py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D6941-86E5-4C57-869F-84F6AD85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62475"/>
            <a:ext cx="2552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Load data + build features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Predict + SHAP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Apply temporal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AF524-EFB7-4080-85C3-3E7C9626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F010C-4EBA-4928-9F4F-D306AA95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PostgreSQL: public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81A6F-8E3C-4DA4-82AB-65E7A9C0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62475"/>
            <a:ext cx="2552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prediction_shap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90900" y="260985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810250" y="3209925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90900" y="47148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head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239000" y="47148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head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9658350" y="3209925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9F114-CA65-4CD1-9CC8-24658533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0E7CE5-A812-42E4-8C82-43F9C8F7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62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15B06-25E9-431D-8CF1-EEDDB67E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9B1D84-4BB4-4F89-AB4A-A42C0E0A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507923-AA66-4047-BAD4-1EC49298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FFF970-BFA0-4308-B899-0FA480F1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007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193,095 readouts   ·   5,037 predictions   ·   7 collect-more-data decisions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9A3D1E-3CA5-433D-B0D3-1974FBB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D1A4D4-97E3-406C-A908-72DDE14A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3FC7F2-595F-48C6-A98A-9476714E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3:50–4:40  ·  50 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9CD71D-E416-401F-BD37-034ECA69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6686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2026-10-12T22:46:55.8530000Z</dcterms:created>
  <dcterms:modified xsi:type="dcterms:W3CDTF">2026-10-12T22:46:55.8530000Z</dcterms:modified>
</coreProperties>
</file>