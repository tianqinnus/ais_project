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f85bd45fef4ad8" /><Relationship Type="http://schemas.openxmlformats.org/officeDocument/2006/relationships/extended-properties" Target="/docProps/app.xml" Id="Rb5b25f5e36b5479a" /><Relationship Type="http://schemas.openxmlformats.org/officeDocument/2006/relationships/officeDocument" Target="/ppt/presentation.xml" Id="Re65eeede397b4b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6718eb3704c33"/>
  </p:sldMasterIdLst>
  <p:notesMasterIdLst>
    <p:notesMasterId xmlns:r="http://schemas.openxmlformats.org/officeDocument/2006/relationships" r:id="R1aff59a3833b407e"/>
  </p:notesMasterIdLst>
  <p:sldIdLst>
    <p:sldId xmlns:r="http://schemas.openxmlformats.org/officeDocument/2006/relationships" id="256" r:id="R6dbb032cf2294099"/>
    <p:sldId xmlns:r="http://schemas.openxmlformats.org/officeDocument/2006/relationships" id="257" r:id="R8ff1d16a46904ace"/>
    <p:sldId xmlns:r="http://schemas.openxmlformats.org/officeDocument/2006/relationships" id="258" r:id="R5b70d587e43a4c09"/>
    <p:sldId xmlns:r="http://schemas.openxmlformats.org/officeDocument/2006/relationships" id="259" r:id="Raedb0020b2da4002"/>
    <p:sldId xmlns:r="http://schemas.openxmlformats.org/officeDocument/2006/relationships" id="260" r:id="Rd48f6361b09f419c"/>
    <p:sldId xmlns:r="http://schemas.openxmlformats.org/officeDocument/2006/relationships" id="261" r:id="Ra5432514320940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53ca1771814929" /><Relationship Type="http://schemas.openxmlformats.org/officeDocument/2006/relationships/slideMaster" Target="/ppt/slideMasters/slideMaster1.xml" Id="R6b46718eb3704c33" /><Relationship Type="http://schemas.openxmlformats.org/officeDocument/2006/relationships/notesMaster" Target="/ppt/notesMasters/notesMaster1.xml" Id="R1aff59a3833b407e" /><Relationship Type="http://schemas.openxmlformats.org/officeDocument/2006/relationships/presProps" Target="/ppt/presProps.xml" Id="R57ea96aca9ae444d" /><Relationship Type="http://schemas.openxmlformats.org/officeDocument/2006/relationships/tableStyles" Target="/ppt/tableStyles.xml" Id="R4c2d82503e1a466d" /><Relationship Type="http://schemas.openxmlformats.org/officeDocument/2006/relationships/slide" Target="/ppt/slides/slide1.xml" Id="R6dbb032cf2294099" /><Relationship Type="http://schemas.openxmlformats.org/officeDocument/2006/relationships/slide" Target="/ppt/slides/slide2.xml" Id="R8ff1d16a46904ace" /><Relationship Type="http://schemas.openxmlformats.org/officeDocument/2006/relationships/slide" Target="/ppt/slides/slide3.xml" Id="R5b70d587e43a4c09" /><Relationship Type="http://schemas.openxmlformats.org/officeDocument/2006/relationships/slide" Target="/ppt/slides/slide4.xml" Id="Raedb0020b2da4002" /><Relationship Type="http://schemas.openxmlformats.org/officeDocument/2006/relationships/slide" Target="/ppt/slides/slide5.xml" Id="Rd48f6361b09f419c" /><Relationship Type="http://schemas.openxmlformats.org/officeDocument/2006/relationships/slide" Target="/ppt/slides/slide6.xml" Id="Ra5432514320940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232791ac3b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32969f2b8a4d55" /><Relationship Type="http://schemas.openxmlformats.org/officeDocument/2006/relationships/notesMaster" Target="/ppt/notesMasters/notesMaster1.xml" Id="R62df94fc2d13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574e068784574" /><Relationship Type="http://schemas.openxmlformats.org/officeDocument/2006/relationships/notesMaster" Target="/ppt/notesMasters/notesMaster1.xml" Id="Rfe1fb58dc57942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2e3ab4229c47e1" /><Relationship Type="http://schemas.openxmlformats.org/officeDocument/2006/relationships/notesMaster" Target="/ppt/notesMasters/notesMaster1.xml" Id="R7456c0a9978941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622ab32ff7409a" /><Relationship Type="http://schemas.openxmlformats.org/officeDocument/2006/relationships/notesMaster" Target="/ppt/notesMasters/notesMaster1.xml" Id="Rf7250ed5ee1d4a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2e0d59cb644523" /><Relationship Type="http://schemas.openxmlformats.org/officeDocument/2006/relationships/notesMaster" Target="/ppt/notesMasters/notesMaster1.xml" Id="Re60a7504cb6b40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c07b932600411f" /><Relationship Type="http://schemas.openxmlformats.org/officeDocument/2006/relationships/notesMaster" Target="/ppt/notesMasters/notesMaster1.xml" Id="R172a2cef82944e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 and SystemCode/data/fleetcare_inference.py. This slide summarises the current offline scoring and stored-result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experiment sequence test_00 through test_12c. Cost experiments were reviewed but removed from final no-cost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 uses 250 estimators, learning rate 0.05 and depth 5. P5 uses 250 estimators, learning rate 0.05 and depth 4 with lower regularisation.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0.192175 ± 0.014271 for risk ranking and 0.201593 ± 0.003539 for five-class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High-risk evidence uses Risk48 P80, Risk24 P85, Risk12 P90 and Risk6 P95;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Dashboard query filters to the latest analysis row per vehicle, isactive = 1 and in_maintenance IS NULL.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a351203a04c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1b0bebef324881" /><Relationship Type="http://schemas.openxmlformats.org/officeDocument/2006/relationships/slideLayout" Target="/ppt/slideLayouts/slideLayout1.xml" Id="Rf379512098c04a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79512098c04a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ac1c07c7f4cd6" /><Relationship Type="http://schemas.openxmlformats.org/officeDocument/2006/relationships/notesSlide" Target="/ppt/notesSlides/notesSlide1.xml" Id="Rba301bb5cc3f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02eb842eb4687" /><Relationship Type="http://schemas.openxmlformats.org/officeDocument/2006/relationships/notesSlide" Target="/ppt/notesSlides/notesSlide2.xml" Id="R95666d8a390544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bf59c130d4abf" /><Relationship Type="http://schemas.openxmlformats.org/officeDocument/2006/relationships/notesSlide" Target="/ppt/notesSlides/notesSlide3.xml" Id="R1ef2657b764e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bfc9e94fa4b04" /><Relationship Type="http://schemas.openxmlformats.org/officeDocument/2006/relationships/chart" Target="/ppt/slides/charts/chart1.xml" Id="R72db85b120d54436" /><Relationship Type="http://schemas.openxmlformats.org/officeDocument/2006/relationships/notesSlide" Target="/ppt/notesSlides/notesSlide4.xml" Id="Rfc529a33279340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7a5ea05ed4eb3" /><Relationship Type="http://schemas.openxmlformats.org/officeDocument/2006/relationships/notesSlide" Target="/ppt/notesSlides/notesSlide5.xml" Id="Rfaa75309ae7846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cb6d967604f90" /><Relationship Type="http://schemas.openxmlformats.org/officeDocument/2006/relationships/notesSlide" Target="/ppt/notesSlides/notesSlide6.xml" Id="Rbe87c01a31424bf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2314D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00868A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31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DA4987-92A1-49FB-8999-01BC414F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01 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CBC37-6FFC-462C-9751-B2779315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FleetCare AI decision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C4682-0722-4FAC-8BDF-6F17576D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Goal: convert irregular vehicle readouts into traceable maintenance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77BB0-E551-493D-85E4-4EB023D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CD5A7-5A3B-42E5-BA03-F067E4C7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Operational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A02BC-A20F-4081-AA17-B1F6819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 specifications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 vehicle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D254F-8B40-4C5B-969B-704ED051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6E4B9-C900-463B-873E-62102661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Feature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42E75-077C-4F04-B2F3-AE323A4F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Current values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 and changes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Past-only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A92EC-EFA1-4C94-B676-5059076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112CF-FF24-49A2-968B-1337558E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XGBoost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0A516-AAC3-403B-8814-AEFCF9DC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P(C0...C4)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Risk6 / 12 / 24 /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09959-AC73-404F-973E-4A0E4C0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04C1-04F7-4A3C-A1E0-33997665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Temporal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15BE9-329F-429E-83A4-59276556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9825"/>
            <a:ext cx="1943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Persistence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Deterioration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History quality</a:t>
            </a:r>
          </a:p>
        </p:txBody>
      </p:sp>
      <p:cxnSp>
        <p:nvCxnSpPr>
          <p:cNvPr id="5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8130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8165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382000" y="2619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2E2FC-FAE2-4135-98B8-20D31B0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DDB95-2A61-43BC-951A-A890CD7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6F740-F13A-417B-83F0-3D1E3C82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604E4-A9E7-4376-8DF4-A7FF334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E7F436-71A9-45D3-B954-0EE20443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SHAP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1B882-573A-4276-B718-F1672FEA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Top feature contributions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per vehicle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35926-98A1-4451-B7F8-378A1C13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B2C8B-E2F9-4204-A9C1-30F1EF4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Stored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29DF0-3CB7-4AC7-A885-63643C9B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EC377-3C16-4527-AEC4-5E000BD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1D0775-744B-4B47-8F47-07B03B28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B0AEB-2D4F-4D43-9483-85257D8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62475"/>
            <a:ext cx="1943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Fleet priorities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Vehicle evidence</a:t>
            </a:r>
          </a:p>
        </p:txBody>
      </p:sp>
      <p:cxnSp>
        <p:nvCxnSpPr>
          <p:cNvPr id="72" name=""/>
          <p:cNvCxnSpPr>
            <a:stCxn xmlns:a="http://schemas.openxmlformats.org/drawingml/2006/main" id="1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4457700" y="3295650"/>
            <a:ext cx="28003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7258050" y="3295650"/>
            <a:ext cx="28003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581650" y="46291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382000" y="46291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D3A4EA-B651-435F-AD8F-763F9300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95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34F31-AE24-413D-821F-E89DDDFE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C91AB-63D7-488C-8020-48F16347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1064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One offline scoring path. One latest action per active vehicle. The dashboard reads stored evidence rather than rerunning the model.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DD9C7B-F8C0-4860-B9DF-7E5F1B46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B206B1-20F9-417B-8E16-519D1316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657692-1317-4E7F-876B-1BCBEF8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0:00–0:30  ·  30 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CBA3AF-7F85-4414-AA6E-0DD5293C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1553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04759C-E69D-47E7-93DD-ACF2961A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02  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507FE-3C0C-461F-975F-9671772B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Six iterations shaped the final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7EEB2-966F-4941-A676-3D60BB8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Each stage addressed a limitation found in the previous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1F652-BD0A-4876-B67F-C292559C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B9304-8ED7-4337-8550-B9C2CB06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01  Random 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5B4ED-D3A2-4355-B1AB-A13FEF5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Latest-state baseline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Class imbalance became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33072-7FBF-463F-B10C-E975E24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BFF34-0CD7-482A-A575-0E349186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02  XGBoost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1CD32-BA79-4906-AE52-C764F4E1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Nonlinear five-class probabilities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Better fit for complex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BDA90-39A4-438C-BD52-AFB88F19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8E9EB-DE16-48CE-9A54-AE43702F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03  Vehicle-aware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14A53-73D4-4C53-B412-C7C0B587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9825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Separate vehicles across splits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Reduced leakage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16009-2BC9-48F0-8E5B-1B9455D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E913E-4567-417D-9CAD-BDF943C0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06  Final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3B5DF-1985-4430-9BF0-6D1E27EB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No-cost objective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Two selected configurations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847B7-4D83-4B59-BF3A-AA813DD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41045-5A7F-475E-AA06-43A9DE6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05  Policy experiments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2C90E-F66D-45DD-9720-2E378A3C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Calibration and capacity tested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Cost objective later removed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5AB60-6E0C-42AD-A250-C0B370EB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0909-97C9-49C3-90B0-48EA0653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148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04  Temporal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2C766-D143-4C28-B756-916B2A26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838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Rates, changes and history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Past-only construction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76650" y="24669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24669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086975" y="29908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667625" y="4724400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6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676650" y="4724400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24ED0-3AFD-49B2-9FEC-E4B7C91C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2673F-AA7C-4721-86E1-E4F3EB2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81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control leakage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A6D1C-71FE-4F01-A3BB-7EEEB1D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005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add 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3125BD-B111-453A-8447-D185479D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00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test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5EDBC7-F7A1-49C7-B231-BD168C07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32006-042D-4A72-8E63-A5ABA5B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72125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6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XGBoost with vehicle-aware history. Cost-based selection was excluded because the public dataset has no operational cost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D2C5DC-A8B7-4DB6-B019-001400B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ED5FDE-F832-47B1-8D4E-934D3051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4D89F6-3CE3-4E1B-97F0-CAD726CE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0:30–1:15  ·  45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086078-A62C-4505-A7A8-91CBFD88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146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A4C9B6-A527-4DBB-8537-C499F35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03  FEATURE AND PARAMETER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6536E-172E-47AF-9200-ABE7702C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84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Feature design moved from broad rates to focused short-term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BB2C9-9CAA-4291-BE2F-C2F82BD3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Twenty-five combinations were screened, then finalists were checked across five random seeds.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7F673-231F-4823-B296-C0ACAE6C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71C38-7F99-49AA-917C-D6B0B104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EB6FA-5E1B-4861-A72D-9308E2BC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horizons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B0CFF-EEC4-4992-832F-4EC6D635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4745-A9FD-4473-8DE5-46BA1F62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5A86C-006E-486A-BB9C-8D027D3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Rates + changes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horizons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02315-64CC-4440-9D31-10A49041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EDBBD-781E-4C5B-A816-74E4BEBC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5755D-6EC2-406D-A0FB-119A3A86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Short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6 and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1818E-0CCB-45CC-AC3F-581E7730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DFD40-3BE3-40FC-BCD7-8D023DC2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5FFE0-264A-44F8-BED7-5878281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Long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24 and 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22ADB-2C9D-4789-B9DC-98BB6846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1847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BD813-73D7-495C-B9F3-C162747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669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5CC77-CD2D-4BD1-85F0-DE8A4EEB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19350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9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All rates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+ short changes</a:t>
            </a:r>
          </a:p>
        </p:txBody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81250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62475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43700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24925" y="24669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A12EB-810A-4CEE-8585-984EE785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358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add movement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1F3D8-FA95-4606-B2D3-E0F82419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short focus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0D25E-88CE-4671-90E8-4DE252E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744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long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591FD-34E7-48F1-B0D5-38EBB561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681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28141-B3E3-4344-823A-149E3675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957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3CFB5-2D6B-4B75-80BC-A49E92C7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25 combinations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6E0FAC-CE6A-4260-AFBD-7ABEE458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62425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5 feature sets × 5 parameter sets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Initial screening on PolicyDev</a:t>
            </a:r>
          </a:p>
        </p:txBody>
      </p:sp>
      <p:cxnSp>
        <p:nvCxnSpPr>
          <p:cNvPr id="74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5362575" y="2981325"/>
            <a:ext cx="48196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BC144-AA07-463A-85BE-39E2046E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35015-5559-415A-89A3-06DB89C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Risk ranking winner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570ED-4B87-4F58-98C0-6106F847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F5 + P3 medium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Mean horizon AP = 0.192 ± 0.014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C4EF1A-B96D-4B2A-AEE9-31A51CF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911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380D50-ABC9-4E73-B581-C5FF990D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054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Five-class winner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DC5D63-4AC5-4AE3-A0D1-054CA923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578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F5 + P5 less regularized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Macro F1 = 0.202 ± 0.004</a:t>
            </a:r>
          </a:p>
        </p:txBody>
      </p:sp>
      <p:cxnSp>
        <p:nvCxnSpPr>
          <p:cNvPr id="81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2533650" y="4819650"/>
            <a:ext cx="28289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5362575" y="4819650"/>
            <a:ext cx="376237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F0E548-B9F9-4259-AA8B-3A8AFA8D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rank risk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84241-19E2-4A3A-933D-B7EBB55E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F0129D-CBDE-4FB6-9165-F9E88D90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88EEF0-12B4-4CC0-A6C8-1A9C69B7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DD2E3F-670C-4473-A8EA-3A5192A3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1:15–2:00  ·  45 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794D57-7ED0-40BC-9882-57221480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7645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5A32A-C8C4-4CBF-8237-BC1545D4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04 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C2619-ACD5-43A7-B3B6-21C211B4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Two metrics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805D-E166-483C-A16F-12E7DCA4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Macro F1 evaluates five-class balance; horizon AP evaluates risk ranking under class imbalance.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95300" y="2143125"/>
          <a:ext xmlns:a="http://schemas.openxmlformats.org/drawingml/2006/main" cx="6381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db85b120d5443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626D4-184D-433C-9763-7837E650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CEF25-5ED6-4038-B014-84E587C6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866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51794-6DD1-4616-A815-BB03FCA1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FB00B-24FA-4539-83CA-0AF6A853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66975"/>
            <a:ext cx="1562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PolicyDev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0.192 ± 0.014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Selected: F5 + 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4F4DF-DAB1-41BA-8776-2F52D5C7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866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0A440-9A48-4D3F-B4A2-151AD931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Five-class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BDEDF-21E7-4632-9E24-DC40D67C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66975"/>
            <a:ext cx="1562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PolicyDev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0.202 ± 0.004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Selected: F5 + P5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20FC0-66A5-4C89-90E2-4141B85F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962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25B62-2FE2-4AB3-878C-01C2C52C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Why accuracy misleads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2E50C-9351-411F-A99F-BF0D587A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62475"/>
            <a:ext cx="3657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6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Accuracy = 0.970</a:t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Macro F1 = 0.203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C0 dominates the label distribution.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362950" y="3752850"/>
            <a:ext cx="1047750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410700" y="3752850"/>
            <a:ext cx="1047750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393A4-0600-4018-A23E-18C2CA08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Official Validation remained diagnostic and did not influence model selection.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F7AE3-130A-40A5-AB8F-FBE71CE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FB2FE-B8E9-474F-8D64-1B569BA7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4B7BB-8E31-4DC3-BE1E-F72255DA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2:00–2:50  ·  50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E99AA-5579-428A-98BA-0C9A97A7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1841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2C7254-F4BB-4BE5-8740-826C7AF0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05  TEMPORAL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0B92F-62B5-4AA2-AB6F-32EB1EC6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82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The rule path checks data quality before maintenance severity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6C827-1E29-42DD-A329-06C75EF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Recent history stabilises actions when class probabilities are close or predictions jump.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E598F-FB59-453A-A4CF-AAABF5A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B5B2C-1EF3-43FC-B363-15AB4990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Latest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2933F-73B8-40F7-9A89-F7714839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Class + Risk6 / 12 / 24 / 48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Recent five predictions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A8837-A361-43D8-9735-050AE11F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F21A4-BBB9-448D-83D2-1D970297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History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6AB57-999E-4054-AAE6-A9F78B50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Only one readout?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C3/C4 with &lt;3 history?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F320E-2636-4EB5-ACB5-4F5BC7CE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D70A7-C794-448C-AD68-10D32132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Stability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C1B44-5654-4015-A8C1-35E9FE4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Confidence &lt; 0.35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Margin &lt; 0.03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Repeated large jumps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97485-9362-4301-95E0-0F5C088F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11430">
            <a:solidFill>
              <a:srgbClr val="E28C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77976-0F55-4D26-BAC9-5BAC666F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Risk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1D9D3-ED49-4220-BA42-77FCB587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Evaluate the strongest</a:t>
            </a:r>
          </a:p>
          <a:p xmlns:a="http://schemas.openxmlformats.org/drawingml/2006/main">
            <a:pPr algn="l">
              <a:defRPr sz="112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combined evidence</a:t>
            </a:r>
          </a:p>
        </p:txBody>
      </p:sp>
      <p:cxnSp>
        <p:nvCxnSpPr>
          <p:cNvPr id="6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9595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34400" y="26384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E28C2F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6F9E4-FDB9-47FD-9A32-D7F35F49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119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enough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5BA55-B8BF-4935-8442-7463E759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6B0F7-F500-4B13-837A-E24E64D4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33D86-468B-41CE-96CE-01ECE2AC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TRD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99B35-CA7F-4421-8600-77646FF7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COLLECT_MORE_DATA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CB0A7-A750-4BC7-8D10-F1BB88CE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08BD7-C9E5-4ED6-8E03-F44BAB38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TR0 / TRV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36CD71-C8CA-4E38-8184-4A82C43C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cxnSp>
        <p:nvCxnSpPr>
          <p:cNvPr id="77" name=""/>
          <p:cNvCxnSpPr>
            <a:stCxn xmlns:a="http://schemas.openxmlformats.org/drawingml/2006/main" id="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533900" y="32385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372350" y="32385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0B9B1-A797-48E7-88C9-099B89B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05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7B575-9C5D-4455-A0F7-1016419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05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unstable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16D85A-6929-4D4D-82AF-19E0F848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A"/>
          </a:solidFill>
          <a:ln xmlns:a="http://schemas.openxmlformats.org/drawingml/2006/main" w="9525">
            <a:solidFill>
              <a:srgbClr val="C758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09627-350E-4876-B16F-BEF8BA4C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38550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C4 + extreme Risk6 + persistence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67F4CF-AE2D-40CB-99B8-61F44F8D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719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7584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5847"/>
                </a:solidFill>
                <a:latin typeface="Arial"/>
                <a:ea typeface="Arial"/>
                <a:cs typeface="Arial"/>
              </a:rPr>
              <a:t>PRIORITY_INSPECT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3CEBEE-FF80-4267-A24F-4500828C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05275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2"/>
          </a:solidFill>
          <a:ln xmlns:a="http://schemas.openxmlformats.org/drawingml/2006/main" w="9525">
            <a:solidFill>
              <a:srgbClr val="E28C2F"/>
            </a:solidFill>
          </a:ln>
        </p:spPr>
        <p:txBody>
          <a:bodyPr xmlns:a="http://schemas.openxmlformats.org/drawingml/2006/main" anchor="ctr">
            <a:normAutofit fontScale="9455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TR2 / TR3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AB086-1DD7-4805-8E50-20CAD31E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0527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C3/C4 + Risk12, or persistent Risk6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BA58F6-0D45-4411-B9BD-A52D655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3865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E28C2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E28C2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ACC2FF-C284-4122-B063-8F2DD89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72000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6EFE41-04E9-41DB-BBA9-FB2542DA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C2 or high Risk24 + trend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CFC90E-64F9-4EC4-973B-CC83B21C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0537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7791F"/>
                </a:solidFill>
                <a:latin typeface="Arial"/>
                <a:ea typeface="Arial"/>
                <a:cs typeface="Arial"/>
              </a:rPr>
              <a:t>ENHANCED_MONITOR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7A0636-EA0C-49D0-8E0E-5875BF63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38725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2E5D7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49E6BF-8200-4AA0-8849-BB71CB6D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38725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C1 or high Risk48 + trend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B95CFC-3046-4A18-87C5-61AFE129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7210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2E5D7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E5D7A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2A469D-610F-423C-B953-0101178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05450"/>
            <a:ext cx="723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E"/>
          </a:solidFill>
          <a:ln xmlns:a="http://schemas.openxmlformats.org/drawingml/2006/main" w="9525">
            <a:solidFill>
              <a:srgbClr val="567B6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314D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F33F80-5128-48F9-A86B-E788D7BC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05450"/>
            <a:ext cx="1752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No combined evidence for escalation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1CD34D-B694-4C7E-8DA5-FD59BCF9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388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67B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67B63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0C873F-A5F2-47CC-AFDE-24F9F63B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Rules escalate only when class, horizon risk and recent history support the same decision.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79A495-E688-409B-85DE-9474DAF2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7086A2-055A-4E84-8D97-E5D0A4CE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556091-08FB-4186-BCA7-79F3E82A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2:50–3:50  ·  60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4EFC94-FDF3-451F-A7BD-B7E2BCCB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1673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CE116C-D9A0-4A7E-9301-5088A8C2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06  PRODUCTION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8645C-00BE-4814-B058-0B7A4736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9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The script predicts once, stores once, and serves the latest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F1CE0-691C-4988-AC3A-7DD29797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The application does not rerun the model when users open the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F7EAB-550E-4130-9550-F5DDF85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02BA5-CA6A-4230-AF39-C60C557A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PostgreSQL: operational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B913C-A086-428B-9F1D-A324E1DE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truck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3F161-8D28-4AEA-A787-97FC2795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2AFB8-E492-44ED-91A0-4103E19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run_model.py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D7ED5-8F51-4597-9BD6-27F66183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CLI entrypoint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credentials + dry-run options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63917-D8C8-4FD1-ACD8-FB0DFB57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97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1231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46BEF-2469-4291-9DBA-BDE8945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431B6-3F9F-40B5-855B-215129BE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Latest active vehicle row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Action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F7D54-7E01-43B7-8E6E-001B2ABA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3EBB5-2F38-42C7-A432-EB4E51F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Model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D8988-2D9B-4F84-A984-38803144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XGBoost model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feature schema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thresholds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98586-BB7A-4F22-A94C-EC5DBC03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0086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8B57B-BB2C-489B-950E-3FA8B502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fleetcare_inference.py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84247-AA38-4A55-B320-559531ED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Load data + build features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 + SHAP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Apply temporal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C9704-97DF-48BB-90F3-CA906A44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1430">
            <a:solidFill>
              <a:srgbClr val="6952B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A2FD1-29AE-4EB8-9F32-7BDB6BE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PostgreSQL: public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0A06D-A0C8-4370-973B-FF55865C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552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l">
              <a:defRPr sz="1275" b="0" i="0">
                <a:solidFill>
                  <a:srgbClr val="16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324B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90900" y="26098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2748B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810250" y="3209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90900" y="47148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68A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239000" y="47148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9658350" y="3209925"/>
            <a:ext cx="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52B5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C3E3E-64FB-4529-96B1-217FF728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92C52D-55A4-49D2-8AD0-476A5F5E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62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F33E42-7B63-46C9-B136-A0F75C6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13BEB-02A9-4B74-9C9F-C2733B5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952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952B5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3FD701-8174-4874-9431-EF50FAF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868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868A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BC4FE-B5E7-4311-84D7-CD98EF3B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007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193,095 readouts   ·   5,037 predictions   ·   7 collect-more-data decisions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78F4FC-D0CD-4011-9E0C-B69D44E0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C515B9-9F54-4CA6-949D-971CADE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FleetCare AI  /  Model, rules and inference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D090FC-DAFB-4316-8851-5727DBCC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48B"/>
                </a:solidFill>
                <a:latin typeface="Arial"/>
                <a:ea typeface="Arial"/>
                <a:cs typeface="Arial"/>
              </a:rPr>
              <a:t>3:50–4:40  ·  50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363E4B-0231-4BBF-A9DC-B2A56EFB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31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2314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0063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2026-10-12T22:47:32.2190000Z</dcterms:created>
  <dcterms:modified xsi:type="dcterms:W3CDTF">2026-10-12T22:47:32.2190000Z</dcterms:modified>
</coreProperties>
</file>