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45daa20047a4c5f" /><Relationship Type="http://schemas.openxmlformats.org/officeDocument/2006/relationships/extended-properties" Target="/docProps/app.xml" Id="Rc7ed7b3577254385" /><Relationship Type="http://schemas.openxmlformats.org/officeDocument/2006/relationships/officeDocument" Target="/ppt/presentation.xml" Id="R25b1eaaca71c4be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0f0df2eeacd4b31"/>
  </p:sldMasterIdLst>
  <p:notesMasterIdLst>
    <p:notesMasterId xmlns:r="http://schemas.openxmlformats.org/officeDocument/2006/relationships" r:id="R5615c2c66eac4ad4"/>
  </p:notesMasterIdLst>
  <p:sldIdLst>
    <p:sldId xmlns:r="http://schemas.openxmlformats.org/officeDocument/2006/relationships" id="256" r:id="R881742514eb4428c"/>
    <p:sldId xmlns:r="http://schemas.openxmlformats.org/officeDocument/2006/relationships" id="257" r:id="R65d9243c662e43b0"/>
    <p:sldId xmlns:r="http://schemas.openxmlformats.org/officeDocument/2006/relationships" id="258" r:id="R3fb3e60e9cbb461a"/>
    <p:sldId xmlns:r="http://schemas.openxmlformats.org/officeDocument/2006/relationships" id="259" r:id="R321ae6cdc0e04847"/>
    <p:sldId xmlns:r="http://schemas.openxmlformats.org/officeDocument/2006/relationships" id="260" r:id="R12db6f20dc3c4646"/>
    <p:sldId xmlns:r="http://schemas.openxmlformats.org/officeDocument/2006/relationships" id="261" r:id="R78871040391d4ad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a4d491136454fb8" /><Relationship Type="http://schemas.openxmlformats.org/officeDocument/2006/relationships/slideMaster" Target="/ppt/slideMasters/slideMaster1.xml" Id="R00f0df2eeacd4b31" /><Relationship Type="http://schemas.openxmlformats.org/officeDocument/2006/relationships/notesMaster" Target="/ppt/notesMasters/notesMaster1.xml" Id="R5615c2c66eac4ad4" /><Relationship Type="http://schemas.openxmlformats.org/officeDocument/2006/relationships/presProps" Target="/ppt/presProps.xml" Id="Rde4bad81c71c4828" /><Relationship Type="http://schemas.openxmlformats.org/officeDocument/2006/relationships/tableStyles" Target="/ppt/tableStyles.xml" Id="R3f138bbee5c8413d" /><Relationship Type="http://schemas.openxmlformats.org/officeDocument/2006/relationships/slide" Target="/ppt/slides/slide1.xml" Id="R881742514eb4428c" /><Relationship Type="http://schemas.openxmlformats.org/officeDocument/2006/relationships/slide" Target="/ppt/slides/slide2.xml" Id="R65d9243c662e43b0" /><Relationship Type="http://schemas.openxmlformats.org/officeDocument/2006/relationships/slide" Target="/ppt/slides/slide3.xml" Id="R3fb3e60e9cbb461a" /><Relationship Type="http://schemas.openxmlformats.org/officeDocument/2006/relationships/slide" Target="/ppt/slides/slide4.xml" Id="R321ae6cdc0e04847" /><Relationship Type="http://schemas.openxmlformats.org/officeDocument/2006/relationships/slide" Target="/ppt/slides/slide5.xml" Id="R12db6f20dc3c4646" /><Relationship Type="http://schemas.openxmlformats.org/officeDocument/2006/relationships/slide" Target="/ppt/slides/slide6.xml" Id="R78871040391d4ad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cdf6c97021b430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f3f07c6e5d34818" /><Relationship Type="http://schemas.openxmlformats.org/officeDocument/2006/relationships/notesMaster" Target="/ppt/notesMasters/notesMaster1.xml" Id="R085217dbbedc4dc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ea67f248f134f58" /><Relationship Type="http://schemas.openxmlformats.org/officeDocument/2006/relationships/notesMaster" Target="/ppt/notesMasters/notesMaster1.xml" Id="R782dfa31dbfb452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bf54d058bd24a5d" /><Relationship Type="http://schemas.openxmlformats.org/officeDocument/2006/relationships/notesMaster" Target="/ppt/notesMasters/notesMaster1.xml" Id="R95585a7e86bd497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61e456adb844f0a" /><Relationship Type="http://schemas.openxmlformats.org/officeDocument/2006/relationships/notesMaster" Target="/ppt/notesMasters/notesMaster1.xml" Id="R72994145b92d4d0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85b44cef9d54a4c" /><Relationship Type="http://schemas.openxmlformats.org/officeDocument/2006/relationships/notesMaster" Target="/ppt/notesMasters/notesMaster1.xml" Id="R7e63aa35578744f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a98fad2bd3040ce" /><Relationship Type="http://schemas.openxmlformats.org/officeDocument/2006/relationships/notesMaster" Target="/ppt/notesMasters/notesMaster1.xml" Id="Rc86dd0699bb94f2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SystemCode/data/run_model.py and SystemCode/data/fleetcare_inference.py. The truck artwork is a generated technical illustration and is not presented as a real vehicle photograph.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repository experiment sequence test_00 through test_12c. Cost experiments were reviewed but excluded because the public dataset provides no operational cost model.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test_12c_feature_parameter_search.py. P3 uses 250 estimators, learning rate 0.05 and depth 5. P5 uses 250 estimators, learning rate 0.05 and depth 4 with lower regularisation.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User-provided test_12c results. Official Validation: F5/P3 Macro F1 0.201098, mean horizon AP 0.040280; F5/P5 Macro F1 0.203502, mean horizon AP 0.043174. PolicyDev winners: risk ranking 0.192175 ± 0.014271 and five-class 0.201593 ± 0.003539.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SystemCode/data/fleetcare_inference.py. High-risk evidence uses Risk48 P80, Risk24 P85, Risk12 P90 and Risk6 P95. TR1 and TR2 use P99.5 escalation evidence. TR0 precedes TRV.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SystemCode/data/run_model.py, SystemCode/data/fleetcare_inference.py and verified dry-run output. Dashboard query filters to the latest analysis row per vehicle, isactive = 1 and in_maintenance IS NULL.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d0a16cd7904f4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86545787bc9410f" /><Relationship Type="http://schemas.openxmlformats.org/officeDocument/2006/relationships/slideLayout" Target="/ppt/slideLayouts/slideLayout1.xml" Id="R4e1a290bb5dd482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e1a290bb5dd482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5567fe6a2b40cc" /><Relationship Type="http://schemas.openxmlformats.org/officeDocument/2006/relationships/image" Target="/ppt/media/image.png" Id="Rfce727ceb89641b8" /><Relationship Type="http://schemas.openxmlformats.org/officeDocument/2006/relationships/notesSlide" Target="/ppt/notesSlides/notesSlide1.xml" Id="R053e7ceac79d4a2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b8ec3ca8f4413f" /><Relationship Type="http://schemas.openxmlformats.org/officeDocument/2006/relationships/notesSlide" Target="/ppt/notesSlides/notesSlide2.xml" Id="Re2a2df6db3d441b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980e2bff4145b3" /><Relationship Type="http://schemas.openxmlformats.org/officeDocument/2006/relationships/notesSlide" Target="/ppt/notesSlides/notesSlide3.xml" Id="R4b8a3bc890a7416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731b6d23564911" /><Relationship Type="http://schemas.openxmlformats.org/officeDocument/2006/relationships/chart" Target="/ppt/slides/charts/chart1.xml" Id="R2ab1ec122d0c4a04" /><Relationship Type="http://schemas.openxmlformats.org/officeDocument/2006/relationships/notesSlide" Target="/ppt/notesSlides/notesSlide4.xml" Id="Rfc38d57f3ebc487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42a24ef3cc4683" /><Relationship Type="http://schemas.openxmlformats.org/officeDocument/2006/relationships/notesSlide" Target="/ppt/notesSlides/notesSlide5.xml" Id="R34c64f65bb5b46d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a07d6d26384f31" /><Relationship Type="http://schemas.openxmlformats.org/officeDocument/2006/relationships/notesSlide" Target="/ppt/notesSlides/notesSlide6.xml" Id="R8bbc8c82f3da4c19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Macro F1</c:v>
          </c:tx>
          <c:spPr>
            <a:solidFill xmlns:a="http://schemas.openxmlformats.org/drawingml/2006/main">
              <a:srgbClr val="183A56"/>
            </a:solidFill>
          </c:spPr>
          <c:cat>
            <c:strLit>
              <c:ptCount val="2"/>
              <c:pt idx="0">
                <c:v>F5 + P3</c:v>
              </c:pt>
              <c:pt idx="1">
                <c:v>F5 + P5</c:v>
              </c:pt>
            </c:strLit>
          </c:cat>
          <c:val>
            <c:numLit>
              <c:formatCode>0.000</c:formatCode>
              <c:ptCount val="2"/>
              <c:pt idx="0">
                <c:v>0.201098</c:v>
              </c:pt>
              <c:pt idx="1">
                <c:v>0.203502</c:v>
              </c:pt>
            </c:numLit>
          </c:val>
        </c:ser>
        <c:ser>
          <c:idx val="1"/>
          <c:order val="1"/>
          <c:tx>
            <c:v>Mean horizon AP</c:v>
          </c:tx>
          <c:spPr>
            <a:solidFill xmlns:a="http://schemas.openxmlformats.org/drawingml/2006/main">
              <a:srgbClr val="41A5A1"/>
            </a:solidFill>
          </c:spPr>
          <c:cat>
            <c:strLit>
              <c:ptCount val="2"/>
              <c:pt idx="0">
                <c:v>F5 + P3</c:v>
              </c:pt>
              <c:pt idx="1">
                <c:v>F5 + P5</c:v>
              </c:pt>
            </c:strLit>
          </c:cat>
          <c:val>
            <c:numLit>
              <c:formatCode>0.000</c:formatCode>
              <c:ptCount val="2"/>
              <c:pt idx="0">
                <c:v>0.04028</c:v>
              </c:pt>
              <c:pt idx="1">
                <c:v>0.043174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122330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AD3D6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77B89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0.24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FE5E6"/>
              </a:solidFill>
              <a:prstDash val="solid"/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77B89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04"/>
      </c:valAx>
      <c:spPr>
        <a:solidFill xmlns:a="http://schemas.openxmlformats.org/drawingml/2006/main">
          <a:srgbClr val="F6F4EF"/>
        </a:solidFill>
        <a:ln xmlns:a="http://schemas.openxmlformats.org/drawingml/2006/main" w="0">
          <a:solidFill>
            <a:srgbClr val="F6F4EF"/>
          </a:solidFill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6F4EF"/>
    </a:solidFill>
    <a:ln xmlns:a="http://schemas.openxmlformats.org/drawingml/2006/main" w="0">
      <a:solidFill>
        <a:srgbClr val="F6F4EF"/>
      </a:solidFill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ACCD298-FFED-4E88-9E04-B53947FEA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619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30"/>
          </a:solidFill>
          <a:ln xmlns:a="http://schemas.openxmlformats.org/drawingml/2006/main" w="9525">
            <a:solidFill>
              <a:srgbClr val="122330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7DDD85-4BA3-43C3-BA55-B2BF438D8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" y="1885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A5A1"/>
          </a:solidFill>
          <a:ln xmlns:a="http://schemas.openxmlformats.org/drawingml/2006/main" w="9525">
            <a:solidFill>
              <a:srgbClr val="41A5A1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6A437F-4493-424A-82BC-2D3F8AEEA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1704975"/>
            <a:ext cx="304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9259"/>
          </a:bodyPr>
          <a:lstStyle xmlns:a="http://schemas.openxmlformats.org/drawingml/2006/main"/>
          <a:p xmlns:a="http://schemas.openxmlformats.org/drawingml/2006/main">
            <a:pPr algn="ctr">
              <a:defRPr sz="6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F46C3D-2CC4-42AB-814C-548FB55CB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" y="2400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26C"/>
          </a:solidFill>
          <a:ln xmlns:a="http://schemas.openxmlformats.org/drawingml/2006/main" w="9525">
            <a:solidFill>
              <a:srgbClr val="52626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DACADE-82E5-44DD-916D-876465843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" y="29146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26C"/>
          </a:solidFill>
          <a:ln xmlns:a="http://schemas.openxmlformats.org/drawingml/2006/main" w="9525">
            <a:solidFill>
              <a:srgbClr val="52626C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8910AA-06A2-4577-B6F4-B9AF77879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" y="3429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26C"/>
          </a:solidFill>
          <a:ln xmlns:a="http://schemas.openxmlformats.org/drawingml/2006/main" w="9525">
            <a:solidFill>
              <a:srgbClr val="52626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1C728C-D86D-4A2D-92BE-BAF49323C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" y="3943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26C"/>
          </a:solidFill>
          <a:ln xmlns:a="http://schemas.openxmlformats.org/drawingml/2006/main" w="9525">
            <a:solidFill>
              <a:srgbClr val="52626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1B7F04-6EAE-48A1-883B-6964A0873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" y="4457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26C"/>
          </a:solidFill>
          <a:ln xmlns:a="http://schemas.openxmlformats.org/drawingml/2006/main" w="9525">
            <a:solidFill>
              <a:srgbClr val="52626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1FE44B-6E34-4A4A-AA9E-066852DCD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A7C82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A7C82"/>
                </a:solidFill>
                <a:latin typeface="Arial"/>
                <a:ea typeface="Arial"/>
                <a:cs typeface="Arial"/>
              </a:rPr>
              <a:t>FLEETCARE AI  /  EXECUTIVE SUMMARY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42D5E0-ADBA-495C-939E-04DE6ADCD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10839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741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22330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22330"/>
                </a:solidFill>
                <a:latin typeface="Arial"/>
                <a:ea typeface="Arial"/>
                <a:cs typeface="Arial"/>
              </a:rPr>
              <a:t>The system converts irregular telemetry into one auditable action per vehicle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7E43AF-DDC9-4B68-B4EB-7571B170E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77B89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77B89"/>
                </a:solidFill>
                <a:latin typeface="Arial"/>
                <a:ea typeface="Arial"/>
                <a:cs typeface="Arial"/>
              </a:rPr>
              <a:t>A five-class model ranks risk; a temporal rule layer stabilises operational decisions.</a:t>
            </a:r>
          </a:p>
        </p:txBody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e727ceb89641b8"/>
          <a:stretch xmlns:a="http://schemas.openxmlformats.org/drawingml/2006/main"/>
        </p:blipFill>
        <p:spPr>
          <a:xfrm xmlns:a="http://schemas.openxmlformats.org/drawingml/2006/main">
            <a:off x="5715000" y="1502267"/>
            <a:ext cx="6000750" cy="3377216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90BD90-C5A4-439C-9F1A-A8D4EF5CD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71650"/>
            <a:ext cx="876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A7C82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0A7C82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4881AA-8783-4574-8627-74100BFE2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17907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83A5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83A56"/>
                </a:solidFill>
                <a:latin typeface="Arial"/>
                <a:ea typeface="Arial"/>
                <a:cs typeface="Arial"/>
              </a:rPr>
              <a:t>classes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1A9221-8BCB-4B8E-9752-4729C0BE6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09550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77B89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77B89"/>
                </a:solidFill>
                <a:latin typeface="Arial"/>
                <a:ea typeface="Arial"/>
                <a:cs typeface="Arial"/>
              </a:rPr>
              <a:t>C0 to C4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B8559A-EB6B-4655-9DB6-B06A2D71A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52700"/>
            <a:ext cx="390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3D6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16E3A6-FC8F-4FB8-A12A-7F7225580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38450"/>
            <a:ext cx="876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A7C82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0A7C8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BB3685-02F9-4480-9292-51620060F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8575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83A5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83A56"/>
                </a:solidFill>
                <a:latin typeface="Arial"/>
                <a:ea typeface="Arial"/>
                <a:cs typeface="Arial"/>
              </a:rPr>
              <a:t>risk horizons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7D53FF-E2C3-402C-8C48-A91A6F2F0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16230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77B89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77B89"/>
                </a:solidFill>
                <a:latin typeface="Arial"/>
                <a:ea typeface="Arial"/>
                <a:cs typeface="Arial"/>
              </a:rPr>
              <a:t>6 / 12 / 24 / 48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439EA4-C0AB-4A96-AD6A-450440636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19500"/>
            <a:ext cx="390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3D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4A8B99-6D1C-442D-A7DC-16E86DC20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0"/>
            <a:ext cx="876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5D4DB7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5D4DB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C10DB7-91CF-442A-A759-49B485D72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9243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83A5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83A56"/>
                </a:solidFill>
                <a:latin typeface="Arial"/>
                <a:ea typeface="Arial"/>
                <a:cs typeface="Arial"/>
              </a:rPr>
              <a:t>latest decision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1E52AB-B61C-45BB-940A-D02BD8778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22910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77B89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77B89"/>
                </a:solidFill>
                <a:latin typeface="Arial"/>
                <a:ea typeface="Arial"/>
                <a:cs typeface="Arial"/>
              </a:rPr>
              <a:t>per active vehicle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D93A04-5599-4F98-B0A1-A56363D26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81625"/>
            <a:ext cx="2305050" cy="5905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4E9EB"/>
          </a:solidFill>
          <a:ln xmlns:a="http://schemas.openxmlformats.org/drawingml/2006/main" w="19050">
            <a:solidFill>
              <a:srgbClr val="F6F4EF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3A5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83A56"/>
                </a:solidFill>
                <a:latin typeface="Arial"/>
                <a:ea typeface="Arial"/>
                <a:cs typeface="Arial"/>
              </a:rPr>
              <a:t>READOUTS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0579D10-D126-46E6-9B92-421A35498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5381625"/>
            <a:ext cx="2305050" cy="5905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DFF0EE"/>
          </a:solidFill>
          <a:ln xmlns:a="http://schemas.openxmlformats.org/drawingml/2006/main" w="19050">
            <a:solidFill>
              <a:srgbClr val="F6F4EF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A7C8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A7C82"/>
                </a:solidFill>
                <a:latin typeface="Arial"/>
                <a:ea typeface="Arial"/>
                <a:cs typeface="Arial"/>
              </a:rPr>
              <a:t>TEMPORAL FEATURES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BC177A-9102-4F0D-9669-EEEA4C5EA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381625"/>
            <a:ext cx="2305050" cy="5905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DFF0EE"/>
          </a:solidFill>
          <a:ln xmlns:a="http://schemas.openxmlformats.org/drawingml/2006/main" w="19050">
            <a:solidFill>
              <a:srgbClr val="F6F4EF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A7C8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A7C82"/>
                </a:solidFill>
                <a:latin typeface="Arial"/>
                <a:ea typeface="Arial"/>
                <a:cs typeface="Arial"/>
              </a:rPr>
              <a:t>XGBOOST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9AEB082-93EF-490E-875A-79F17F4A2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381625"/>
            <a:ext cx="2305050" cy="5905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CE9F8"/>
          </a:solidFill>
          <a:ln xmlns:a="http://schemas.openxmlformats.org/drawingml/2006/main" w="19050">
            <a:solidFill>
              <a:srgbClr val="F6F4EF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D4DB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D4DB7"/>
                </a:solidFill>
                <a:latin typeface="Arial"/>
                <a:ea typeface="Arial"/>
                <a:cs typeface="Arial"/>
              </a:rPr>
              <a:t>RULE ENGINE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8F08753-65A1-4CCB-8F5F-EA1DBDCBC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5381625"/>
            <a:ext cx="2305050" cy="5905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F8E6E1"/>
          </a:solidFill>
          <a:ln xmlns:a="http://schemas.openxmlformats.org/drawingml/2006/main" w="19050">
            <a:solidFill>
              <a:srgbClr val="F6F4EF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D9634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D9634B"/>
                </a:solidFill>
                <a:latin typeface="Arial"/>
                <a:ea typeface="Arial"/>
                <a:cs typeface="Arial"/>
              </a:rPr>
              <a:t>ACTION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FF5F238-BDAE-4978-8F80-6CD448C47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0"/>
            <a:ext cx="781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77B89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77B89"/>
                </a:solidFill>
                <a:latin typeface="Arial"/>
                <a:ea typeface="Arial"/>
                <a:cs typeface="Arial"/>
              </a:rPr>
              <a:t>The dashboard reads stored evidence; it does not rerun the model.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BE9C2EC-9D19-49CF-A348-C6EDDED0E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67475"/>
            <a:ext cx="10839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3D6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47A15BE-A05C-49CC-93AF-685E3F8A1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77B89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77B89"/>
                </a:solidFill>
                <a:latin typeface="Arial"/>
                <a:ea typeface="Arial"/>
                <a:cs typeface="Arial"/>
              </a:rPr>
              <a:t>NUS Intelligent Reasoning Systems  /  FleetCare AI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7BB2F1C-C3E5-4089-A0E0-E279DE582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151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183A56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183A56"/>
                </a:solidFill>
                <a:latin typeface="Arial"/>
                <a:ea typeface="Arial"/>
                <a:cs typeface="Arial"/>
              </a:rPr>
              <a:t>01 / 06</a:t>
            </a:r>
          </a:p>
        </p:txBody>
      </p:sp>
    </p:spTree>
    <p:extLst>
      <p:ext uri="{BB962C8B-B14F-4D97-AF65-F5344CB8AC3E}">
        <p14:creationId xmlns:p14="http://schemas.microsoft.com/office/powerpoint/2010/main" val="196343540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4D71647-7963-4D34-89D3-AB55B1DC2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619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30"/>
          </a:solidFill>
          <a:ln xmlns:a="http://schemas.openxmlformats.org/drawingml/2006/main" w="9525">
            <a:solidFill>
              <a:srgbClr val="122330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BC7E1F-73F1-498B-81BF-2A89A4517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" y="1885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26C"/>
          </a:solidFill>
          <a:ln xmlns:a="http://schemas.openxmlformats.org/drawingml/2006/main" w="9525">
            <a:solidFill>
              <a:srgbClr val="52626C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92321B-FC4E-4E9C-95A9-1E30912D4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" y="2400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A5A1"/>
          </a:solidFill>
          <a:ln xmlns:a="http://schemas.openxmlformats.org/drawingml/2006/main" w="9525">
            <a:solidFill>
              <a:srgbClr val="41A5A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51F016-BC50-4813-A2ED-21CB84524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2219325"/>
            <a:ext cx="304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9259"/>
          </a:bodyPr>
          <a:lstStyle xmlns:a="http://schemas.openxmlformats.org/drawingml/2006/main"/>
          <a:p xmlns:a="http://schemas.openxmlformats.org/drawingml/2006/main">
            <a:pPr algn="ctr">
              <a:defRPr sz="6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DF9058-B06B-440D-BE94-B641C8504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" y="29146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26C"/>
          </a:solidFill>
          <a:ln xmlns:a="http://schemas.openxmlformats.org/drawingml/2006/main" w="9525">
            <a:solidFill>
              <a:srgbClr val="52626C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FD74D5-BA3E-40D4-ADBA-0D9D4FB2E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" y="3429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26C"/>
          </a:solidFill>
          <a:ln xmlns:a="http://schemas.openxmlformats.org/drawingml/2006/main" w="9525">
            <a:solidFill>
              <a:srgbClr val="52626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690E55-A952-467A-AE45-2A1209B54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" y="3943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26C"/>
          </a:solidFill>
          <a:ln xmlns:a="http://schemas.openxmlformats.org/drawingml/2006/main" w="9525">
            <a:solidFill>
              <a:srgbClr val="52626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3CE96A-489C-4F7E-9420-53F7D971E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" y="4457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26C"/>
          </a:solidFill>
          <a:ln xmlns:a="http://schemas.openxmlformats.org/drawingml/2006/main" w="9525">
            <a:solidFill>
              <a:srgbClr val="52626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E77F0B-E2E1-46E0-A4AC-F9810EA7B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A7C82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A7C82"/>
                </a:solidFill>
                <a:latin typeface="Arial"/>
                <a:ea typeface="Arial"/>
                <a:cs typeface="Arial"/>
              </a:rPr>
              <a:t>FLEETCARE AI  /  MODEL ITERATION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052C91-E360-4EBC-A709-E0B987612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10839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57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22330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22330"/>
                </a:solidFill>
                <a:latin typeface="Arial"/>
                <a:ea typeface="Arial"/>
                <a:cs typeface="Arial"/>
              </a:rPr>
              <a:t>Each iteration solved one failure mode and narrowed the final design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83EE62-EEFC-4ACE-838B-21244D06B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77B89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77B89"/>
                </a:solidFill>
                <a:latin typeface="Arial"/>
                <a:ea typeface="Arial"/>
                <a:cs typeface="Arial"/>
              </a:rPr>
              <a:t>The sequence moved from a static baseline to vehicle-aware temporal modelling and no-cost selection.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7CD720-6168-477E-B702-CE12C2AF2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76625"/>
            <a:ext cx="9858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CAD3D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0366BE-7016-478E-9AC4-42DEFCDE3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9087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4EF"/>
          </a:solidFill>
          <a:ln xmlns:a="http://schemas.openxmlformats.org/drawingml/2006/main" w="38100">
            <a:solidFill>
              <a:srgbClr val="677B89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77B8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77B8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B675C7-2D17-4296-93FF-EF4581366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0764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83A56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83A56"/>
                </a:solidFill>
                <a:latin typeface="Arial"/>
                <a:ea typeface="Arial"/>
                <a:cs typeface="Arial"/>
              </a:rPr>
              <a:t>Random Forest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534F33-D239-47F0-9C4A-8C8FBEC5A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457450"/>
            <a:ext cx="161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111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77B89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77B89"/>
                </a:solidFill>
                <a:latin typeface="Arial"/>
                <a:ea typeface="Arial"/>
                <a:cs typeface="Arial"/>
              </a:rPr>
              <a:t>Static baseline</a:t>
            </a:r>
          </a:p>
          <a:p xmlns:a="http://schemas.openxmlformats.org/drawingml/2006/main">
            <a:pPr algn="ctr">
              <a:defRPr sz="1050" b="0" i="0">
                <a:solidFill>
                  <a:srgbClr val="677B89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77B89"/>
                </a:solidFill>
                <a:latin typeface="Arial"/>
                <a:ea typeface="Arial"/>
                <a:cs typeface="Arial"/>
              </a:rPr>
              <a:t>Class imbalance exposed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74ACCF-8A39-43DE-AA13-8C3D3991F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914650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677B89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37F479-88FA-4608-A491-FB660A915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19087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4EF"/>
          </a:solidFill>
          <a:ln xmlns:a="http://schemas.openxmlformats.org/drawingml/2006/main" w="38100">
            <a:solidFill>
              <a:srgbClr val="183A56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83A5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83A5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D02329-15C0-4B1F-8154-8D556501B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0576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83A56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83A56"/>
                </a:solidFill>
                <a:latin typeface="Arial"/>
                <a:ea typeface="Arial"/>
                <a:cs typeface="Arial"/>
              </a:rPr>
              <a:t>XGBoost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D86A74-85D3-4FF5-91EC-28A10550F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438650"/>
            <a:ext cx="161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77B89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77B89"/>
                </a:solidFill>
                <a:latin typeface="Arial"/>
                <a:ea typeface="Arial"/>
                <a:cs typeface="Arial"/>
              </a:rPr>
              <a:t>Nonlinear model</a:t>
            </a:r>
          </a:p>
          <a:p xmlns:a="http://schemas.openxmlformats.org/drawingml/2006/main">
            <a:pPr algn="ctr">
              <a:defRPr sz="1050" b="0" i="0">
                <a:solidFill>
                  <a:srgbClr val="677B89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77B89"/>
                </a:solidFill>
                <a:latin typeface="Arial"/>
                <a:ea typeface="Arial"/>
                <a:cs typeface="Arial"/>
              </a:rPr>
              <a:t>Full probabilities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A940EB-0A86-4E94-8CD9-1514BC9E1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762375"/>
            <a:ext cx="0" cy="2571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83A5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0A254B-055E-4A28-89E5-2E00B9E43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19087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4EF"/>
          </a:solidFill>
          <a:ln xmlns:a="http://schemas.openxmlformats.org/drawingml/2006/main" w="38100">
            <a:solidFill>
              <a:srgbClr val="0A7C82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A7C8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A7C8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5C212E-0494-41AE-841A-A7D1115D9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0764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83A56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83A56"/>
                </a:solidFill>
                <a:latin typeface="Arial"/>
                <a:ea typeface="Arial"/>
                <a:cs typeface="Arial"/>
              </a:rPr>
              <a:t>Vehicle split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5713DD-545E-4150-A905-1C28AFFB9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457450"/>
            <a:ext cx="161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482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77B89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77B89"/>
                </a:solidFill>
                <a:latin typeface="Arial"/>
                <a:ea typeface="Arial"/>
                <a:cs typeface="Arial"/>
              </a:rPr>
              <a:t>Leakage control</a:t>
            </a:r>
          </a:p>
          <a:p xmlns:a="http://schemas.openxmlformats.org/drawingml/2006/main">
            <a:pPr algn="ctr">
              <a:defRPr sz="1050" b="0" i="0">
                <a:solidFill>
                  <a:srgbClr val="677B89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77B89"/>
                </a:solidFill>
                <a:latin typeface="Arial"/>
                <a:ea typeface="Arial"/>
                <a:cs typeface="Arial"/>
              </a:rPr>
              <a:t>Vehicle-aware validation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592741-1E8B-4749-A16B-A869BDEC4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914650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A7C82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637E40-0E95-4340-97FF-F0DBC24AD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319087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4EF"/>
          </a:solidFill>
          <a:ln xmlns:a="http://schemas.openxmlformats.org/drawingml/2006/main" w="38100">
            <a:solidFill>
              <a:srgbClr val="41A5A1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41A5A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1A5A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D65CDCE-03FD-4FB9-A7CC-CE83D4F5D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0576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425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83A56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83A56"/>
                </a:solidFill>
                <a:latin typeface="Arial"/>
                <a:ea typeface="Arial"/>
                <a:cs typeface="Arial"/>
              </a:rPr>
              <a:t>Temporal features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187A627-E400-404F-9C8E-1C38EB1C5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438650"/>
            <a:ext cx="161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77B89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77B89"/>
                </a:solidFill>
                <a:latin typeface="Arial"/>
                <a:ea typeface="Arial"/>
                <a:cs typeface="Arial"/>
              </a:rPr>
              <a:t>Rates + changes</a:t>
            </a:r>
          </a:p>
          <a:p xmlns:a="http://schemas.openxmlformats.org/drawingml/2006/main">
            <a:pPr algn="ctr">
              <a:defRPr sz="1050" b="0" i="0">
                <a:solidFill>
                  <a:srgbClr val="677B89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77B89"/>
                </a:solidFill>
                <a:latin typeface="Arial"/>
                <a:ea typeface="Arial"/>
                <a:cs typeface="Arial"/>
              </a:rPr>
              <a:t>Past-only history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015FB58-5CCA-449D-B67B-90321380A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762375"/>
            <a:ext cx="0" cy="2571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41A5A1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7C9DD0E-6A1E-4EAC-AEC8-58F47220B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19087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4EF"/>
          </a:solidFill>
          <a:ln xmlns:a="http://schemas.openxmlformats.org/drawingml/2006/main" w="38100">
            <a:solidFill>
              <a:srgbClr val="C28B2C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C28B2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C28B2C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EF4CD71-7AE8-4ED7-93A5-9BC0204EA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20764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83A56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83A56"/>
                </a:solidFill>
                <a:latin typeface="Arial"/>
                <a:ea typeface="Arial"/>
                <a:cs typeface="Arial"/>
              </a:rPr>
              <a:t>Policy trials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1C9BA8E-B693-4062-A381-F8A281642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2457450"/>
            <a:ext cx="161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77B89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77B89"/>
                </a:solidFill>
                <a:latin typeface="Arial"/>
                <a:ea typeface="Arial"/>
                <a:cs typeface="Arial"/>
              </a:rPr>
              <a:t>Calibration + capacity</a:t>
            </a:r>
          </a:p>
          <a:p xmlns:a="http://schemas.openxmlformats.org/drawingml/2006/main">
            <a:pPr algn="ctr">
              <a:defRPr sz="1050" b="0" i="0">
                <a:solidFill>
                  <a:srgbClr val="677B89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77B89"/>
                </a:solidFill>
                <a:latin typeface="Arial"/>
                <a:ea typeface="Arial"/>
                <a:cs typeface="Arial"/>
              </a:rPr>
              <a:t>Cost later removed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85E9532-5A79-4F2D-B06B-77DA821F5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914650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28B2C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2C1943A-88B9-4702-934F-F08072BF4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4675" y="319087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4EF"/>
          </a:solidFill>
          <a:ln xmlns:a="http://schemas.openxmlformats.org/drawingml/2006/main" w="38100">
            <a:solidFill>
              <a:srgbClr val="5D4DB7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D4DB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D4DB7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026ED3F-3CB2-4214-90BF-8552418F3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40576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83A56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83A56"/>
                </a:solidFill>
                <a:latin typeface="Arial"/>
                <a:ea typeface="Arial"/>
                <a:cs typeface="Arial"/>
              </a:rPr>
              <a:t>Final search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B0FB7C7-9AC7-4EA5-8641-9D5D74F15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4438650"/>
            <a:ext cx="161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77B89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77B89"/>
                </a:solidFill>
                <a:latin typeface="Arial"/>
                <a:ea typeface="Arial"/>
                <a:cs typeface="Arial"/>
              </a:rPr>
              <a:t>25 combinations</a:t>
            </a:r>
          </a:p>
          <a:p xmlns:a="http://schemas.openxmlformats.org/drawingml/2006/main">
            <a:pPr algn="ctr">
              <a:defRPr sz="1050" b="0" i="0">
                <a:solidFill>
                  <a:srgbClr val="677B89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77B89"/>
                </a:solidFill>
                <a:latin typeface="Arial"/>
                <a:ea typeface="Arial"/>
                <a:cs typeface="Arial"/>
              </a:rPr>
              <a:t>Two winners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2F3BE98-66BC-4E7E-9536-B330837D5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3762375"/>
            <a:ext cx="0" cy="2571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5D4DB7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991875A-30C9-40FC-9FB8-CB2EBB1BF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410200"/>
            <a:ext cx="9096375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CE9F8"/>
          </a:solidFill>
          <a:ln xmlns:a="http://schemas.openxmlformats.org/drawingml/2006/main" w="11430">
            <a:solidFill>
              <a:srgbClr val="5D4DB7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2CF327A-623D-400F-AEEB-426A890CE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5054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D4DB7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D4DB7"/>
                </a:solidFill>
                <a:latin typeface="Arial"/>
                <a:ea typeface="Arial"/>
                <a:cs typeface="Arial"/>
              </a:rPr>
              <a:t>FINAL DESIGN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A639829-DD38-4CE6-A47F-05BC5B2F4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695950"/>
            <a:ext cx="847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83A56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83A56"/>
                </a:solidFill>
                <a:latin typeface="Arial"/>
                <a:ea typeface="Arial"/>
                <a:cs typeface="Arial"/>
              </a:rPr>
              <a:t>XGBoost + vehicle-aware history + past-only temporal features + no-cost model selection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1F16A10-75CA-4B8A-A393-2F785246F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67475"/>
            <a:ext cx="10839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3D6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230D20C-8222-41FB-98DD-16B0249E7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77B89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77B89"/>
                </a:solidFill>
                <a:latin typeface="Arial"/>
                <a:ea typeface="Arial"/>
                <a:cs typeface="Arial"/>
              </a:rPr>
              <a:t>NUS Intelligent Reasoning Systems  /  FleetCare AI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E3B4DD6-345D-441F-B3C8-6DBCEE744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151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183A56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183A56"/>
                </a:solidFill>
                <a:latin typeface="Arial"/>
                <a:ea typeface="Arial"/>
                <a:cs typeface="Arial"/>
              </a:rPr>
              <a:t>02 / 06</a:t>
            </a:r>
          </a:p>
        </p:txBody>
      </p:sp>
    </p:spTree>
    <p:extLst>
      <p:ext uri="{BB962C8B-B14F-4D97-AF65-F5344CB8AC3E}">
        <p14:creationId xmlns:p14="http://schemas.microsoft.com/office/powerpoint/2010/main" val="61763737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72CF3A1-4EB7-4529-8ABF-B6A383E3F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619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30"/>
          </a:solidFill>
          <a:ln xmlns:a="http://schemas.openxmlformats.org/drawingml/2006/main" w="9525">
            <a:solidFill>
              <a:srgbClr val="122330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7CF80B-111B-489E-9705-5E96AC78A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" y="1885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26C"/>
          </a:solidFill>
          <a:ln xmlns:a="http://schemas.openxmlformats.org/drawingml/2006/main" w="9525">
            <a:solidFill>
              <a:srgbClr val="52626C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D24CF2-0330-42B5-8205-06F53C2E9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" y="2400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26C"/>
          </a:solidFill>
          <a:ln xmlns:a="http://schemas.openxmlformats.org/drawingml/2006/main" w="9525">
            <a:solidFill>
              <a:srgbClr val="52626C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E5C0F7-885A-4BDF-921C-813A0C3F1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" y="29146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A5A1"/>
          </a:solidFill>
          <a:ln xmlns:a="http://schemas.openxmlformats.org/drawingml/2006/main" w="9525">
            <a:solidFill>
              <a:srgbClr val="41A5A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7AD9DB-722E-4E82-96C1-DB66D798B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2733675"/>
            <a:ext cx="304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9259"/>
          </a:bodyPr>
          <a:lstStyle xmlns:a="http://schemas.openxmlformats.org/drawingml/2006/main"/>
          <a:p xmlns:a="http://schemas.openxmlformats.org/drawingml/2006/main">
            <a:pPr algn="ctr">
              <a:defRPr sz="6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CBA323-0A3F-43A4-BF54-86B700B44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" y="3429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26C"/>
          </a:solidFill>
          <a:ln xmlns:a="http://schemas.openxmlformats.org/drawingml/2006/main" w="9525">
            <a:solidFill>
              <a:srgbClr val="52626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263D83-0FFC-48B2-9F2B-3F473E3A3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" y="3943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26C"/>
          </a:solidFill>
          <a:ln xmlns:a="http://schemas.openxmlformats.org/drawingml/2006/main" w="9525">
            <a:solidFill>
              <a:srgbClr val="52626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4E257D-B14C-4FC4-A064-DA369CF9F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" y="4457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26C"/>
          </a:solidFill>
          <a:ln xmlns:a="http://schemas.openxmlformats.org/drawingml/2006/main" w="9525">
            <a:solidFill>
              <a:srgbClr val="52626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1CA590-79EE-421D-A7CA-F7123AF02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A7C82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A7C82"/>
                </a:solidFill>
                <a:latin typeface="Arial"/>
                <a:ea typeface="Arial"/>
                <a:cs typeface="Arial"/>
              </a:rPr>
              <a:t>FLEETCARE AI  /  MODEL SELECTION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14472A-B2D8-4C87-9741-D74BFF9D3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10839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999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22330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22330"/>
                </a:solidFill>
                <a:latin typeface="Arial"/>
                <a:ea typeface="Arial"/>
                <a:cs typeface="Arial"/>
              </a:rPr>
              <a:t>Twenty-five candidates narrowed to two models with different jobs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ED9918-5E94-4584-B1B5-6508E5534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77B89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77B89"/>
                </a:solidFill>
                <a:latin typeface="Arial"/>
                <a:ea typeface="Arial"/>
                <a:cs typeface="Arial"/>
              </a:rPr>
              <a:t>Feature design and parameter search were evaluated together, then checked across five random seeds.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A80826-B7AD-48C9-84E9-B5E8B3729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145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A7C82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A7C82"/>
                </a:solidFill>
                <a:latin typeface="Arial"/>
                <a:ea typeface="Arial"/>
                <a:cs typeface="Arial"/>
              </a:rPr>
              <a:t>FEATURE EVOLUTION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E852D3-6A97-4326-9CC2-8F4975C17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195262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4E9EB"/>
          </a:solidFill>
          <a:ln xmlns:a="http://schemas.openxmlformats.org/drawingml/2006/main" w="9525">
            <a:solidFill>
              <a:srgbClr val="677B89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1F03F4-A12C-4124-BB24-26CF69E02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57375"/>
            <a:ext cx="361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677B89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677B89"/>
                </a:solidFill>
                <a:latin typeface="Arial"/>
                <a:ea typeface="Arial"/>
                <a:cs typeface="Arial"/>
              </a:rPr>
              <a:t>F1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11CBA9-FF10-4D1A-B7C0-01C5F571B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857375"/>
            <a:ext cx="14573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83A56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83A56"/>
                </a:solidFill>
                <a:latin typeface="Arial"/>
                <a:ea typeface="Arial"/>
                <a:cs typeface="Arial"/>
              </a:rPr>
              <a:t>rates, all horizons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A561E9-FFD2-4AD4-AF36-E557322DA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33625"/>
            <a:ext cx="2266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4E9EB"/>
          </a:solidFill>
          <a:ln xmlns:a="http://schemas.openxmlformats.org/drawingml/2006/main" w="9525">
            <a:solidFill>
              <a:srgbClr val="677B89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2F32E3-0797-4159-B29A-61237994E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81250"/>
            <a:ext cx="361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677B89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677B89"/>
                </a:solidFill>
                <a:latin typeface="Arial"/>
                <a:ea typeface="Arial"/>
                <a:cs typeface="Arial"/>
              </a:rPr>
              <a:t>F2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499608-1907-4183-A4DE-8D6751847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381250"/>
            <a:ext cx="1771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83A56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83A56"/>
                </a:solidFill>
                <a:latin typeface="Arial"/>
                <a:ea typeface="Arial"/>
                <a:cs typeface="Arial"/>
              </a:rPr>
              <a:t>rates + changes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00E14C-B038-4308-AFFA-0BFCCC24B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57500"/>
            <a:ext cx="258127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DFF0EE"/>
          </a:solidFill>
          <a:ln xmlns:a="http://schemas.openxmlformats.org/drawingml/2006/main" w="9525">
            <a:solidFill>
              <a:srgbClr val="0A7C82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2E04D6-AAAF-48E3-AF98-98DE7BE81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05125"/>
            <a:ext cx="361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A7C82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A7C82"/>
                </a:solidFill>
                <a:latin typeface="Arial"/>
                <a:ea typeface="Arial"/>
                <a:cs typeface="Arial"/>
              </a:rPr>
              <a:t>F3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58C1B1-899D-4762-A2D2-2A1F6FAA2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05125"/>
            <a:ext cx="20859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83A56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83A56"/>
                </a:solidFill>
                <a:latin typeface="Arial"/>
                <a:ea typeface="Arial"/>
                <a:cs typeface="Arial"/>
              </a:rPr>
              <a:t>short rates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0E687A-9B3E-41A0-9B7F-A35C1F53C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81375"/>
            <a:ext cx="28956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4E9EB"/>
          </a:solidFill>
          <a:ln xmlns:a="http://schemas.openxmlformats.org/drawingml/2006/main" w="9525">
            <a:solidFill>
              <a:srgbClr val="677B89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9ED5A0-93D6-4674-9405-9F54BD450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29000"/>
            <a:ext cx="361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677B89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677B89"/>
                </a:solidFill>
                <a:latin typeface="Arial"/>
                <a:ea typeface="Arial"/>
                <a:cs typeface="Arial"/>
              </a:rPr>
              <a:t>F4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45F49A-7404-4D59-9062-2902709E1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429000"/>
            <a:ext cx="2400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83A56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83A56"/>
                </a:solidFill>
                <a:latin typeface="Arial"/>
                <a:ea typeface="Arial"/>
                <a:cs typeface="Arial"/>
              </a:rPr>
              <a:t>long rates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F62729-02E2-4E3C-A2C6-DD53C79D4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05250"/>
            <a:ext cx="320992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CE9F8"/>
          </a:solidFill>
          <a:ln xmlns:a="http://schemas.openxmlformats.org/drawingml/2006/main" w="19050">
            <a:solidFill>
              <a:srgbClr val="5D4DB7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F188F4E-C4EA-413A-85B4-B57FC8162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52875"/>
            <a:ext cx="361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5D4DB7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D4DB7"/>
                </a:solidFill>
                <a:latin typeface="Arial"/>
                <a:ea typeface="Arial"/>
                <a:cs typeface="Arial"/>
              </a:rPr>
              <a:t>F5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32201FB-ECC8-4412-9EDC-C6999E344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952875"/>
            <a:ext cx="2714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83A56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83A56"/>
                </a:solidFill>
                <a:latin typeface="Arial"/>
                <a:ea typeface="Arial"/>
                <a:cs typeface="Arial"/>
              </a:rPr>
              <a:t>all rates + short changes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38EADD7-77C9-41B0-8EBD-BBB1A5255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7145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A7C82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A7C82"/>
                </a:solidFill>
                <a:latin typeface="Arial"/>
                <a:ea typeface="Arial"/>
                <a:cs typeface="Arial"/>
              </a:rPr>
              <a:t>PARAMETER FAMILIES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32BC349-4F3A-43B0-95DE-89CF16657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476500"/>
            <a:ext cx="0" cy="2238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AD3D6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F717E24-F764-4FB3-AEF4-12241217F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381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E9EB"/>
          </a:solidFill>
          <a:ln xmlns:a="http://schemas.openxmlformats.org/drawingml/2006/main" w="9525">
            <a:solidFill>
              <a:srgbClr val="677B89"/>
            </a:solidFill>
          </a:ln>
        </p:spPr>
        <p:txBody>
          <a:bodyPr xmlns:a="http://schemas.openxmlformats.org/drawingml/2006/main" anchor="ctr">
            <a:normAutofit fontScale="55055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77B8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77B89"/>
                </a:solidFill>
                <a:latin typeface="Arial"/>
                <a:ea typeface="Arial"/>
                <a:cs typeface="Arial"/>
              </a:rPr>
              <a:t>P1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1D0A60E-41BC-465E-888E-71F22EE18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40982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77B89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77B89"/>
                </a:solidFill>
                <a:latin typeface="Arial"/>
                <a:ea typeface="Arial"/>
                <a:cs typeface="Arial"/>
              </a:rPr>
              <a:t>regularized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7B16804-57AE-48CE-8EFD-29988B6CF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90512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E9EB"/>
          </a:solidFill>
          <a:ln xmlns:a="http://schemas.openxmlformats.org/drawingml/2006/main" w="9525">
            <a:solidFill>
              <a:srgbClr val="677B89"/>
            </a:solidFill>
          </a:ln>
        </p:spPr>
        <p:txBody>
          <a:bodyPr xmlns:a="http://schemas.openxmlformats.org/drawingml/2006/main" anchor="ctr">
            <a:normAutofit fontScale="55055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77B8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77B89"/>
                </a:solidFill>
                <a:latin typeface="Arial"/>
                <a:ea typeface="Arial"/>
                <a:cs typeface="Arial"/>
              </a:rPr>
              <a:t>P2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4EDAF80-FAAB-4A7A-8E03-A2DE45FDC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9337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77B89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77B89"/>
                </a:solidFill>
                <a:latin typeface="Arial"/>
                <a:ea typeface="Arial"/>
                <a:cs typeface="Arial"/>
              </a:rPr>
              <a:t>shallow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A6F9106-7107-4D71-9B79-832968080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4290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4EF"/>
          </a:solidFill>
          <a:ln xmlns:a="http://schemas.openxmlformats.org/drawingml/2006/main" w="38100">
            <a:solidFill>
              <a:srgbClr val="0A7C82"/>
            </a:solidFill>
          </a:ln>
        </p:spPr>
        <p:txBody>
          <a:bodyPr xmlns:a="http://schemas.openxmlformats.org/drawingml/2006/main" anchor="ctr">
            <a:normAutofit fontScale="55055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A7C8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A7C82"/>
                </a:solidFill>
                <a:latin typeface="Arial"/>
                <a:ea typeface="Arial"/>
                <a:cs typeface="Arial"/>
              </a:rPr>
              <a:t>P3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094298F-E2A7-4C33-B13F-B73C33BD1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45757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A7C82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A7C82"/>
                </a:solidFill>
                <a:latin typeface="Arial"/>
                <a:ea typeface="Arial"/>
                <a:cs typeface="Arial"/>
              </a:rPr>
              <a:t>medium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741AAF6-B2AA-46F3-8B19-7DBC1E26D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95287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E9EB"/>
          </a:solidFill>
          <a:ln xmlns:a="http://schemas.openxmlformats.org/drawingml/2006/main" w="9525">
            <a:solidFill>
              <a:srgbClr val="677B89"/>
            </a:solidFill>
          </a:ln>
        </p:spPr>
        <p:txBody>
          <a:bodyPr xmlns:a="http://schemas.openxmlformats.org/drawingml/2006/main" anchor="ctr">
            <a:normAutofit fontScale="55055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77B8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77B89"/>
                </a:solidFill>
                <a:latin typeface="Arial"/>
                <a:ea typeface="Arial"/>
                <a:cs typeface="Arial"/>
              </a:rPr>
              <a:t>P4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8B2AE5C-D09A-4BE6-9088-0D5064910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9814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77B89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77B89"/>
                </a:solidFill>
                <a:latin typeface="Arial"/>
                <a:ea typeface="Arial"/>
                <a:cs typeface="Arial"/>
              </a:rPr>
              <a:t>very shallow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94B7989-B322-4F98-9C08-5E3D71CDE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4767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4EF"/>
          </a:solidFill>
          <a:ln xmlns:a="http://schemas.openxmlformats.org/drawingml/2006/main" w="38100">
            <a:solidFill>
              <a:srgbClr val="5D4DB7"/>
            </a:solidFill>
          </a:ln>
        </p:spPr>
        <p:txBody>
          <a:bodyPr xmlns:a="http://schemas.openxmlformats.org/drawingml/2006/main" anchor="ctr">
            <a:normAutofit fontScale="55055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D4DB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4DB7"/>
                </a:solidFill>
                <a:latin typeface="Arial"/>
                <a:ea typeface="Arial"/>
                <a:cs typeface="Arial"/>
              </a:rPr>
              <a:t>P5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4909C61-34D3-4B04-B376-DF9CD5932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50532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5D4DB7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D4DB7"/>
                </a:solidFill>
                <a:latin typeface="Arial"/>
                <a:ea typeface="Arial"/>
                <a:cs typeface="Arial"/>
              </a:rPr>
              <a:t>less regularized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F14329B-79F4-4106-BB02-8B2444CEA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924050"/>
            <a:ext cx="2952750" cy="857250"/>
          </a:xfrm>
          <a:prstGeom xmlns:a="http://schemas.openxmlformats.org/drawingml/2006/main" prst="trapezoid">
            <a:avLst/>
          </a:prstGeom>
          <a:solidFill xmlns:a="http://schemas.openxmlformats.org/drawingml/2006/main">
            <a:srgbClr val="E4E9EB"/>
          </a:solidFill>
          <a:ln xmlns:a="http://schemas.openxmlformats.org/drawingml/2006/main" w="9525">
            <a:solidFill>
              <a:srgbClr val="183A56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3A5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3A56"/>
                </a:solidFill>
                <a:latin typeface="Arial"/>
                <a:ea typeface="Arial"/>
                <a:cs typeface="Arial"/>
              </a:rPr>
              <a:t>25 combinations</a:t>
            </a:r>
          </a:p>
          <a:p xmlns:a="http://schemas.openxmlformats.org/drawingml/2006/main">
            <a:pPr algn="ctr">
              <a:defRPr sz="1500" b="1">
                <a:solidFill>
                  <a:srgbClr val="183A5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3A56"/>
                </a:solidFill>
                <a:latin typeface="Arial"/>
                <a:ea typeface="Arial"/>
                <a:cs typeface="Arial"/>
              </a:rPr>
              <a:t>initial screening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38D45A7-A87E-4D51-BD53-AA3C4E485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000375"/>
            <a:ext cx="2381250" cy="781050"/>
          </a:xfrm>
          <a:prstGeom xmlns:a="http://schemas.openxmlformats.org/drawingml/2006/main" prst="trapezoid">
            <a:avLst/>
          </a:prstGeom>
          <a:solidFill xmlns:a="http://schemas.openxmlformats.org/drawingml/2006/main">
            <a:srgbClr val="DFF0EE"/>
          </a:solidFill>
          <a:ln xmlns:a="http://schemas.openxmlformats.org/drawingml/2006/main" w="9525">
            <a:solidFill>
              <a:srgbClr val="0A7C82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A7C8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A7C82"/>
                </a:solidFill>
                <a:latin typeface="Arial"/>
                <a:ea typeface="Arial"/>
                <a:cs typeface="Arial"/>
              </a:rPr>
              <a:t>6 finalists</a:t>
            </a:r>
          </a:p>
          <a:p xmlns:a="http://schemas.openxmlformats.org/drawingml/2006/main">
            <a:pPr algn="ctr">
              <a:defRPr sz="1425" b="1">
                <a:solidFill>
                  <a:srgbClr val="0A7C8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A7C82"/>
                </a:solidFill>
                <a:latin typeface="Arial"/>
                <a:ea typeface="Arial"/>
                <a:cs typeface="Arial"/>
              </a:rPr>
              <a:t>5 random seeds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CAC51D3-CDD9-46BE-B5C9-499373065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000500"/>
            <a:ext cx="1809750" cy="723900"/>
          </a:xfrm>
          <a:prstGeom xmlns:a="http://schemas.openxmlformats.org/drawingml/2006/main" prst="trapezoid">
            <a:avLst/>
          </a:prstGeom>
          <a:solidFill xmlns:a="http://schemas.openxmlformats.org/drawingml/2006/main">
            <a:srgbClr val="ECE9F8"/>
          </a:solidFill>
          <a:ln xmlns:a="http://schemas.openxmlformats.org/drawingml/2006/main" w="9525">
            <a:solidFill>
              <a:srgbClr val="5D4DB7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5D4DB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D4DB7"/>
                </a:solidFill>
                <a:latin typeface="Arial"/>
                <a:ea typeface="Arial"/>
                <a:cs typeface="Arial"/>
              </a:rPr>
              <a:t>2 selected</a:t>
            </a:r>
          </a:p>
          <a:p xmlns:a="http://schemas.openxmlformats.org/drawingml/2006/main">
            <a:pPr algn="ctr">
              <a:defRPr sz="1425" b="1">
                <a:solidFill>
                  <a:srgbClr val="5D4DB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D4DB7"/>
                </a:solidFill>
                <a:latin typeface="Arial"/>
                <a:ea typeface="Arial"/>
                <a:cs typeface="Arial"/>
              </a:rPr>
              <a:t>models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8409F50-8F7E-46F6-9A0B-CAEBC539E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781300"/>
            <a:ext cx="0" cy="2190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A7C82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77632D5-E1C9-494E-9E2D-8350C8BE9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781425"/>
            <a:ext cx="0" cy="2190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D4DB7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EEA2080-C67F-45D5-8A1F-84E52ABFD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5219700"/>
            <a:ext cx="3143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DFF0EE"/>
          </a:solidFill>
          <a:ln xmlns:a="http://schemas.openxmlformats.org/drawingml/2006/main" w="14288">
            <a:solidFill>
              <a:srgbClr val="0A7C82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1368776-909D-464E-AFAC-0A4FBE552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314950"/>
            <a:ext cx="1381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A7C82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A7C82"/>
                </a:solidFill>
                <a:latin typeface="Arial"/>
                <a:ea typeface="Arial"/>
                <a:cs typeface="Arial"/>
              </a:rPr>
              <a:t>RISK RANKING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C2560B7-F8CF-47A7-9DFF-4542186A6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524500"/>
            <a:ext cx="2333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9048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83A56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83A56"/>
                </a:solidFill>
                <a:latin typeface="Arial"/>
                <a:ea typeface="Arial"/>
                <a:cs typeface="Arial"/>
              </a:rPr>
              <a:t>F5 + P3 medium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BD19D0A-493B-49B5-B4AF-496113D7E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791200"/>
            <a:ext cx="2619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77B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77B89"/>
                </a:solidFill>
                <a:latin typeface="Arial"/>
                <a:ea typeface="Arial"/>
                <a:cs typeface="Arial"/>
              </a:rPr>
              <a:t>Mean horizon AP  0.192 ± 0.014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DEBDFE3-DC8C-424D-8A5F-EF57A643E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219700"/>
            <a:ext cx="3143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CE9F8"/>
          </a:solidFill>
          <a:ln xmlns:a="http://schemas.openxmlformats.org/drawingml/2006/main" w="14288">
            <a:solidFill>
              <a:srgbClr val="5D4DB7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5042DF4-E10D-497B-834C-FF938A8CC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314950"/>
            <a:ext cx="1381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D4DB7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D4DB7"/>
                </a:solidFill>
                <a:latin typeface="Arial"/>
                <a:ea typeface="Arial"/>
                <a:cs typeface="Arial"/>
              </a:rPr>
              <a:t>FIVE-CLASS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39DC2CB-DBDD-4123-9124-E40B61507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524500"/>
            <a:ext cx="2714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5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83A5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83A56"/>
                </a:solidFill>
                <a:latin typeface="Arial"/>
                <a:ea typeface="Arial"/>
                <a:cs typeface="Arial"/>
              </a:rPr>
              <a:t>F5 + P5 less regularized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62456EA-0B2E-4F5F-A732-21EE9ACE4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791200"/>
            <a:ext cx="2619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77B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77B89"/>
                </a:solidFill>
                <a:latin typeface="Arial"/>
                <a:ea typeface="Arial"/>
                <a:cs typeface="Arial"/>
              </a:rPr>
              <a:t>Macro F1  0.202 ± 0.004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66302B0-4424-438B-8635-7082A505C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67475"/>
            <a:ext cx="10839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3D6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DF45256-F162-4B63-8050-5E216463C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77B89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77B89"/>
                </a:solidFill>
                <a:latin typeface="Arial"/>
                <a:ea typeface="Arial"/>
                <a:cs typeface="Arial"/>
              </a:rPr>
              <a:t>NUS Intelligent Reasoning Systems  /  FleetCare AI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A9B9DF7-1D82-469C-B800-3379764C9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151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183A56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183A56"/>
                </a:solidFill>
                <a:latin typeface="Arial"/>
                <a:ea typeface="Arial"/>
                <a:cs typeface="Arial"/>
              </a:rPr>
              <a:t>03 / 06</a:t>
            </a:r>
          </a:p>
        </p:txBody>
      </p:sp>
    </p:spTree>
    <p:extLst>
      <p:ext uri="{BB962C8B-B14F-4D97-AF65-F5344CB8AC3E}">
        <p14:creationId xmlns:p14="http://schemas.microsoft.com/office/powerpoint/2010/main" val="44215413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8563F44-9B3F-4AF9-96C0-F8E5DC80E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619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30"/>
          </a:solidFill>
          <a:ln xmlns:a="http://schemas.openxmlformats.org/drawingml/2006/main" w="9525">
            <a:solidFill>
              <a:srgbClr val="122330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3C609B-8299-4570-87DE-6F00C59AD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" y="1885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26C"/>
          </a:solidFill>
          <a:ln xmlns:a="http://schemas.openxmlformats.org/drawingml/2006/main" w="9525">
            <a:solidFill>
              <a:srgbClr val="52626C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FC3D50-0C81-4765-B167-965C5B41E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" y="2400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26C"/>
          </a:solidFill>
          <a:ln xmlns:a="http://schemas.openxmlformats.org/drawingml/2006/main" w="9525">
            <a:solidFill>
              <a:srgbClr val="52626C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8B1B51-0599-4122-8816-195D3B015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" y="29146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26C"/>
          </a:solidFill>
          <a:ln xmlns:a="http://schemas.openxmlformats.org/drawingml/2006/main" w="9525">
            <a:solidFill>
              <a:srgbClr val="52626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0177C5-27BD-4C5C-B584-A77196847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" y="3429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A5A1"/>
          </a:solidFill>
          <a:ln xmlns:a="http://schemas.openxmlformats.org/drawingml/2006/main" w="9525">
            <a:solidFill>
              <a:srgbClr val="41A5A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9F7194-319D-4467-BBB0-A78C6F71E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3248025"/>
            <a:ext cx="304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9259"/>
          </a:bodyPr>
          <a:lstStyle xmlns:a="http://schemas.openxmlformats.org/drawingml/2006/main"/>
          <a:p xmlns:a="http://schemas.openxmlformats.org/drawingml/2006/main">
            <a:pPr algn="ctr">
              <a:defRPr sz="6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C88694-7DD7-46EE-82F2-9A002CC4C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" y="3943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26C"/>
          </a:solidFill>
          <a:ln xmlns:a="http://schemas.openxmlformats.org/drawingml/2006/main" w="9525">
            <a:solidFill>
              <a:srgbClr val="52626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723325-E11B-4191-A339-D2723FA13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" y="4457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26C"/>
          </a:solidFill>
          <a:ln xmlns:a="http://schemas.openxmlformats.org/drawingml/2006/main" w="9525">
            <a:solidFill>
              <a:srgbClr val="52626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A43CEF-86CD-453B-94E6-574EB39F0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A7C82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A7C82"/>
                </a:solidFill>
                <a:latin typeface="Arial"/>
                <a:ea typeface="Arial"/>
                <a:cs typeface="Arial"/>
              </a:rPr>
              <a:t>FLEETCARE AI  /  MODEL EVALUATION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995FE5-0A75-433A-B4A1-074ADC706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10839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22330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22330"/>
                </a:solidFill>
                <a:latin typeface="Arial"/>
                <a:ea typeface="Arial"/>
                <a:cs typeface="Arial"/>
              </a:rPr>
              <a:t>High accuracy hides the minority-class challenge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602AA3-7584-451A-8515-6773EEF2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77B89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77B89"/>
                </a:solidFill>
                <a:latin typeface="Arial"/>
                <a:ea typeface="Arial"/>
                <a:cs typeface="Arial"/>
              </a:rPr>
              <a:t>PolicyDev selected the models; Official Validation remained an independent diagnostic.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44AF4A-8B22-4132-8F05-21462C6DB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1295400" cy="1295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0EE"/>
          </a:solidFill>
          <a:ln xmlns:a="http://schemas.openxmlformats.org/drawingml/2006/main" w="19050">
            <a:solidFill>
              <a:srgbClr val="0A7C82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A7C8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A7C82"/>
                </a:solidFill>
                <a:latin typeface="Arial"/>
                <a:ea typeface="Arial"/>
                <a:cs typeface="Arial"/>
              </a:rPr>
              <a:t>SELECT</a:t>
            </a:r>
          </a:p>
          <a:p xmlns:a="http://schemas.openxmlformats.org/drawingml/2006/main">
            <a:pPr algn="ctr">
              <a:defRPr sz="1350" b="1">
                <a:solidFill>
                  <a:srgbClr val="0A7C8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A7C82"/>
                </a:solidFill>
                <a:latin typeface="Arial"/>
                <a:ea typeface="Arial"/>
                <a:cs typeface="Arial"/>
              </a:rPr>
              <a:t>PolicyDev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CA09C4-CF78-4F37-9856-AA44EE933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457450"/>
            <a:ext cx="1000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A7C82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A829A2-4783-43E2-9A32-C8D100340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1809750"/>
            <a:ext cx="1295400" cy="1295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CE9F8"/>
          </a:solidFill>
          <a:ln xmlns:a="http://schemas.openxmlformats.org/drawingml/2006/main" w="19050">
            <a:solidFill>
              <a:srgbClr val="5D4DB7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D4DB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D4DB7"/>
                </a:solidFill>
                <a:latin typeface="Arial"/>
                <a:ea typeface="Arial"/>
                <a:cs typeface="Arial"/>
              </a:rPr>
              <a:t>AUDIT</a:t>
            </a:r>
          </a:p>
          <a:p xmlns:a="http://schemas.openxmlformats.org/drawingml/2006/main">
            <a:pPr algn="ctr">
              <a:defRPr sz="1275" b="1">
                <a:solidFill>
                  <a:srgbClr val="5D4DB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D4DB7"/>
                </a:solidFill>
                <a:latin typeface="Arial"/>
                <a:ea typeface="Arial"/>
                <a:cs typeface="Arial"/>
              </a:rPr>
              <a:t>Official Validation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64CF72-EC8A-4BB2-9DD5-64B27A5FF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1945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77B89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77B89"/>
                </a:solidFill>
                <a:latin typeface="Arial"/>
                <a:ea typeface="Arial"/>
                <a:cs typeface="Arial"/>
              </a:rPr>
              <a:t>Selection and validation answer different questions</a:t>
            </a:r>
          </a:p>
        </p:txBody>
      </p:sp>
      <p:graphicFrame>
        <p:nvGraphicFramePr>
          <p:cNvPr id="50" name="Chart"/>
          <p:cNvGraphicFramePr/>
          <p:nvPr/>
        </p:nvGraphicFramePr>
        <p:xfrm>
          <a:off xmlns:a="http://schemas.openxmlformats.org/drawingml/2006/main" x="5000625" y="1676400"/>
          <a:ext xmlns:a="http://schemas.openxmlformats.org/drawingml/2006/main" cx="6286500" cy="31242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ab1ec122d0c4a04"/>
          </a:graphicData>
        </a:graphic>
      </p:graphicFrame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199DE5-6F76-4CE1-88C4-5D1D8A946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15811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83A5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83A56"/>
                </a:solidFill>
                <a:latin typeface="Arial"/>
                <a:ea typeface="Arial"/>
                <a:cs typeface="Arial"/>
              </a:rPr>
              <a:t>Official Validation, five-seed mean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A5D435-5617-4E9F-A1C5-9E0252E11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72050"/>
            <a:ext cx="1619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561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D9634B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D9634B"/>
                </a:solidFill>
                <a:latin typeface="Arial"/>
                <a:ea typeface="Arial"/>
                <a:cs typeface="Arial"/>
              </a:rPr>
              <a:t>0.970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8DAE28-5EC5-45BB-842F-BBB653F20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864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83A56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83A56"/>
                </a:solidFill>
                <a:latin typeface="Arial"/>
                <a:ea typeface="Arial"/>
                <a:cs typeface="Arial"/>
              </a:rPr>
              <a:t>Accuracy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0F5A2A-DBA8-41EF-97A7-C0AB6BB67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77B89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77B89"/>
                </a:solidFill>
                <a:latin typeface="Arial"/>
                <a:ea typeface="Arial"/>
                <a:cs typeface="Arial"/>
              </a:rPr>
              <a:t>Dominated by C0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352861-C0FC-47E4-903C-2C9BF6707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5038725"/>
            <a:ext cx="0" cy="828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3D6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74952F-AC0C-4207-8F6C-D2FC0D7D0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972050"/>
            <a:ext cx="1619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561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5D4DB7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5D4DB7"/>
                </a:solidFill>
                <a:latin typeface="Arial"/>
                <a:ea typeface="Arial"/>
                <a:cs typeface="Arial"/>
              </a:rPr>
              <a:t>0.203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7DD5BA-DDF2-42A5-9B90-6714FFC16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4864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83A56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83A56"/>
                </a:solidFill>
                <a:latin typeface="Arial"/>
                <a:ea typeface="Arial"/>
                <a:cs typeface="Arial"/>
              </a:rPr>
              <a:t>Macro F1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FF09C0-A7DD-4154-9405-8FAB87E9D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71500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77B89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77B89"/>
                </a:solidFill>
                <a:latin typeface="Arial"/>
                <a:ea typeface="Arial"/>
                <a:cs typeface="Arial"/>
              </a:rPr>
              <a:t>Five-class balance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85DC3B-AAD7-4DFE-B474-428B0D6F5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5038725"/>
            <a:ext cx="0" cy="828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3D6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7A6655-E752-4C1A-BF5C-D0CF07798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972050"/>
            <a:ext cx="1619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561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A7C82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0A7C82"/>
                </a:solidFill>
                <a:latin typeface="Arial"/>
                <a:ea typeface="Arial"/>
                <a:cs typeface="Arial"/>
              </a:rPr>
              <a:t>0.043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A8EC8FF-A67F-4135-9FFA-2C12A18C6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4864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83A56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83A56"/>
                </a:solidFill>
                <a:latin typeface="Arial"/>
                <a:ea typeface="Arial"/>
                <a:cs typeface="Arial"/>
              </a:rPr>
              <a:t>Mean horizon AP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06635A4-9158-46FE-8804-3C1EBC717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71500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77B89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77B89"/>
                </a:solidFill>
                <a:latin typeface="Arial"/>
                <a:ea typeface="Arial"/>
                <a:cs typeface="Arial"/>
              </a:rPr>
              <a:t>Minority-risk ranking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4182660-0829-4F1E-A674-1FFFACF80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5010150"/>
            <a:ext cx="2095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7EDD8"/>
          </a:solidFill>
          <a:ln xmlns:a="http://schemas.openxmlformats.org/drawingml/2006/main" w="9525">
            <a:solidFill>
              <a:srgbClr val="C28B2C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A1E0F58-98FF-4446-BCEA-742CD1032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5114925"/>
            <a:ext cx="1666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C28B2C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C28B2C"/>
                </a:solidFill>
                <a:latin typeface="Arial"/>
                <a:ea typeface="Arial"/>
                <a:cs typeface="Arial"/>
              </a:rPr>
              <a:t>READ THIS FIRST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11ABD65-09E8-4463-A67A-5E5AECA52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5343525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241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83A56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83A56"/>
                </a:solidFill>
                <a:latin typeface="Arial"/>
                <a:ea typeface="Arial"/>
                <a:cs typeface="Arial"/>
              </a:rPr>
              <a:t>Macro F1 and horizon AP</a:t>
            </a:r>
          </a:p>
          <a:p xmlns:a="http://schemas.openxmlformats.org/drawingml/2006/main">
            <a:pPr algn="l">
              <a:defRPr sz="1200" b="1" i="0">
                <a:solidFill>
                  <a:srgbClr val="183A56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83A56"/>
                </a:solidFill>
                <a:latin typeface="Arial"/>
                <a:ea typeface="Arial"/>
                <a:cs typeface="Arial"/>
              </a:rPr>
              <a:t>carry the decision signal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78F369C-F2DA-4B4C-BD2D-E56499FFD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67475"/>
            <a:ext cx="10839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3D6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CD02779-B3AE-44A5-B4B8-011FA66B0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77B89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77B89"/>
                </a:solidFill>
                <a:latin typeface="Arial"/>
                <a:ea typeface="Arial"/>
                <a:cs typeface="Arial"/>
              </a:rPr>
              <a:t>NUS Intelligent Reasoning Systems  /  FleetCare AI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99C8FE9-E6A0-4093-BDE4-928201EA4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151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183A56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183A56"/>
                </a:solidFill>
                <a:latin typeface="Arial"/>
                <a:ea typeface="Arial"/>
                <a:cs typeface="Arial"/>
              </a:rPr>
              <a:t>04 / 06</a:t>
            </a:r>
          </a:p>
        </p:txBody>
      </p:sp>
    </p:spTree>
    <p:extLst>
      <p:ext uri="{BB962C8B-B14F-4D97-AF65-F5344CB8AC3E}">
        <p14:creationId xmlns:p14="http://schemas.microsoft.com/office/powerpoint/2010/main" val="32734165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EF35D63-E94D-45C4-A13F-995C2DE48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619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30"/>
          </a:solidFill>
          <a:ln xmlns:a="http://schemas.openxmlformats.org/drawingml/2006/main" w="9525">
            <a:solidFill>
              <a:srgbClr val="122330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44A03E-DAC5-4152-9AA4-14C4E3717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" y="1885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26C"/>
          </a:solidFill>
          <a:ln xmlns:a="http://schemas.openxmlformats.org/drawingml/2006/main" w="9525">
            <a:solidFill>
              <a:srgbClr val="52626C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B5B864-32B9-477D-A565-28F936A28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" y="2400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26C"/>
          </a:solidFill>
          <a:ln xmlns:a="http://schemas.openxmlformats.org/drawingml/2006/main" w="9525">
            <a:solidFill>
              <a:srgbClr val="52626C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279109-96A6-4CBA-A39F-C28CAE89F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" y="29146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26C"/>
          </a:solidFill>
          <a:ln xmlns:a="http://schemas.openxmlformats.org/drawingml/2006/main" w="9525">
            <a:solidFill>
              <a:srgbClr val="52626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9B53F3-43A5-4E42-9E58-BA58DD59C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" y="3429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26C"/>
          </a:solidFill>
          <a:ln xmlns:a="http://schemas.openxmlformats.org/drawingml/2006/main" w="9525">
            <a:solidFill>
              <a:srgbClr val="52626C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AE70E5-2CD1-46D6-AA09-E8396461F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" y="3943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A5A1"/>
          </a:solidFill>
          <a:ln xmlns:a="http://schemas.openxmlformats.org/drawingml/2006/main" w="9525">
            <a:solidFill>
              <a:srgbClr val="41A5A1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B3B9E6-C46D-43C7-AFCA-E734DE4B8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3762375"/>
            <a:ext cx="304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9259"/>
          </a:bodyPr>
          <a:lstStyle xmlns:a="http://schemas.openxmlformats.org/drawingml/2006/main"/>
          <a:p xmlns:a="http://schemas.openxmlformats.org/drawingml/2006/main">
            <a:pPr algn="ctr">
              <a:defRPr sz="6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F4CA47-E8DD-449B-AD02-7D5EBE426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" y="4457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26C"/>
          </a:solidFill>
          <a:ln xmlns:a="http://schemas.openxmlformats.org/drawingml/2006/main" w="9525">
            <a:solidFill>
              <a:srgbClr val="52626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12CD19-414D-4C0D-BB72-97F2381B1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A7C82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A7C82"/>
                </a:solidFill>
                <a:latin typeface="Arial"/>
                <a:ea typeface="Arial"/>
                <a:cs typeface="Arial"/>
              </a:rPr>
              <a:t>FLEETCARE AI  /  RULE ENGINE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E96A2E-5584-4900-8D28-4B4877C9E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10839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23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22330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22330"/>
                </a:solidFill>
                <a:latin typeface="Arial"/>
                <a:ea typeface="Arial"/>
                <a:cs typeface="Arial"/>
              </a:rPr>
              <a:t>Three gates prevent unstable predictions from becoming maintenance actions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E09531-2404-4727-88C1-B9F5DBB1B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77B89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77B89"/>
                </a:solidFill>
                <a:latin typeface="Arial"/>
                <a:ea typeface="Arial"/>
                <a:cs typeface="Arial"/>
              </a:rPr>
              <a:t>Data sufficiency and confidence checks run before the risk-severity ladder.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D4590C-E176-4489-8A13-B2935E6A2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667000"/>
            <a:ext cx="647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CAD3D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29AD39-8A7F-4AEB-A820-EA89C2295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3050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4EF"/>
          </a:solidFill>
          <a:ln xmlns:a="http://schemas.openxmlformats.org/drawingml/2006/main" w="47625">
            <a:solidFill>
              <a:srgbClr val="0A7C82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A7C8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A7C8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5C0956-D99E-4CF7-B8C2-81495A166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1809750"/>
            <a:ext cx="990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A7C82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A7C82"/>
                </a:solidFill>
                <a:latin typeface="Arial"/>
                <a:ea typeface="Arial"/>
                <a:cs typeface="Arial"/>
              </a:rPr>
              <a:t>HISTORY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8BF75F-D499-4A74-BD3E-D981B3886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181350"/>
            <a:ext cx="171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77B89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77B89"/>
                </a:solidFill>
                <a:latin typeface="Arial"/>
                <a:ea typeface="Arial"/>
                <a:cs typeface="Arial"/>
              </a:rPr>
              <a:t>One readout?</a:t>
            </a:r>
          </a:p>
          <a:p xmlns:a="http://schemas.openxmlformats.org/drawingml/2006/main">
            <a:pPr algn="ctr">
              <a:defRPr sz="1050" b="0" i="0">
                <a:solidFill>
                  <a:srgbClr val="677B89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77B89"/>
                </a:solidFill>
                <a:latin typeface="Arial"/>
                <a:ea typeface="Arial"/>
                <a:cs typeface="Arial"/>
              </a:rPr>
              <a:t>C3/C4 with &lt;3 history?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A2B028-EB0C-474D-9AFE-A202D9415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3050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4EF"/>
          </a:solidFill>
          <a:ln xmlns:a="http://schemas.openxmlformats.org/drawingml/2006/main" w="47625">
            <a:solidFill>
              <a:srgbClr val="5D4DB7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5D4DB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D4DB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62A18B-590C-4487-A796-F1EC82758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1809750"/>
            <a:ext cx="990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5D4DB7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4DB7"/>
                </a:solidFill>
                <a:latin typeface="Arial"/>
                <a:ea typeface="Arial"/>
                <a:cs typeface="Arial"/>
              </a:rPr>
              <a:t>STABILITY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564BF1-161D-4A2D-BB84-C68A67BC2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3181350"/>
            <a:ext cx="171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77B89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77B89"/>
                </a:solidFill>
                <a:latin typeface="Arial"/>
                <a:ea typeface="Arial"/>
                <a:cs typeface="Arial"/>
              </a:rPr>
              <a:t>Low confidence?</a:t>
            </a:r>
          </a:p>
          <a:p xmlns:a="http://schemas.openxmlformats.org/drawingml/2006/main">
            <a:pPr algn="ctr">
              <a:defRPr sz="1050" b="0" i="0">
                <a:solidFill>
                  <a:srgbClr val="677B89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77B89"/>
                </a:solidFill>
                <a:latin typeface="Arial"/>
                <a:ea typeface="Arial"/>
                <a:cs typeface="Arial"/>
              </a:rPr>
              <a:t>Repeated large jumps?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8840D7-2EF8-4B4E-9616-B3A18773F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3050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4EF"/>
          </a:solidFill>
          <a:ln xmlns:a="http://schemas.openxmlformats.org/drawingml/2006/main" w="47625">
            <a:solidFill>
              <a:srgbClr val="D9634B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D9634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9634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D30BA1-ADB0-4938-AD8C-774F6FE4C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1809750"/>
            <a:ext cx="990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D9634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D9634B"/>
                </a:solidFill>
                <a:latin typeface="Arial"/>
                <a:ea typeface="Arial"/>
                <a:cs typeface="Arial"/>
              </a:rPr>
              <a:t>RISK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A5AFD2-4DAF-49F2-BF9E-34EFE343F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3181350"/>
            <a:ext cx="171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77B89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77B89"/>
                </a:solidFill>
                <a:latin typeface="Arial"/>
                <a:ea typeface="Arial"/>
                <a:cs typeface="Arial"/>
              </a:rPr>
              <a:t>Class + horizon risk</a:t>
            </a:r>
          </a:p>
          <a:p xmlns:a="http://schemas.openxmlformats.org/drawingml/2006/main">
            <a:pPr algn="ctr">
              <a:defRPr sz="1050" b="0" i="0">
                <a:solidFill>
                  <a:srgbClr val="677B89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77B89"/>
                </a:solidFill>
                <a:latin typeface="Arial"/>
                <a:ea typeface="Arial"/>
                <a:cs typeface="Arial"/>
              </a:rPr>
              <a:t>+ recent trend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6206D0-4891-425C-8F5E-A7E8F45DF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66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032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83A5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83A56"/>
                </a:solidFill>
                <a:latin typeface="Arial"/>
                <a:ea typeface="Arial"/>
                <a:cs typeface="Arial"/>
              </a:rPr>
              <a:t>MODEL</a:t>
            </a:r>
          </a:p>
          <a:p xmlns:a="http://schemas.openxmlformats.org/drawingml/2006/main">
            <a:pPr algn="ctr">
              <a:defRPr sz="1050" b="1" i="0">
                <a:solidFill>
                  <a:srgbClr val="183A5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83A56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3A1FAE8-28AF-440D-B1BB-C2F5224A5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343150"/>
            <a:ext cx="66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032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D9634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D9634B"/>
                </a:solidFill>
                <a:latin typeface="Arial"/>
                <a:ea typeface="Arial"/>
                <a:cs typeface="Arial"/>
              </a:rPr>
              <a:t>ACTION</a:t>
            </a:r>
          </a:p>
          <a:p xmlns:a="http://schemas.openxmlformats.org/drawingml/2006/main">
            <a:pPr algn="ctr">
              <a:defRPr sz="1050" b="1" i="0">
                <a:solidFill>
                  <a:srgbClr val="D9634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D9634B"/>
                </a:solidFill>
                <a:latin typeface="Arial"/>
                <a:ea typeface="Arial"/>
                <a:cs typeface="Arial"/>
              </a:rPr>
              <a:t>PATH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898DDE6-70D9-4B6F-9A3A-FA0B9E4E8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3028950"/>
            <a:ext cx="0" cy="11334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A7C82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1DF20D-22DE-4C12-B83F-74097A015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62425"/>
            <a:ext cx="19240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FF0EE"/>
          </a:solidFill>
          <a:ln xmlns:a="http://schemas.openxmlformats.org/drawingml/2006/main" w="14288">
            <a:solidFill>
              <a:srgbClr val="0A7C82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A7C8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A7C82"/>
                </a:solidFill>
                <a:latin typeface="Arial"/>
                <a:ea typeface="Arial"/>
                <a:cs typeface="Arial"/>
              </a:rPr>
              <a:t>TRD</a:t>
            </a:r>
          </a:p>
          <a:p xmlns:a="http://schemas.openxmlformats.org/drawingml/2006/main">
            <a:pPr algn="ctr">
              <a:defRPr sz="1125" b="1">
                <a:solidFill>
                  <a:srgbClr val="0A7C8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A7C82"/>
                </a:solidFill>
                <a:latin typeface="Arial"/>
                <a:ea typeface="Arial"/>
                <a:cs typeface="Arial"/>
              </a:rPr>
              <a:t>COLLECT_MORE_DATA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F7FC156-0E25-40DE-9889-D97DF42B7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3028950"/>
            <a:ext cx="0" cy="11334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D4DB7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9988442-F8FD-4160-AC8F-4DE66B185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162425"/>
            <a:ext cx="19240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CE9F8"/>
          </a:solidFill>
          <a:ln xmlns:a="http://schemas.openxmlformats.org/drawingml/2006/main" w="14288">
            <a:solidFill>
              <a:srgbClr val="5D4DB7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D4DB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D4DB7"/>
                </a:solidFill>
                <a:latin typeface="Arial"/>
                <a:ea typeface="Arial"/>
                <a:cs typeface="Arial"/>
              </a:rPr>
              <a:t>TR0 / TRV</a:t>
            </a:r>
          </a:p>
          <a:p xmlns:a="http://schemas.openxmlformats.org/drawingml/2006/main">
            <a:pPr algn="ctr">
              <a:defRPr sz="1125" b="1">
                <a:solidFill>
                  <a:srgbClr val="5D4DB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D4DB7"/>
                </a:solidFill>
                <a:latin typeface="Arial"/>
                <a:ea typeface="Arial"/>
                <a:cs typeface="Arial"/>
              </a:rPr>
              <a:t>MANUAL_REVIEW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4F80D4E-61A1-4B01-BE6A-AD2A842FC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762125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D9634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D9634B"/>
                </a:solidFill>
                <a:latin typeface="Arial"/>
                <a:ea typeface="Arial"/>
                <a:cs typeface="Arial"/>
              </a:rPr>
              <a:t>SEVERITY LADDER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2DA9B5E-502A-4F70-87C4-95B091AA5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90750"/>
            <a:ext cx="0" cy="3238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AD3D6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C49804B-3EAC-46A7-A977-6119F2063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33600"/>
            <a:ext cx="2667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634B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596315C-E508-4730-AC5D-271AA9C15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18122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D9634B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D9634B"/>
                </a:solidFill>
                <a:latin typeface="Arial"/>
                <a:ea typeface="Arial"/>
                <a:cs typeface="Arial"/>
              </a:rPr>
              <a:t>TR1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2AB7760-C3A3-4473-B7D5-3FCAEE2F1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162175"/>
            <a:ext cx="1924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D9634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D9634B"/>
                </a:solidFill>
                <a:latin typeface="Arial"/>
                <a:ea typeface="Arial"/>
                <a:cs typeface="Arial"/>
              </a:rPr>
              <a:t>PRIORITY_INSPECT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87B60E2-6639-449E-A906-635300C99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371725"/>
            <a:ext cx="2419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77B89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77B89"/>
                </a:solidFill>
                <a:latin typeface="Arial"/>
                <a:ea typeface="Arial"/>
                <a:cs typeface="Arial"/>
              </a:rPr>
              <a:t>C4 + extreme Risk6 + persistence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458CFBC-EE47-40F9-B83C-AC52C1A49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00350"/>
            <a:ext cx="2381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28B2C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5AB4589-7C28-4BCF-9D59-82E36F7DA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8479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C28B2C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C28B2C"/>
                </a:solidFill>
                <a:latin typeface="Arial"/>
                <a:ea typeface="Arial"/>
                <a:cs typeface="Arial"/>
              </a:rPr>
              <a:t>TR2/3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435DCFB-ACF3-4E26-840B-2FC578CA5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828925"/>
            <a:ext cx="1638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28B2C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C28B2C"/>
                </a:solidFill>
                <a:latin typeface="Arial"/>
                <a:ea typeface="Arial"/>
                <a:cs typeface="Arial"/>
              </a:rPr>
              <a:t>INSPECT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2A79EAF-293A-46D5-88F1-EFCC7B297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038475"/>
            <a:ext cx="2133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77B89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77B89"/>
                </a:solidFill>
                <a:latin typeface="Arial"/>
                <a:ea typeface="Arial"/>
                <a:cs typeface="Arial"/>
              </a:rPr>
              <a:t>C3/C4 + Risk12 or persistent Risk6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348F3C1-275E-48ED-8A70-FB72140F0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467100"/>
            <a:ext cx="2095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28B2C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992B5D3-93E2-49F1-A053-896CCA3E0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51472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C28B2C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C28B2C"/>
                </a:solidFill>
                <a:latin typeface="Arial"/>
                <a:ea typeface="Arial"/>
                <a:cs typeface="Arial"/>
              </a:rPr>
              <a:t>TR4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BD1CDDF-817A-4745-A87C-CA89B4F2D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495675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28B2C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C28B2C"/>
                </a:solidFill>
                <a:latin typeface="Arial"/>
                <a:ea typeface="Arial"/>
                <a:cs typeface="Arial"/>
              </a:rPr>
              <a:t>ENHANCED_MONITOR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54D0CFD-4F42-4D23-B311-D59244858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705225"/>
            <a:ext cx="1847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77B89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77B89"/>
                </a:solidFill>
                <a:latin typeface="Arial"/>
                <a:ea typeface="Arial"/>
                <a:cs typeface="Arial"/>
              </a:rPr>
              <a:t>C2 or Risk24 + trend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D7660C8-02E5-4EBD-83A3-6F95AB561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133850"/>
            <a:ext cx="18097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83A56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5DA28A4-6FDF-4097-ADE2-C74A95A07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1814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83A5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83A56"/>
                </a:solidFill>
                <a:latin typeface="Arial"/>
                <a:ea typeface="Arial"/>
                <a:cs typeface="Arial"/>
              </a:rPr>
              <a:t>TR5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C9DF2D3-5D87-4BD4-8C72-A0CBBF155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162425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83A5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83A56"/>
                </a:solidFill>
                <a:latin typeface="Arial"/>
                <a:ea typeface="Arial"/>
                <a:cs typeface="Arial"/>
              </a:rPr>
              <a:t>MONITOR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153F29B-5FAE-45A0-AC0C-4F6E12D3B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371975"/>
            <a:ext cx="1562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77B89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77B89"/>
                </a:solidFill>
                <a:latin typeface="Arial"/>
                <a:ea typeface="Arial"/>
                <a:cs typeface="Arial"/>
              </a:rPr>
              <a:t>C1 or Risk48 + trend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7B2B93B-48D8-4E5C-8600-C691909A3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800600"/>
            <a:ext cx="1524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27B62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7BCDC20-CABF-425F-9B29-20581B5BB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84822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27B62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27B62"/>
                </a:solidFill>
                <a:latin typeface="Arial"/>
                <a:ea typeface="Arial"/>
                <a:cs typeface="Arial"/>
              </a:rPr>
              <a:t>TR6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5F11238-D119-4D68-A878-864FBCE5D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829175"/>
            <a:ext cx="781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27B62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27B62"/>
                </a:solidFill>
                <a:latin typeface="Arial"/>
                <a:ea typeface="Arial"/>
                <a:cs typeface="Arial"/>
              </a:rPr>
              <a:t>CONTINUE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50E4D24-2E98-4167-82BC-803F6AECF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038725"/>
            <a:ext cx="1276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77B89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77B89"/>
                </a:solidFill>
                <a:latin typeface="Arial"/>
                <a:ea typeface="Arial"/>
                <a:cs typeface="Arial"/>
              </a:rPr>
              <a:t>No combined evidence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980C7BA-F252-4A1C-B22D-DFC5993D7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62600"/>
            <a:ext cx="7191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83A56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83A56"/>
                </a:solidFill>
                <a:latin typeface="Arial"/>
                <a:ea typeface="Arial"/>
                <a:cs typeface="Arial"/>
              </a:rPr>
              <a:t>Escalation requires aligned evidence from class, horizon risk and recent history.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33D310A-CE0D-46DF-A9FC-BF6DE0F1E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76925"/>
            <a:ext cx="7191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77B89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77B89"/>
                </a:solidFill>
                <a:latin typeface="Arial"/>
                <a:ea typeface="Arial"/>
                <a:cs typeface="Arial"/>
              </a:rPr>
              <a:t>History overrides model confidence when evidence is insufficient or unstable.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66DFAE7-5A15-4228-969F-F8EBCAB18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67475"/>
            <a:ext cx="10839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3D6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9792389-69A1-4556-94E1-1B9C36909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77B89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77B89"/>
                </a:solidFill>
                <a:latin typeface="Arial"/>
                <a:ea typeface="Arial"/>
                <a:cs typeface="Arial"/>
              </a:rPr>
              <a:t>NUS Intelligent Reasoning Systems  /  FleetCare AI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E450C00-4759-4A8F-8D17-E8F309490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151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183A56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183A56"/>
                </a:solidFill>
                <a:latin typeface="Arial"/>
                <a:ea typeface="Arial"/>
                <a:cs typeface="Arial"/>
              </a:rPr>
              <a:t>05 / 06</a:t>
            </a:r>
          </a:p>
        </p:txBody>
      </p:sp>
    </p:spTree>
    <p:extLst>
      <p:ext uri="{BB962C8B-B14F-4D97-AF65-F5344CB8AC3E}">
        <p14:creationId xmlns:p14="http://schemas.microsoft.com/office/powerpoint/2010/main" val="208129073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D4F78BB-B87D-4E7D-A1B2-2EB63D4CA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619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30"/>
          </a:solidFill>
          <a:ln xmlns:a="http://schemas.openxmlformats.org/drawingml/2006/main" w="9525">
            <a:solidFill>
              <a:srgbClr val="122330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42B034-4CD8-4A37-B52F-61C0E4DED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" y="1885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26C"/>
          </a:solidFill>
          <a:ln xmlns:a="http://schemas.openxmlformats.org/drawingml/2006/main" w="9525">
            <a:solidFill>
              <a:srgbClr val="52626C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E81E6E-4AC9-4E44-9EE4-D34013ABB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" y="2400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26C"/>
          </a:solidFill>
          <a:ln xmlns:a="http://schemas.openxmlformats.org/drawingml/2006/main" w="9525">
            <a:solidFill>
              <a:srgbClr val="52626C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024668-559A-4013-8CE0-4A64193D3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" y="29146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26C"/>
          </a:solidFill>
          <a:ln xmlns:a="http://schemas.openxmlformats.org/drawingml/2006/main" w="9525">
            <a:solidFill>
              <a:srgbClr val="52626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414F59-9299-4F09-866E-EE8C150FB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" y="3429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26C"/>
          </a:solidFill>
          <a:ln xmlns:a="http://schemas.openxmlformats.org/drawingml/2006/main" w="9525">
            <a:solidFill>
              <a:srgbClr val="52626C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96BEBA-61B9-420E-AFDF-0D51FD3E7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" y="3943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26C"/>
          </a:solidFill>
          <a:ln xmlns:a="http://schemas.openxmlformats.org/drawingml/2006/main" w="9525">
            <a:solidFill>
              <a:srgbClr val="52626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DE3257-5C9E-40A3-A7F4-80FF8CB87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" y="4457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A5A1"/>
          </a:solidFill>
          <a:ln xmlns:a="http://schemas.openxmlformats.org/drawingml/2006/main" w="9525">
            <a:solidFill>
              <a:srgbClr val="41A5A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B3AAC0-23C9-4A58-879D-5FC3F3800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4276725"/>
            <a:ext cx="304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9259"/>
          </a:bodyPr>
          <a:lstStyle xmlns:a="http://schemas.openxmlformats.org/drawingml/2006/main"/>
          <a:p xmlns:a="http://schemas.openxmlformats.org/drawingml/2006/main">
            <a:pPr algn="ctr">
              <a:defRPr sz="6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83F11C-C897-4025-AC48-18307434D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A7C82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A7C82"/>
                </a:solidFill>
                <a:latin typeface="Arial"/>
                <a:ea typeface="Arial"/>
                <a:cs typeface="Arial"/>
              </a:rPr>
              <a:t>FLEETCARE AI  /  PRODUCTION WORKFLOW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D529EF-B638-42DB-A459-9F3597239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10839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22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22330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22330"/>
                </a:solidFill>
                <a:latin typeface="Arial"/>
                <a:ea typeface="Arial"/>
                <a:cs typeface="Arial"/>
              </a:rPr>
              <a:t>The production script separates data access, scoring and serving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3C616E-2452-4991-9511-CFF47AAD5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77B89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77B89"/>
                </a:solidFill>
                <a:latin typeface="Arial"/>
                <a:ea typeface="Arial"/>
                <a:cs typeface="Arial"/>
              </a:rPr>
              <a:t>The dashboard consumes stored results; only new operational data triggers another batch run.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601357-359A-41BA-A077-E2DFDCD97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715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9EB"/>
          </a:solidFill>
          <a:ln xmlns:a="http://schemas.openxmlformats.org/drawingml/2006/main" w="19050">
            <a:solidFill>
              <a:srgbClr val="F6F4E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DFF31A-3AC6-4CBB-A31C-3744AE1C3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0500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77B89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77B89"/>
                </a:solidFill>
                <a:latin typeface="Arial"/>
                <a:ea typeface="Arial"/>
                <a:cs typeface="Arial"/>
              </a:rPr>
              <a:t>DATA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7D0510-8811-4DAC-AAA2-0F8EAEB4F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100"/>
            <a:ext cx="107156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0EE"/>
          </a:solidFill>
          <a:ln xmlns:a="http://schemas.openxmlformats.org/drawingml/2006/main" w="19050">
            <a:solidFill>
              <a:srgbClr val="F6F4E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BA84F6-CE69-4BE3-BFC3-EB2188C98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0040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A7C82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A7C82"/>
                </a:solidFill>
                <a:latin typeface="Arial"/>
                <a:ea typeface="Arial"/>
                <a:cs typeface="Arial"/>
              </a:rPr>
              <a:t>SCORING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159CEE-F1E3-4B02-A3C9-9F04665FB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10715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9F8"/>
          </a:solidFill>
          <a:ln xmlns:a="http://schemas.openxmlformats.org/drawingml/2006/main" w="19050">
            <a:solidFill>
              <a:srgbClr val="F6F4EF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10745F-FED7-4DE7-8052-B15E7FEAB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7205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D4DB7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D4DB7"/>
                </a:solidFill>
                <a:latin typeface="Arial"/>
                <a:ea typeface="Arial"/>
                <a:cs typeface="Arial"/>
              </a:rPr>
              <a:t>SERVING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73D874-EB95-47FF-A849-18B2E076B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009775"/>
            <a:ext cx="1619250" cy="685800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677B89"/>
            </a:solidFill>
          </a:ln>
        </p:spPr>
        <p:txBody>
          <a:bodyPr xmlns:a="http://schemas.openxmlformats.org/drawingml/2006/main" anchor="ctr">
            <a:normAutofit fontScale="92187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3A5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3A56"/>
                </a:solidFill>
                <a:latin typeface="Arial"/>
                <a:ea typeface="Arial"/>
                <a:cs typeface="Arial"/>
              </a:rPr>
              <a:t>PostgreSQL</a:t>
            </a:r>
          </a:p>
          <a:p xmlns:a="http://schemas.openxmlformats.org/drawingml/2006/main">
            <a:pPr algn="ctr">
              <a:defRPr sz="1200" b="1">
                <a:solidFill>
                  <a:srgbClr val="183A5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3A56"/>
                </a:solidFill>
                <a:latin typeface="Arial"/>
                <a:ea typeface="Arial"/>
                <a:cs typeface="Arial"/>
              </a:rPr>
              <a:t>truck + readouts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00EEFA-D80E-483C-BD65-96D295E57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3343275"/>
            <a:ext cx="1809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A7C82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A7C8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A7C82"/>
                </a:solidFill>
                <a:latin typeface="Arial"/>
                <a:ea typeface="Arial"/>
                <a:cs typeface="Arial"/>
              </a:rPr>
              <a:t>run_model.py</a:t>
            </a:r>
          </a:p>
          <a:p xmlns:a="http://schemas.openxmlformats.org/drawingml/2006/main">
            <a:pPr algn="ctr">
              <a:defRPr sz="1275" b="1">
                <a:solidFill>
                  <a:srgbClr val="0A7C8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A7C82"/>
                </a:solidFill>
                <a:latin typeface="Arial"/>
                <a:ea typeface="Arial"/>
                <a:cs typeface="Arial"/>
              </a:rPr>
              <a:t>CLI entrypoint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891687-14E6-4439-B0AB-1F88C42CC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343275"/>
            <a:ext cx="2190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A7C82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A7C8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A7C82"/>
                </a:solidFill>
                <a:latin typeface="Arial"/>
                <a:ea typeface="Arial"/>
                <a:cs typeface="Arial"/>
              </a:rPr>
              <a:t>fleetcare_inference.py</a:t>
            </a:r>
          </a:p>
          <a:p xmlns:a="http://schemas.openxmlformats.org/drawingml/2006/main">
            <a:pPr algn="ctr">
              <a:defRPr sz="1200" b="1">
                <a:solidFill>
                  <a:srgbClr val="0A7C8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A7C82"/>
                </a:solidFill>
                <a:latin typeface="Arial"/>
                <a:ea typeface="Arial"/>
                <a:cs typeface="Arial"/>
              </a:rPr>
              <a:t>features · model · SHAP · rules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4AF2B5-A6D0-471E-9055-55DA8E2A0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562350"/>
            <a:ext cx="1619250" cy="685800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A7C82"/>
            </a:solidFill>
          </a:ln>
        </p:spPr>
        <p:txBody>
          <a:bodyPr xmlns:a="http://schemas.openxmlformats.org/drawingml/2006/main" anchor="ctr">
            <a:normAutofit fontScale="92187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A7C8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A7C82"/>
                </a:solidFill>
                <a:latin typeface="Arial"/>
                <a:ea typeface="Arial"/>
                <a:cs typeface="Arial"/>
              </a:rPr>
              <a:t>Model artifacts</a:t>
            </a:r>
          </a:p>
          <a:p xmlns:a="http://schemas.openxmlformats.org/drawingml/2006/main">
            <a:pPr algn="ctr">
              <a:defRPr sz="1200" b="1">
                <a:solidFill>
                  <a:srgbClr val="0A7C8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A7C82"/>
                </a:solidFill>
                <a:latin typeface="Arial"/>
                <a:ea typeface="Arial"/>
                <a:cs typeface="Arial"/>
              </a:rPr>
              <a:t>model + schema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37AF14-A653-493C-A1E5-451806BF1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5076825"/>
            <a:ext cx="2190750" cy="685800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5D4DB7"/>
            </a:solidFill>
          </a:ln>
        </p:spPr>
        <p:txBody>
          <a:bodyPr xmlns:a="http://schemas.openxmlformats.org/drawingml/2006/main" anchor="ctr">
            <a:normAutofit fontScale="92187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D4DB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D4DB7"/>
                </a:solidFill>
                <a:latin typeface="Arial"/>
                <a:ea typeface="Arial"/>
                <a:cs typeface="Arial"/>
              </a:rPr>
              <a:t>PostgreSQL public</a:t>
            </a:r>
          </a:p>
          <a:p xmlns:a="http://schemas.openxmlformats.org/drawingml/2006/main">
            <a:pPr algn="ctr">
              <a:defRPr sz="1200" b="1">
                <a:solidFill>
                  <a:srgbClr val="5D4DB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D4DB7"/>
                </a:solidFill>
                <a:latin typeface="Arial"/>
                <a:ea typeface="Arial"/>
                <a:cs typeface="Arial"/>
              </a:rPr>
              <a:t>analysis + prediction_shap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AD3758-3E74-4A28-8F53-555733634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5076825"/>
            <a:ext cx="1428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5D4DB7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D4DB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D4DB7"/>
                </a:solidFill>
                <a:latin typeface="Arial"/>
                <a:ea typeface="Arial"/>
                <a:cs typeface="Arial"/>
              </a:rPr>
              <a:t>Dashboard</a:t>
            </a:r>
          </a:p>
          <a:p xmlns:a="http://schemas.openxmlformats.org/drawingml/2006/main">
            <a:pPr algn="ctr">
              <a:defRPr sz="1125" b="1">
                <a:solidFill>
                  <a:srgbClr val="5D4DB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D4DB7"/>
                </a:solidFill>
                <a:latin typeface="Arial"/>
                <a:ea typeface="Arial"/>
                <a:cs typeface="Arial"/>
              </a:rPr>
              <a:t>latest active row</a:t>
            </a:r>
          </a:p>
        </p:txBody>
      </p:sp>
      <p:cxnSp>
        <p:nvCxnSpPr>
          <p:cNvPr id="62" name=""/>
          <p:cNvCxnSpPr>
            <a:stCxn xmlns:a="http://schemas.openxmlformats.org/drawingml/2006/main" id="18" idx="3"/>
            <a:endCxn xmlns:a="http://schemas.openxmlformats.org/drawingml/2006/main" id="19" idx="0"/>
          </p:cNvCxnSpPr>
          <p:nvPr/>
        </p:nvCxnSpPr>
        <p:spPr>
          <a:xfrm xmlns:a="http://schemas.openxmlformats.org/drawingml/2006/main">
            <a:off x="2714625" y="2695575"/>
            <a:ext cx="2543175" cy="6477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5240">
            <a:solidFill>
              <a:srgbClr val="677B89"/>
            </a:solidFill>
            <a:prstDash val="solid"/>
            <a:tailEnd type="triangle" w="sm" len="sm"/>
          </a:ln>
        </p:spPr>
      </p:cxnSp>
      <p:cxnSp>
        <p:nvCxnSpPr>
          <p:cNvPr id="63" name=""/>
          <p:cNvCxnSpPr>
            <a:stCxn xmlns:a="http://schemas.openxmlformats.org/drawingml/2006/main" id="21" idx="4"/>
            <a:endCxn xmlns:a="http://schemas.openxmlformats.org/drawingml/2006/main" id="19" idx="1"/>
          </p:cNvCxnSpPr>
          <p:nvPr/>
        </p:nvCxnSpPr>
        <p:spPr>
          <a:xfrm xmlns:a="http://schemas.openxmlformats.org/drawingml/2006/main" flipV="1">
            <a:off x="3524250" y="3752850"/>
            <a:ext cx="828675" cy="15240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0A7C82"/>
            </a:solidFill>
            <a:prstDash val="solid"/>
            <a:tailEnd type="triangle" w="sm" len="sm"/>
          </a:ln>
        </p:spPr>
      </p:cxnSp>
      <p:cxnSp>
        <p:nvCxnSpPr>
          <p:cNvPr id="64" name=""/>
          <p:cNvCxnSpPr>
            <a:stCxn xmlns:a="http://schemas.openxmlformats.org/drawingml/2006/main" id="19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6162675" y="3752850"/>
            <a:ext cx="942975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0A7C82"/>
            </a:solidFill>
            <a:prstDash val="solid"/>
            <a:tailEnd type="triangle" w="sm" len="sm"/>
          </a:ln>
        </p:spPr>
      </p:cxnSp>
      <p:cxnSp>
        <p:nvCxnSpPr>
          <p:cNvPr id="65" name=""/>
          <p:cNvCxnSpPr>
            <a:stCxn xmlns:a="http://schemas.openxmlformats.org/drawingml/2006/main" id="20" idx="2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8201025" y="4162425"/>
            <a:ext cx="0" cy="91440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5D4DB7"/>
            </a:solidFill>
            <a:prstDash val="solid"/>
            <a:tailEnd type="triangle" w="sm" len="sm"/>
          </a:ln>
        </p:spPr>
      </p:cxnSp>
      <p:cxnSp>
        <p:nvCxnSpPr>
          <p:cNvPr id="66" name=""/>
          <p:cNvCxnSpPr>
            <a:stCxn xmlns:a="http://schemas.openxmlformats.org/drawingml/2006/main" id="22" idx="4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9296400" y="5419725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5D4DB7"/>
            </a:solidFill>
            <a:prstDash val="solid"/>
            <a:tailEnd type="triangle" w="sm" len="sm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0F65375-50AA-4370-AA6A-B7AEB9239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6578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A7C82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A7C82"/>
                </a:solidFill>
                <a:latin typeface="Arial"/>
                <a:ea typeface="Arial"/>
                <a:cs typeface="Arial"/>
              </a:rPr>
              <a:t>VERIFIED DRY RUN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D47E8FC-AC94-40A5-8447-A7FBCF72C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876925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571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83A56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83A56"/>
                </a:solidFill>
                <a:latin typeface="Arial"/>
                <a:ea typeface="Arial"/>
                <a:cs typeface="Arial"/>
              </a:rPr>
              <a:t>193,095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A1F62ED-3333-45E5-ABF2-F13BADF7F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93407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77B89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77B89"/>
                </a:solidFill>
                <a:latin typeface="Arial"/>
                <a:ea typeface="Arial"/>
                <a:cs typeface="Arial"/>
              </a:rPr>
              <a:t>readouts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04A91A9-B94F-4BD2-867A-B59957DF2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876925"/>
            <a:ext cx="104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571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0A7C82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A7C82"/>
                </a:solidFill>
                <a:latin typeface="Arial"/>
                <a:ea typeface="Arial"/>
                <a:cs typeface="Arial"/>
              </a:rPr>
              <a:t>5,037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89FA695-90B3-40B1-A696-45B596A83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93407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77B89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77B89"/>
                </a:solidFill>
                <a:latin typeface="Arial"/>
                <a:ea typeface="Arial"/>
                <a:cs typeface="Arial"/>
              </a:rPr>
              <a:t>predictions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7CF6BF2-9F07-4F98-83D5-3F065BFF5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876925"/>
            <a:ext cx="523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571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5D4DB7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5D4DB7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952C898-6BBC-4AF5-8A7A-A1EE7136E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93407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77B89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77B89"/>
                </a:solidFill>
                <a:latin typeface="Arial"/>
                <a:ea typeface="Arial"/>
                <a:cs typeface="Arial"/>
              </a:rPr>
              <a:t>collect-more-data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A5D8FF6-0E8D-4FCF-885F-0E5562D8B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67475"/>
            <a:ext cx="10839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3D6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6B714B6-CFDC-4AB3-86B3-1F6DC2365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77B89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77B89"/>
                </a:solidFill>
                <a:latin typeface="Arial"/>
                <a:ea typeface="Arial"/>
                <a:cs typeface="Arial"/>
              </a:rPr>
              <a:t>NUS Intelligent Reasoning Systems  /  FleetCare AI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73487EA-DBFF-4A68-A8D5-74C50D81B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151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183A56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183A56"/>
                </a:solidFill>
                <a:latin typeface="Arial"/>
                <a:ea typeface="Arial"/>
                <a:cs typeface="Arial"/>
              </a:rPr>
              <a:t>06 / 06</a:t>
            </a:r>
          </a:p>
        </p:txBody>
      </p:sp>
    </p:spTree>
    <p:extLst>
      <p:ext uri="{BB962C8B-B14F-4D97-AF65-F5344CB8AC3E}">
        <p14:creationId xmlns:p14="http://schemas.microsoft.com/office/powerpoint/2010/main" val="10165193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2026-10-12T22:52:25.9690000Z</dcterms:created>
  <dcterms:modified xsi:type="dcterms:W3CDTF">2026-10-12T22:52:25.9690000Z</dcterms:modified>
</coreProperties>
</file>