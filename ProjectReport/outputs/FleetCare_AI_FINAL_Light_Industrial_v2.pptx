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fafb4d6df44d02" /><Relationship Type="http://schemas.openxmlformats.org/officeDocument/2006/relationships/extended-properties" Target="/docProps/app.xml" Id="Rea458d0deb5c4aab" /><Relationship Type="http://schemas.openxmlformats.org/officeDocument/2006/relationships/officeDocument" Target="/ppt/presentation.xml" Id="Rcaf119848a5343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f08aa837064c70"/>
  </p:sldMasterIdLst>
  <p:notesMasterIdLst>
    <p:notesMasterId xmlns:r="http://schemas.openxmlformats.org/officeDocument/2006/relationships" r:id="Raebdf041a3784dea"/>
  </p:notesMasterIdLst>
  <p:sldIdLst>
    <p:sldId xmlns:r="http://schemas.openxmlformats.org/officeDocument/2006/relationships" id="256" r:id="Rc6e8baa4f0a54307"/>
    <p:sldId xmlns:r="http://schemas.openxmlformats.org/officeDocument/2006/relationships" id="257" r:id="R199c79c6ce7945d6"/>
    <p:sldId xmlns:r="http://schemas.openxmlformats.org/officeDocument/2006/relationships" id="258" r:id="R04a5f58784534985"/>
    <p:sldId xmlns:r="http://schemas.openxmlformats.org/officeDocument/2006/relationships" id="259" r:id="R84b86cea0ecf46b5"/>
    <p:sldId xmlns:r="http://schemas.openxmlformats.org/officeDocument/2006/relationships" id="260" r:id="R0432526cb3bd4d9a"/>
    <p:sldId xmlns:r="http://schemas.openxmlformats.org/officeDocument/2006/relationships" id="261" r:id="R63d427ee595540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ddc40feb3944a5" /><Relationship Type="http://schemas.openxmlformats.org/officeDocument/2006/relationships/slideMaster" Target="/ppt/slideMasters/slideMaster1.xml" Id="Rdbf08aa837064c70" /><Relationship Type="http://schemas.openxmlformats.org/officeDocument/2006/relationships/notesMaster" Target="/ppt/notesMasters/notesMaster1.xml" Id="Raebdf041a3784dea" /><Relationship Type="http://schemas.openxmlformats.org/officeDocument/2006/relationships/presProps" Target="/ppt/presProps.xml" Id="Rfc45120c14b54336" /><Relationship Type="http://schemas.openxmlformats.org/officeDocument/2006/relationships/tableStyles" Target="/ppt/tableStyles.xml" Id="Rb0ccdcc5834d411b" /><Relationship Type="http://schemas.openxmlformats.org/officeDocument/2006/relationships/slide" Target="/ppt/slides/slide1.xml" Id="Rc6e8baa4f0a54307" /><Relationship Type="http://schemas.openxmlformats.org/officeDocument/2006/relationships/slide" Target="/ppt/slides/slide2.xml" Id="R199c79c6ce7945d6" /><Relationship Type="http://schemas.openxmlformats.org/officeDocument/2006/relationships/slide" Target="/ppt/slides/slide3.xml" Id="R04a5f58784534985" /><Relationship Type="http://schemas.openxmlformats.org/officeDocument/2006/relationships/slide" Target="/ppt/slides/slide4.xml" Id="R84b86cea0ecf46b5" /><Relationship Type="http://schemas.openxmlformats.org/officeDocument/2006/relationships/slide" Target="/ppt/slides/slide5.xml" Id="R0432526cb3bd4d9a" /><Relationship Type="http://schemas.openxmlformats.org/officeDocument/2006/relationships/slide" Target="/ppt/slides/slide6.xml" Id="R63d427ee595540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243c750b6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f32be6a01b4521" /><Relationship Type="http://schemas.openxmlformats.org/officeDocument/2006/relationships/notesMaster" Target="/ppt/notesMasters/notesMaster1.xml" Id="R38febd0cd01e40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a02d34d81d4b95" /><Relationship Type="http://schemas.openxmlformats.org/officeDocument/2006/relationships/notesMaster" Target="/ppt/notesMasters/notesMaster1.xml" Id="R51c7d97057e642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31430c5d9475b" /><Relationship Type="http://schemas.openxmlformats.org/officeDocument/2006/relationships/notesMaster" Target="/ppt/notesMasters/notesMaster1.xml" Id="Rd716930f7dae42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fefb5a8c164882" /><Relationship Type="http://schemas.openxmlformats.org/officeDocument/2006/relationships/notesMaster" Target="/ppt/notesMasters/notesMaster1.xml" Id="R2a34861547914c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b87e503fa4218" /><Relationship Type="http://schemas.openxmlformats.org/officeDocument/2006/relationships/notesMaster" Target="/ppt/notesMasters/notesMaster1.xml" Id="Rb5f25ba200bb41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bda7756c9d4fa4" /><Relationship Type="http://schemas.openxmlformats.org/officeDocument/2006/relationships/notesMaster" Target="/ppt/notesMasters/notesMaster1.xml" Id="Re097eaaeeda7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model outputs and final inference code. Cover artwork generated for this presentation as a technical illustration, not a photograph of a real vehicle.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experiment sequence test_00 through test_12c. Cost experiments were reviewed but excluded from final no-cost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test_12c_feature_parameter_search.py. P3: 250 estimators, learning rate 0.05, depth 5. P5: 250 estimators, learning rate 0.05, depth 4 with lower regularization.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User-provided test_12c results. Official Validation: F5/P3 Macro F1 0.201098, mean horizon AP 0.040280; F5/P5 Macro F1 0.203502, mean horizon AP 0.043174. PolicyDev winners: risk-ranking mean AP 0.192175 ± 0.014271; five-class Macro F1 0.201593 ± 0.003539.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SystemCode/data/fleetcare_inference.py. Current thresholds: Risk48 P80, Risk24 P85, Risk12 P90 and Risk6 P95 for high-risk evidence; TR1 and TR2 use P99.5 escalation evidence. TR0 precedes TRV.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SystemCode/data/run_model.py, SystemCode/data/fleetcare_inference.py and verified dry-run output. The dry run produced one latest prediction for 5,037 vehicles and seven COLLECT_MORE_DATA decisions without database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d83635ac54e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4f8be958f6463e" /><Relationship Type="http://schemas.openxmlformats.org/officeDocument/2006/relationships/slideLayout" Target="/ppt/slideLayouts/slideLayout1.xml" Id="Rbda4beec10584e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4beec10584e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5468c6084e0d" /><Relationship Type="http://schemas.openxmlformats.org/officeDocument/2006/relationships/image" Target="/ppt/media/image.png" Id="R6c119e9eec3b46d4" /><Relationship Type="http://schemas.openxmlformats.org/officeDocument/2006/relationships/notesSlide" Target="/ppt/notesSlides/notesSlide1.xml" Id="Rdd91b3791b464e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fa4cffdca4b27" /><Relationship Type="http://schemas.openxmlformats.org/officeDocument/2006/relationships/notesSlide" Target="/ppt/notesSlides/notesSlide2.xml" Id="R171dd961c34b4b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4c90b0a884747" /><Relationship Type="http://schemas.openxmlformats.org/officeDocument/2006/relationships/notesSlide" Target="/ppt/notesSlides/notesSlide3.xml" Id="R5cf82f90580f44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e59da98054ac2" /><Relationship Type="http://schemas.openxmlformats.org/officeDocument/2006/relationships/chart" Target="/ppt/slides/charts/chart1.xml" Id="R4ce544a500544c8e" /><Relationship Type="http://schemas.openxmlformats.org/officeDocument/2006/relationships/notesSlide" Target="/ppt/notesSlides/notesSlide4.xml" Id="R913be1ba2bcb4d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65b4f14914466" /><Relationship Type="http://schemas.openxmlformats.org/officeDocument/2006/relationships/notesSlide" Target="/ppt/notesSlides/notesSlide5.xml" Id="Rb0d586671be940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fda6bf09f4293" /><Relationship Type="http://schemas.openxmlformats.org/officeDocument/2006/relationships/notesSlide" Target="/ppt/notesSlides/notesSlide6.xml" Id="R26ea8857fc3a483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Macro F1</c:v>
          </c:tx>
          <c:spPr>
            <a:solidFill xmlns:a="http://schemas.openxmlformats.org/drawingml/2006/main">
              <a:srgbClr val="58727E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0.201098</c:v>
              </c:pt>
              <c:pt idx="1">
                <c:v>0.203502</c:v>
              </c:pt>
            </c:numLit>
          </c:val>
        </c:ser>
        <c:ser>
          <c:idx val="1"/>
          <c:order val="1"/>
          <c:tx>
            <c:v>Mean horizon AP</c:v>
          </c:tx>
          <c:spPr>
            <a:solidFill xmlns:a="http://schemas.openxmlformats.org/drawingml/2006/main">
              <a:srgbClr val="F0A332"/>
            </a:solidFill>
          </c:spPr>
          <c:cat>
            <c:strLit>
              <c:ptCount val="2"/>
              <c:pt idx="0">
                <c:v>F5 + P3</c:v>
              </c:pt>
              <c:pt idx="1">
                <c:v>F5 + P5</c:v>
              </c:pt>
            </c:strLit>
          </c:cat>
          <c:val>
            <c:numLit>
              <c:formatCode>0.000</c:formatCode>
              <c:ptCount val="2"/>
              <c:pt idx="0">
                <c:v>0.04028</c:v>
              </c:pt>
              <c:pt idx="1">
                <c:v>0.043174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202B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0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5E4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4"/>
      </c:valAx>
      <c:spPr>
        <a:solidFill xmlns:a="http://schemas.openxmlformats.org/drawingml/2006/main">
          <a:srgbClr val="F7F6F2"/>
        </a:solidFill>
        <a:ln xmlns:a="http://schemas.openxmlformats.org/drawingml/2006/main" w="0">
          <a:solidFill>
            <a:srgbClr val="F7F6F2"/>
          </a:solidFill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6F2"/>
    </a:solidFill>
    <a:ln xmlns:a="http://schemas.openxmlformats.org/drawingml/2006/main" w="0">
      <a:solidFill>
        <a:srgbClr val="F7F6F2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19e9eec3b46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7ED47-B5C6-4BB0-AF80-98DF9D4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FLEETCARE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9D62D-B10E-44F4-BF9F-97B29E53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0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0A33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778C-77A8-4636-83E4-CCB86025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Iteration,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Evaluation and</a:t>
            </a:r>
          </a:p>
          <a:p xmlns:a="http://schemas.openxmlformats.org/drawingml/2006/main">
            <a:pPr algn="l">
              <a:defRPr sz="36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F0F81-72F1-4503-8AAD-7ACD8EE6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SCANIA Component X predictive maintenance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AFAC9-AA38-4C3D-A348-BE6643D5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Final model, temporal rules and production inference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6A4D8-E395-4C73-AAAB-8F338C9B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99D80-A613-4729-8687-C982BD46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Intelligent Reasoning Systems Project</a:t>
            </a:r>
          </a:p>
        </p:txBody>
      </p:sp>
    </p:spTree>
    <p:extLst>
      <p:ext uri="{BB962C8B-B14F-4D97-AF65-F5344CB8AC3E}">
        <p14:creationId xmlns:p14="http://schemas.microsoft.com/office/powerpoint/2010/main" val="608623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42E953-2D6D-448E-9D19-A0FA4B26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DDB4-1DF4-42CA-AC9C-208E204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Model iteration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EA4F6-C2E1-4E0B-947E-156E98B9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Six experiment stages led to the final no-cost XGBoost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07DFE-07C9-48A9-9022-956487B4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F232C-58EF-4221-920E-982B50F4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D8DF7-4411-487F-B889-D801DB84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3DE85-FB4E-45CA-85EF-C9D07F8A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0E6F1-576D-4538-AA9E-6248560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Random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46BF57-35E3-41C9-ACF8-DA84D705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Latest-state baseline exposed severe 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F5525-D28A-402D-8B40-A4CBF24F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B49D5-39E1-475A-98E5-CDF9E0EB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E1087-F2E7-4FE8-A480-5DB770F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E11833-13CC-4967-A038-9092EEC4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Nonlinear five-class probabilities improved flexibility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2BA18-C9B1-4279-8445-81D3E7C1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A3BDD-63AC-4DB0-9144-6559C7C1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9FA3D-2CB2-45DF-91C7-8DA6456B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Vehicle-aware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09C01-24F0-4530-8EF0-6F5622D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Vehicle separation prevented leakage across observations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03757-B0A8-4C24-96F1-7A925058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6CFBF-6145-4AE9-9C8F-A2316BD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02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C3F2D-3884-4269-B77D-9380E076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240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E81DB-BA1A-49D0-976F-A210E62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Rates, changes and past-only history used repeated readouts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9C276-5990-4EA4-9931-254CE398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44868-C5C6-4BBB-A4BC-0B5B3B7B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1467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D76C0-4E95-4EF5-9DDB-68C7E84C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84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Policy experiments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00DDF-859B-4662-A6CD-1FE8FF6C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Calibration, cost and capacity rules were tested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E54111-84D7-4060-9B3D-AF5A02D7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64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B13D81-0804-4E24-B16B-D7ABD8F3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0A3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995C1-0CAB-4A77-B756-07E35E91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207C96-1991-4054-A447-658A4368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24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and parameter selection used no operational cost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79FD02-3EB0-4892-9CD8-15E34EF6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C34A9-B9E2-4B5D-9F94-71DF7014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2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Final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F5FB5C-3AC5-4CE2-B771-7653BEDB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864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97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XGBoost with vehicle-aware history; cost-based selection removed because the public dataset has no operational cost model.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47B4AF-E984-42FE-99DB-B3FCD88F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760727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4D10A-4DCB-4437-B1D8-9280CF5D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E4590-C0DE-4A8A-862D-C652F09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and parameter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291B8-B69F-499D-A419-8FA08A4D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Five feature collections were screened against five XGBoost configurations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FF033-6087-44B3-B1F7-FDA259E3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6A2F0-86FE-4980-9795-4E9D1972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781050" y="1676400"/>
          <a:ext xmlns:a="http://schemas.openxmlformats.org/drawingml/2006/main" cx="733425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81050"/>
                <a:gridCol w="2571750"/>
                <a:gridCol w="3981450"/>
              </a:tblGrid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Feature collection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Rate, all horizons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Broad temporal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 + change,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Adds absolute historical movement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Short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6 and 12-unit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Long rates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Focuses on 24 and 48-unit windows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Rates + short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All rates plus 6 and 12-unit changes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13702-C061-4C72-9A87-8F18FCF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240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SEARCH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955FB-FBB4-492A-A65F-C33FA2BF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85975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6A1E5-BA08-48E6-9BAC-FCD806B8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336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feature / parameter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combinations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B66CA-24C3-43D6-AF2D-E9E756E9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FFE45-2718-4A40-B37F-BD83F57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62275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random seeds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42, 52, 62, 72, 82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AB110-EF07-46A3-B601-8F96FFEB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18833-E07F-4C23-ADBD-57F95944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48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RISK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FBFBF-5411-40D3-89A2-00DCA790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78999-A408-4530-999B-315C9C2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FIVE-CLASS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E5CA3-0B3C-4C31-8172-CCD61C1A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625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6C9B1-BF4C-4524-8C8A-EB08EF17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263212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DD46D-5EC2-4880-B1AD-DFA2A964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61C28-5551-49DF-BE25-E1BCE863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model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FE8C2-3513-4E18-9CE2-B6D4C738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PolicyDev selected the configurations; Official Validation stayed outside model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A8B6F-8D8F-451F-82EF-3C65B36D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99CD0-3A27-4564-812E-B56F64EA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ce544a500544c8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0CF87-BCB9-4CA0-B248-7A420CC0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Official Validation, five-seed mean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27EEB-1264-4B02-A53E-1821AA47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33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POLICYDEV WINNERS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43585-5263-4FAB-B668-B454555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0.192 ± 0.014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A1F33-96E6-43B4-B1E5-B44B7C6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5747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Mean horizon AP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P3 medium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B7C92-0D4D-4519-B3C7-B9EA7125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DFDE1-BAAC-4905-9B81-6D56639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0.202 ± 0.004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C65C3-23DE-49DB-B9E9-ECCA2B87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Macro F1</a:t>
            </a:r>
          </a:p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F5 + P5 less regularized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EDA94-8044-4DA1-86ED-D07EA4BE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53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798FB-99CA-4EE3-9851-FA8315C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0.970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0030A-01F3-413B-BA11-97229704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Macro F1 0.203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FB3CE-1339-4B67-86FC-4567CC1D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Accuracy is dominated by C0. Macro F1 and horizon AP better reflect minority-risk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F315B-40CD-4899-AB3A-C07FA11A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9595459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61294-DCAA-4AF6-A0CB-13725FBD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26320-0CFE-449B-B49C-E87E7AD1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Temporal rule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721FB-3146-4D1B-AF1E-66D384C1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Probabilities and recent history produce a stable maintenance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10AA0-03DC-49B8-A743-3F2BE53F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A2813-E241-441E-A4E3-AA79ADEE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2B4784-3DE0-43D6-9B04-96C5CE32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RELIABILITY SAFEGUARDS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81050" y="1914525"/>
          <a:ext xmlns:a="http://schemas.openxmlformats.org/drawingml/2006/main" cx="106299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Only one readout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COLLECT_MORE_DATA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with fewer than three historical readouts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MANUAL_REVIEW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TRV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Low confidence and repeated large class jumps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UNSTABLE / MANUAL_REVIEW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B008D-6907-4020-8EDA-AF2F1E3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MAINTENANCE DECISION LADDER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81050" y="4105275"/>
          <a:ext xmlns:a="http://schemas.openxmlformats.org/drawingml/2006/main" cx="10629900" cy="1924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5810250"/>
                <a:gridCol w="3752850"/>
              </a:tblGrid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Core condition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C4 + extreme Risk6 +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PRIORITY_INSPECT</a:t>
                      </a:r>
                    </a:p>
                  </a:txBody>
                  <a:tcPr marL="91440" marR="91440" marT="45720" marB="45720">
                    <a:solidFill>
                      <a:srgbClr val="FAE9E5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TR2 / TR3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C3/C4 + extreme Risk12, or extreme persistent Risk6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INSPECT</a:t>
                      </a:r>
                    </a:p>
                  </a:txBody>
                  <a:tcPr marL="91440" marR="91440" marT="45720" marB="45720">
                    <a:solidFill>
                      <a:srgbClr val="FBEDE1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C2, or high Risk24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ENHANCED_MONITOR</a:t>
                      </a:r>
                    </a:p>
                  </a:txBody>
                  <a:tcPr marL="91440" marR="91440" marT="45720" marB="45720">
                    <a:solidFill>
                      <a:srgbClr val="FFF0D8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C1, or high Risk48 with persistence or deterioration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MONITOR</a:t>
                      </a:r>
                    </a:p>
                  </a:txBody>
                  <a:tcPr marL="91440" marR="91440" marT="45720" marB="45720">
                    <a:solidFill>
                      <a:srgbClr val="E7ECEE"/>
                    </a:solidFill>
                  </a:tcPr>
                </a:tc>
              </a:tr>
              <a:tr h="3206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TR6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0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No combined evidence for escalation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202B31"/>
                          </a:solidFill>
                          <a:latin typeface="Arial"/>
                          <a:ea typeface="Arial"/>
                          <a:cs typeface="Arial"/>
                        </a:rPr>
                        <a:t>CONTINUE</a:t>
                      </a:r>
                    </a:p>
                  </a:txBody>
                  <a:tcPr marL="91440" marR="91440" marT="45720" marB="45720">
                    <a:solidFill>
                      <a:srgbClr val="EBF0EA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9B876-6DFE-489C-B085-E69F8CAB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2811136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A51B09-1B47-4691-9E4D-48B2EC9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0A3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21AE7-4D3B-4C18-8CB1-F70E1E8F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Production inference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6AC82-4D93-4D7F-B59A-49064E6B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The model creates one latest decision per vehicle and stores it for the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BC8F9-F0BB-49AC-897B-9D06D5C0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084D7-1748-4CB9-BC89-AD0C41B8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C73F3-3045-4512-A533-75DADF87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DB7EC-0A75-4B23-B300-E197684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D8B49-A102-477E-A191-DE26FF5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764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FB2D8-C7AA-4D1F-A331-B175AA3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truck_readout + truck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3420B-3A60-41A3-9F92-DEF582AC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781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0292F-BD17-426B-A22B-6B29523F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1455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0DB09-ACE8-4DF2-A823-ACF8DA2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7647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Feature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27C9D-E076-4637-9588-E16C2B31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860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current, rate, change,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6D0F7-2FF9-4506-8753-9FCC065E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811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4226C-1FD5-4C64-8C68-DF2FC53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A2DA1-2349-4E93-AD27-E1302111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764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Final XGBoost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29EDF-EB04-47CD-BABF-AD1084F0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P(C0...C4) and four horizons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D7D77-23A0-48B5-8DA3-6A7BA73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03DFD-189A-464D-A4F5-7C695DA1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A3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4299C-3426-4721-A825-53A3936A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Rule engine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95514-6231-498B-9F47-5F6AC58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TR0-TR6, TRV and TRD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3E93A-CD15-4A11-8E38-D7310A0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8117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2772E-B481-4DB6-8E15-1BE7D5D6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1455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96C71D-8F99-4D16-B69F-D5881B91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7647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Stored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33860-82B5-4E4E-A27A-41CEB843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analysis + prediction_shap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A68774-1FC4-4336-8B04-988FD9BC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811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266FFF-35D9-4FD1-A4FE-6BB604BC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145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D0D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11226-D41A-4FA8-AD9A-C9A674AB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76475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91DB1-BF42-42A5-8C51-3726B14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860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latest row per active vehicle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45A0C6-B9FA-4534-9602-6E9127B4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0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B18E9-1A2E-4FD0-BE2E-EE61702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RUN COMMAND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0ECDD9-1096-43B2-BF6E-793C272B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95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8727E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B31"/>
                </a:solidFill>
                <a:latin typeface="Arial"/>
                <a:ea typeface="Arial"/>
                <a:cs typeface="Arial"/>
              </a:rPr>
              <a:t>.venv/bin/python -u SystemCode/data/run_model.py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275A4-ACBF-40FA-9096-666F7E6C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02B3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02B31"/>
                </a:solidFill>
                <a:latin typeface="Arial"/>
                <a:ea typeface="Arial"/>
                <a:cs typeface="Arial"/>
              </a:rPr>
              <a:t>One readout bypasses the model and receives COLLECT_MORE_DATA.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791284-A145-4BCF-A3FC-3C66D76C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766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VERIFIED DRY RUN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08A2E8-6601-46A8-9ABD-93477766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195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58727E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58727E"/>
                </a:solidFill>
                <a:latin typeface="Arial"/>
                <a:ea typeface="Arial"/>
                <a:cs typeface="Arial"/>
              </a:rPr>
              <a:t>193,095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08075-E109-4B10-AB6F-6942EAA9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957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F9DEAB-BFAC-4C5C-B1F3-4DE7328C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1012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A332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A332"/>
                </a:solidFill>
                <a:latin typeface="Arial"/>
                <a:ea typeface="Arial"/>
                <a:cs typeface="Arial"/>
              </a:rPr>
              <a:t>5,037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D7E2A9-D1E7-44EC-B3B8-D9F9E20F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863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model predictions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64B50E-FAA7-4675-BB91-1FD00DF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400675"/>
            <a:ext cx="1762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5C4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5C4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D35676-F698-4994-9479-3BF4F6B4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4768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collect-more-data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880A6A-2642-4EF4-9DBF-2F6AE55E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Dashboard query: latest analysis row per vehicle; isactive = 1; in_maintenance IS NULL.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C5965B-7A6D-4D9D-A00C-FA5899A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86525"/>
            <a:ext cx="447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8777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777D"/>
                </a:solidFill>
                <a:latin typeface="Arial"/>
                <a:ea typeface="Arial"/>
                <a:cs typeface="Arial"/>
              </a:rPr>
              <a:t>FLEETCARE AI  /  INTELLIGENT REASONING SYSTEMS</a:t>
            </a:r>
          </a:p>
        </p:txBody>
      </p:sp>
    </p:spTree>
    <p:extLst>
      <p:ext uri="{BB962C8B-B14F-4D97-AF65-F5344CB8AC3E}">
        <p14:creationId xmlns:p14="http://schemas.microsoft.com/office/powerpoint/2010/main" val="1762499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2026-10-12T22:41:49.1750000Z</dcterms:created>
  <dcterms:modified xsi:type="dcterms:W3CDTF">2026-10-12T22:41:49.1750000Z</dcterms:modified>
</coreProperties>
</file>