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23253928d4683" /><Relationship Type="http://schemas.openxmlformats.org/officeDocument/2006/relationships/extended-properties" Target="/docProps/app.xml" Id="R43dd8b755d7a4a0e" /><Relationship Type="http://schemas.openxmlformats.org/officeDocument/2006/relationships/officeDocument" Target="/ppt/presentation.xml" Id="R63fb3099285844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bbf9f4579455c"/>
  </p:sldMasterIdLst>
  <p:notesMasterIdLst>
    <p:notesMasterId xmlns:r="http://schemas.openxmlformats.org/officeDocument/2006/relationships" r:id="R4b9d56c523484bd5"/>
  </p:notesMasterIdLst>
  <p:sldIdLst>
    <p:sldId xmlns:r="http://schemas.openxmlformats.org/officeDocument/2006/relationships" id="256" r:id="R8678dd9653794d47"/>
    <p:sldId xmlns:r="http://schemas.openxmlformats.org/officeDocument/2006/relationships" id="257" r:id="Rcd86beba24a84006"/>
    <p:sldId xmlns:r="http://schemas.openxmlformats.org/officeDocument/2006/relationships" id="258" r:id="R9170c6a5bd1b4d07"/>
    <p:sldId xmlns:r="http://schemas.openxmlformats.org/officeDocument/2006/relationships" id="259" r:id="R71b6a49df6d7457b"/>
    <p:sldId xmlns:r="http://schemas.openxmlformats.org/officeDocument/2006/relationships" id="260" r:id="Rc2838bc1800b48b5"/>
    <p:sldId xmlns:r="http://schemas.openxmlformats.org/officeDocument/2006/relationships" id="261" r:id="Rcc74104182fb4e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81f6307db4f83" /><Relationship Type="http://schemas.openxmlformats.org/officeDocument/2006/relationships/slideMaster" Target="/ppt/slideMasters/slideMaster1.xml" Id="Rbfcbbf9f4579455c" /><Relationship Type="http://schemas.openxmlformats.org/officeDocument/2006/relationships/notesMaster" Target="/ppt/notesMasters/notesMaster1.xml" Id="R4b9d56c523484bd5" /><Relationship Type="http://schemas.openxmlformats.org/officeDocument/2006/relationships/presProps" Target="/ppt/presProps.xml" Id="R723e47ff894f47a0" /><Relationship Type="http://schemas.openxmlformats.org/officeDocument/2006/relationships/tableStyles" Target="/ppt/tableStyles.xml" Id="R83c2d3430fed456e" /><Relationship Type="http://schemas.openxmlformats.org/officeDocument/2006/relationships/slide" Target="/ppt/slides/slide1.xml" Id="R8678dd9653794d47" /><Relationship Type="http://schemas.openxmlformats.org/officeDocument/2006/relationships/slide" Target="/ppt/slides/slide2.xml" Id="Rcd86beba24a84006" /><Relationship Type="http://schemas.openxmlformats.org/officeDocument/2006/relationships/slide" Target="/ppt/slides/slide3.xml" Id="R9170c6a5bd1b4d07" /><Relationship Type="http://schemas.openxmlformats.org/officeDocument/2006/relationships/slide" Target="/ppt/slides/slide4.xml" Id="R71b6a49df6d7457b" /><Relationship Type="http://schemas.openxmlformats.org/officeDocument/2006/relationships/slide" Target="/ppt/slides/slide5.xml" Id="Rc2838bc1800b48b5" /><Relationship Type="http://schemas.openxmlformats.org/officeDocument/2006/relationships/slide" Target="/ppt/slides/slide6.xml" Id="Rcc74104182fb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4f1cc9ad6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1ba48df5f423d" /><Relationship Type="http://schemas.openxmlformats.org/officeDocument/2006/relationships/notesMaster" Target="/ppt/notesMasters/notesMaster1.xml" Id="R1bd1eeff10d5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bfd4c1b8242f6" /><Relationship Type="http://schemas.openxmlformats.org/officeDocument/2006/relationships/notesMaster" Target="/ppt/notesMasters/notesMaster1.xml" Id="R7ee6afd9c187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ede0f4fe14481" /><Relationship Type="http://schemas.openxmlformats.org/officeDocument/2006/relationships/notesMaster" Target="/ppt/notesMasters/notesMaster1.xml" Id="R720a2a9a5198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4d30a9ca348c0" /><Relationship Type="http://schemas.openxmlformats.org/officeDocument/2006/relationships/notesMaster" Target="/ppt/notesMasters/notesMaster1.xml" Id="Rf95f5f70fa89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641fd70e34ab0" /><Relationship Type="http://schemas.openxmlformats.org/officeDocument/2006/relationships/notesMaster" Target="/ppt/notesMasters/notesMaster1.xml" Id="R4c2f40c813b043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5bf41a4d104bae" /><Relationship Type="http://schemas.openxmlformats.org/officeDocument/2006/relationships/notesMaster" Target="/ppt/notesMasters/notesMaster1.xml" Id="R0ef4602a954b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 in SystemCode/data/fleetcare_inference.py.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experiment sequence in repository history: test_00, test_01, test_02-05, test_06c-10c, test_11c and test_12c. Cost experiments were reviewed but excluded from the final no-cost selection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 on the model branch.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results from test_12c. Official Validation: F5/P3 Macro F1 0.201098, mean horizon AP 0.040280; F5/P5 Macro F1 0.203502, mean horizon AP 0.043174. PolicyDev winners: risk-ranking mean AP 0.192175 ± 0.014271; five-class Macro F1 0.201593 ± 0.003539. Earlier Official Validation accuracy mean 0.970194 and Macro F1 mean 0.202518.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action escalation for TR1 and TR2 uses P99.5. TR0 precedes TRV in rule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 from 8 October 2026. Dry run produced one latest prediction for 5,037 vehicles and seven COLLECT_MORE_DATA decisions,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6a53946ea4a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df1d1b7394c95" /><Relationship Type="http://schemas.openxmlformats.org/officeDocument/2006/relationships/slideLayout" Target="/ppt/slideLayouts/slideLayout1.xml" Id="R635da72415bb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da72415bb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8de2af751496e" /><Relationship Type="http://schemas.openxmlformats.org/officeDocument/2006/relationships/notesSlide" Target="/ppt/notesSlides/notesSlide1.xml" Id="R0b62a3602752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c32fe0d6344e8" /><Relationship Type="http://schemas.openxmlformats.org/officeDocument/2006/relationships/notesSlide" Target="/ppt/notesSlides/notesSlide2.xml" Id="Rfe7f6b11b48f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055a2c2b14d84" /><Relationship Type="http://schemas.openxmlformats.org/officeDocument/2006/relationships/notesSlide" Target="/ppt/notesSlides/notesSlide3.xml" Id="Reb6299436728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a38264c5842e2" /><Relationship Type="http://schemas.openxmlformats.org/officeDocument/2006/relationships/chart" Target="/ppt/slides/charts/chart1.xml" Id="Rc648169a129b489f" /><Relationship Type="http://schemas.openxmlformats.org/officeDocument/2006/relationships/notesSlide" Target="/ppt/notesSlides/notesSlide4.xml" Id="R71a9cffe1092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65ba7718c4120" /><Relationship Type="http://schemas.openxmlformats.org/officeDocument/2006/relationships/notesSlide" Target="/ppt/notesSlides/notesSlide5.xml" Id="R90119de3b3e647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958f862f4ba3" /><Relationship Type="http://schemas.openxmlformats.org/officeDocument/2006/relationships/notesSlide" Target="/ppt/notesSlides/notesSlide6.xml" Id="R2af9006edcf045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607D8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E9A23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2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AFAF7"/>
        </a:solidFill>
        <a:ln xmlns:a="http://schemas.openxmlformats.org/drawingml/2006/main" w="0">
          <a:solidFill>
            <a:srgbClr val="FAFAF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9E0E-AC00-4970-A44A-DB48962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E9A2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0F835-1ABE-45FF-AC57-407A05A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45B47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396A-1822-414E-AA12-4D03A97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Model Iteration, Evaluation</a:t>
            </a:r>
          </a:p>
          <a:p xmlns:a="http://schemas.openxmlformats.org/drawingml/2006/main">
            <a:pPr algn="l">
              <a:defRPr sz="390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and Decision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0A930-D245-499E-B1AD-8470320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  <a:p xmlns:a="http://schemas.openxmlformats.org/drawingml/2006/main">
            <a:pPr algn="l">
              <a:defRPr sz="17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Final model, temporal rule engine and production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D4131-A912-4E64-AFAB-AC6E500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A2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60947-E2CF-4B7F-BA00-DD14B6F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55A64"/>
                </a:solidFill>
                <a:latin typeface="Arial"/>
                <a:ea typeface="Arial"/>
                <a:cs typeface="Arial"/>
              </a:rPr>
              <a:t>Five-class probability model with Risk6, Risk12, Risk24 and Risk48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59451-3007-4572-8D32-95C2879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4F01B-19D5-4C4C-953D-29E4284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85719-3693-49BC-9FE6-5385585A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97E83-1F9D-48ED-8F83-E4D913FD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A0008-E038-4B43-9BA5-3839A002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F0C89-23AA-4ED6-B5A7-EB5C961E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168D-3701-47F9-90C7-D08E7271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5CF86-E86D-45AB-B324-A41FEE4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04AF0-89D5-4991-84F7-B08807A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F6873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Risk6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F0340-B9C9-4612-B24F-DBF7957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19050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5B47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</p:spTree>
    <p:extLst>
      <p:ext uri="{BB962C8B-B14F-4D97-AF65-F5344CB8AC3E}">
        <p14:creationId xmlns:p14="http://schemas.microsoft.com/office/powerpoint/2010/main" val="524899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BB17A-16F8-4ED9-ADF9-0B21A592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BCA79-4C80-43AF-B80D-26EB2BF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6BA47-BE39-4C33-94D9-08C50680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Each iteration addressed a specific limitation found in the previous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2E9EE-5C0E-4672-832F-38FB71B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CD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575EC-4A9A-4D35-891D-6037FEAE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21EB-ADB6-484D-A46E-B84336EC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0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04E61-3441-4431-82E4-83388FD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Exposed class imbalance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DAFCD-1EEA-4483-8994-D4AC91D2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A80C-2D59-4AC5-9073-84C091D7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6C8A0-9340-41FE-88FA-1F7F48E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Nonlinear five-class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F98E2-FB00-4963-B102-DE876DC9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EFF05-A587-45CC-A060-935AA62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6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Vehicle-aware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9DA83-5817-4506-ADEB-AEC23E2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Vehicle split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A469F-82EF-48AC-9A6B-0DE9BEA9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52991-B714-47D4-A2F1-1BA3E19A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Multi-readout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D0CB-079C-44CC-A01E-D2BD528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Rates, changes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historical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61ACD-8532-4B19-8D36-B03F8DB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8AD53-527D-4024-B75C-EB61F4C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3B2AD-10C8-467C-972A-9F1E0B9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0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Calibration, cost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capacity experiments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87BE7-0A15-4E42-AE01-8D40068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F8BE0-C150-4B28-B809-CE6DBC05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0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BAA09-500E-4A48-82A7-974E4F3B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No-cost feature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parameter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FC81C-17DD-400D-A3C4-9EF8825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AA50A-0ACB-4A9D-B60E-6E1FAC1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The project retained XGBoost with vehicle-aware history. Cost-based model selection was removed because the public dataset does not provide an operational cost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3D02E-1C1B-4513-94C6-0748FDF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9504B-A9DA-4D28-8DC9-A921D34D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0954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5B763-0814-4437-BB6F-FBA6A18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A8A8-753C-471D-AB97-1A446825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E3768-3F8C-41FE-AB02-FA0DD93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2476500"/>
                <a:gridCol w="3924300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AFAF7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26323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AFAF7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26323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AFAF7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263238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Keeps all rates and adds 6/12-unit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97B79-5FB1-4C38-931B-B37A4B0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4948C-69E3-4148-88FA-0A04175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717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5CE4B-DE2B-403C-A817-01F9718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feature / parameter combinations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in the first screening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9334D-CDBB-4FEE-B3F2-31065E8B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607D8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607D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3533E-8D58-4618-AAB6-8827CB4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52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random seeds for finalists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8ABD7-02DA-4E33-91BF-42F92BA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Risk ranking</a:t>
            </a:r>
          </a:p>
          <a:p xmlns:a="http://schemas.openxmlformats.org/drawingml/2006/main">
            <a:pPr algn="ctr">
              <a:defRPr sz="15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8EED0-EB63-41B1-987C-03B28DC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4F6873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Five-class classification</a:t>
            </a:r>
          </a:p>
          <a:p xmlns:a="http://schemas.openxmlformats.org/drawingml/2006/main">
            <a:pPr algn="ctr">
              <a:defRPr sz="15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FCFE7-EDC2-4D7C-BDF5-46F335A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0A014-9540-40AA-92EC-70EFA1A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4309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1A2CA-8858-4CA6-8C45-3E081C8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B72B8-3077-43C0-B8BF-C3596A4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585A4-6D93-44FD-814B-C6425636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PolicyDev selected the configurations. Official Validation remained excluded from model selection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48169a129b48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96F99-7498-4F15-9630-C047679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6AFA5-6379-4AB9-B5C2-A052FA3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660D8-25E2-4F85-8A7A-E8CFC00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FF6DC-0832-4F98-8648-9C29E49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EF96C-502F-454F-BF91-E7716218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0440A-242C-43F1-9AEB-A176763A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A013F-0093-4B1F-A3E7-1F8BEAD8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Accuracy 0.970</a:t>
            </a:r>
          </a:p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AD824-9A4E-4FEC-9CB5-6E32AC2E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High accuracy mainly reflects the dominant C0 class. Macro F1 and horizon AP provide a more honest view of minority-risk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705FC-C50E-41D3-953C-F28AD361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23370-9791-4415-8F1A-32FA992B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644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AB8B3-18D8-46AC-BC03-6B01A75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1C9D9-BE2C-4C9B-82E2-60A44124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A8DCC-8A2C-4423-A43E-4D4BB2F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The model supplies probabilities. Deterministic rules convert evidence into maintenance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1E784-CEE7-4936-A3B2-BC841DA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10F27-453B-4F97-A143-4287376B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B8C8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1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123B4-F220-43B4-B9A5-F230C76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098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5747A"/>
          </a:solidFill>
          <a:ln xmlns:a="http://schemas.openxmlformats.org/drawingml/2006/main" w="9525">
            <a:solidFill>
              <a:srgbClr val="65747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79666-5782-49AB-A8F1-6259DAE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860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EB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E8C33-9FFA-494C-A2B2-E1A3D90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2C66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TR0</a:t>
            </a:r>
          </a:p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C3/C4 + &lt;3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90AFE-27AC-48F0-AA14-D0107D2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885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C4BE8-BD8D-4682-A47D-FA5AAE1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147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A6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5368A-F03D-47F5-AA40-26EA8FC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5A3A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TRV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low confidence + repeated jumps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8D48A-93FA-4C27-A0C4-F6E428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45B47"/>
          </a:solidFill>
          <a:ln xmlns:a="http://schemas.openxmlformats.org/drawingml/2006/main" w="9525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UNSTABLE</a:t>
            </a:r>
          </a:p>
          <a:p xmlns:a="http://schemas.openxmlformats.org/drawingml/2006/main">
            <a:pPr algn="ctr">
              <a:defRPr sz="112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00E6D-04D7-4E87-9D3E-B5A1F33A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7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697E2-880E-4AC5-9585-2577102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5F3C8-093F-4F5E-979B-58FFC40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A422B-AD2C-4073-B6DE-058EA1AD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C4 + Risk6 top 0.5% + persistent / fast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EC3D1-7465-41A2-955D-A0D2140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45B47"/>
          </a:solidFill>
          <a:ln xmlns:a="http://schemas.openxmlformats.org/drawingml/2006/main" w="9525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AE4C9-B567-4C53-8EEB-2C169534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70C57-BFBA-4DE4-98B0-03F2495B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C3/C4 with extreme Risk12, or extreme persistent Risk6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09DB1-76AE-46F9-A484-42A5F41C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7732"/>
          </a:solidFill>
          <a:ln xmlns:a="http://schemas.openxmlformats.org/drawingml/2006/main" w="9525">
            <a:solidFill>
              <a:srgbClr val="E7773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8203C-89D5-43A0-AA12-6F750D08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6824D-325C-465F-8113-7E56E1D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C2, or high Risk24 with persistence / deterioration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63ABF-E9E2-45C6-AB74-CAE15AF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16B2D-21C0-4FF5-918E-D352DE88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386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F168B-54E6-49DB-8D44-5CD0D6F0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C1, or high Risk48 with persistence / deterioration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A5B3D-C6A2-4F83-9E01-BE4E2D3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F6873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0DA11-B380-48CE-9B0E-D7827FA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861F8-65D8-4319-93CA-FE969889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7E1D1-1128-4B09-B2CA-56FE79A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197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47A67"/>
          </a:solidFill>
          <a:ln xmlns:a="http://schemas.openxmlformats.org/drawingml/2006/main" w="9525">
            <a:solidFill>
              <a:srgbClr val="647A6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663A5-1CC4-4E53-A681-FAA02747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Volatility safeguard: confidence &lt; 0.35, probability margin &lt; 0.03, and at least three class jumps of two or more levels within the recent five predictions.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D8082-5DA1-4A8F-8EF1-2769E27B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B5DC2-0A29-4FFC-8BA3-956E6052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6341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80CAF-1F46-4A23-9C12-8BB5C0D8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CE80E-71CE-4766-8656-E0191D7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AAA51-8112-4C95-83DA-DD02A93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The application reads stored results. The model runs only when operational data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C0758-E63C-4D8A-A14F-CA74A44B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F024-431C-418E-93BD-E99CE90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96A1B-05D8-4CB0-8220-60F69CF1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52625"/>
            <a:ext cx="1828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Feature engineering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current, rate, change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rolling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694CF-C6AF-4197-A950-E55F80C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BC8D6-E08C-4846-BE13-9E37363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Final XGBoost</a:t>
            </a:r>
          </a:p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P(C0…C4)</a:t>
            </a:r>
          </a:p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Risk6/12/24/48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4EAD7-E66C-463B-B331-5C07539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259CF-8CDE-49A7-913E-D8E9345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4F6873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Rule engine</a:t>
            </a:r>
          </a:p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TR0–TR6</a:t>
            </a:r>
          </a:p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FAF7"/>
                </a:solidFill>
                <a:latin typeface="Arial"/>
                <a:ea typeface="Arial"/>
                <a:cs typeface="Arial"/>
              </a:rPr>
              <a:t>TRV and TRD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9E678-58E0-4AE5-B3D1-580223CB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0820B-6012-4C66-B58C-26B2C45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Stored output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B9874-2C6E-4B48-8AD1-7C5D0AF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006D4-B79C-4E61-B7B9-A67C608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latest row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57E5E-FC59-4013-98FA-FA121F33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1B713-1138-4F40-AF0C-71A31C8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81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813C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5CE35-398B-46EE-BD9E-DEC312CB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Each vehicle receives one latest decision. Vehicles with one readout bypass the model and receive COLLECT_MORE_DATA.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CA9C9-75AF-42E6-B9F7-732BDB64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0AF55-0EF7-4406-858B-6CBFB35C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2F015-F9A8-49B7-B09E-A6BE9DA5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readouts 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E2CE5-8B25-46D7-B0BA-ABCD9D2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01EEF-65C0-4F6C-A8AF-EDACC27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latest model predictions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41CDA-5651-4A45-8FE4-B1B168F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C45B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AC2D1-56BE-457A-BFE9-067DEDF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8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collect-more-data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EB78D-C0BB-4676-89DD-EE7232CE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Dashboard queries filter to the latest analysis row per vehicle, then exclude inactive or in-maintenance vehicles.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85505-A9AE-4666-8EC0-8004CF3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EA5B3-732B-4C54-ADE3-98058DC5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5989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2026-10-12T22:36:28.2750000Z</dcterms:created>
  <dcterms:modified xsi:type="dcterms:W3CDTF">2026-10-12T22:36:28.2750000Z</dcterms:modified>
</coreProperties>
</file>