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194722808704855" /><Relationship Type="http://schemas.openxmlformats.org/officeDocument/2006/relationships/extended-properties" Target="/docProps/app.xml" Id="R63c637a2c39f445e" /><Relationship Type="http://schemas.openxmlformats.org/officeDocument/2006/relationships/officeDocument" Target="/ppt/presentation.xml" Id="Ree9742f7ddac4c6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76de3d5aa404209"/>
  </p:sldMasterIdLst>
  <p:notesMasterIdLst>
    <p:notesMasterId xmlns:r="http://schemas.openxmlformats.org/officeDocument/2006/relationships" r:id="Rfa07a766bd484f05"/>
  </p:notesMasterIdLst>
  <p:sldIdLst>
    <p:sldId xmlns:r="http://schemas.openxmlformats.org/officeDocument/2006/relationships" id="256" r:id="R00c0d0cefdf748c9"/>
    <p:sldId xmlns:r="http://schemas.openxmlformats.org/officeDocument/2006/relationships" id="257" r:id="R027d9ca46eef4484"/>
    <p:sldId xmlns:r="http://schemas.openxmlformats.org/officeDocument/2006/relationships" id="258" r:id="Rf2799b7195144ff9"/>
    <p:sldId xmlns:r="http://schemas.openxmlformats.org/officeDocument/2006/relationships" id="259" r:id="Re3a42ff3248b4977"/>
    <p:sldId xmlns:r="http://schemas.openxmlformats.org/officeDocument/2006/relationships" id="260" r:id="R9973a1e6cb2d4ea8"/>
    <p:sldId xmlns:r="http://schemas.openxmlformats.org/officeDocument/2006/relationships" id="261" r:id="R491076315faf4b3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8a859edced143f1" /><Relationship Type="http://schemas.openxmlformats.org/officeDocument/2006/relationships/slideMaster" Target="/ppt/slideMasters/slideMaster1.xml" Id="R076de3d5aa404209" /><Relationship Type="http://schemas.openxmlformats.org/officeDocument/2006/relationships/notesMaster" Target="/ppt/notesMasters/notesMaster1.xml" Id="Rfa07a766bd484f05" /><Relationship Type="http://schemas.openxmlformats.org/officeDocument/2006/relationships/presProps" Target="/ppt/presProps.xml" Id="R465f98bda3874e2b" /><Relationship Type="http://schemas.openxmlformats.org/officeDocument/2006/relationships/tableStyles" Target="/ppt/tableStyles.xml" Id="R823e871fd2b04e31" /><Relationship Type="http://schemas.openxmlformats.org/officeDocument/2006/relationships/slide" Target="/ppt/slides/slide1.xml" Id="R00c0d0cefdf748c9" /><Relationship Type="http://schemas.openxmlformats.org/officeDocument/2006/relationships/slide" Target="/ppt/slides/slide2.xml" Id="R027d9ca46eef4484" /><Relationship Type="http://schemas.openxmlformats.org/officeDocument/2006/relationships/slide" Target="/ppt/slides/slide3.xml" Id="Rf2799b7195144ff9" /><Relationship Type="http://schemas.openxmlformats.org/officeDocument/2006/relationships/slide" Target="/ppt/slides/slide4.xml" Id="Re3a42ff3248b4977" /><Relationship Type="http://schemas.openxmlformats.org/officeDocument/2006/relationships/slide" Target="/ppt/slides/slide5.xml" Id="R9973a1e6cb2d4ea8" /><Relationship Type="http://schemas.openxmlformats.org/officeDocument/2006/relationships/slide" Target="/ppt/slides/slide6.xml" Id="R491076315faf4b3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ac27a15476a424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74f1022559d4086" /><Relationship Type="http://schemas.openxmlformats.org/officeDocument/2006/relationships/notesMaster" Target="/ppt/notesMasters/notesMaster1.xml" Id="R96e20918a35f4d3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89565748ea7423a" /><Relationship Type="http://schemas.openxmlformats.org/officeDocument/2006/relationships/notesMaster" Target="/ppt/notesMasters/notesMaster1.xml" Id="R9e8d7d74c7f5441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b61fccffb7e40ab" /><Relationship Type="http://schemas.openxmlformats.org/officeDocument/2006/relationships/notesMaster" Target="/ppt/notesMasters/notesMaster1.xml" Id="R32f2e7316fe649c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2b966156e484b0e" /><Relationship Type="http://schemas.openxmlformats.org/officeDocument/2006/relationships/notesMaster" Target="/ppt/notesMasters/notesMaster1.xml" Id="R2908aa94191b449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199e5976aec4897" /><Relationship Type="http://schemas.openxmlformats.org/officeDocument/2006/relationships/notesMaster" Target="/ppt/notesMasters/notesMaster1.xml" Id="Rd967dd0d28884f3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9c107baf5444b61" /><Relationship Type="http://schemas.openxmlformats.org/officeDocument/2006/relationships/notesMaster" Target="/ppt/notesMasters/notesMaster1.xml" Id="Raab95a92a6d64f2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five-class model outputs class probabilities and four cumulative horizon risks. The dashboard reads the stored latest decision and does not rerun the model.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Experiment sequence from repository test_00 through test_12c. Cost-based selection was removed because the public data does not contain an operational cost model.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User-provided test_12c output. F5 with P3 medium selected for horizon risk ranking. F5 with P5 less regularized selected for five-class classification.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Official Validation means: accuracy 0.970, Macro F1 approximately 0.203, mean horizon AP 0.043 for F5/P5, and Risk6 AP 0.032. Accuracy is dominated by the majority C0 class.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TRD handles vehicles with only one readout. TR0 and TRV route insufficient or unstable histories to manual review. TR1 through TR6 use class, horizon risk, persistence and deterioration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SystemCode/data/run_model.py and SystemCode/data/fleetcare_inference.py. Verified dry run: 193,095 readouts, 5,037 predictions and 7 COLLECT_MORE_DATA vehicles. Dashboard query filters isactive = 1 and in_maintenance IS NULL.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94c55b905040f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45a49abe3084652" /><Relationship Type="http://schemas.openxmlformats.org/officeDocument/2006/relationships/slideLayout" Target="/ppt/slideLayouts/slideLayout1.xml" Id="Rffd1f90e8f23451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fd1f90e8f23451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ce876ac4cb443e" /><Relationship Type="http://schemas.openxmlformats.org/officeDocument/2006/relationships/image" Target="/ppt/media/image.png" Id="R668813d6e1264f85" /><Relationship Type="http://schemas.openxmlformats.org/officeDocument/2006/relationships/notesSlide" Target="/ppt/notesSlides/notesSlide1.xml" Id="R27fa6be2459746c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b6ee161bfa4484" /><Relationship Type="http://schemas.openxmlformats.org/officeDocument/2006/relationships/notesSlide" Target="/ppt/notesSlides/notesSlide2.xml" Id="R0dfcfcd5adbd4d2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d34724cfbc4910" /><Relationship Type="http://schemas.openxmlformats.org/officeDocument/2006/relationships/notesSlide" Target="/ppt/notesSlides/notesSlide3.xml" Id="R9829bfb1e72543d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a1626b36154867" /><Relationship Type="http://schemas.openxmlformats.org/officeDocument/2006/relationships/chart" Target="/ppt/slides/charts/chart1.xml" Id="R69f3da9e11e744e8" /><Relationship Type="http://schemas.openxmlformats.org/officeDocument/2006/relationships/notesSlide" Target="/ppt/notesSlides/notesSlide4.xml" Id="R1fc00e0b8bac489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5801695cf0493b" /><Relationship Type="http://schemas.openxmlformats.org/officeDocument/2006/relationships/notesSlide" Target="/ppt/notesSlides/notesSlide5.xml" Id="R1590f0e65da14b5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7845c6657a4c2f" /><Relationship Type="http://schemas.openxmlformats.org/officeDocument/2006/relationships/notesSlide" Target="/ppt/notesSlides/notesSlide6.xml" Id="Rb4eb820d38e84a2e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Macro F1</c:v>
          </c:tx>
          <c:spPr>
            <a:solidFill xmlns:a="http://schemas.openxmlformats.org/drawingml/2006/main">
              <a:srgbClr val="12324A"/>
            </a:solidFill>
          </c:spPr>
          <c:cat>
            <c:strLit>
              <c:ptCount val="2"/>
              <c:pt idx="0">
                <c:v>F5 + P3</c:v>
              </c:pt>
              <c:pt idx="1">
                <c:v>F5 + P5</c:v>
              </c:pt>
            </c:strLit>
          </c:cat>
          <c:val>
            <c:numLit>
              <c:formatCode>0.000</c:formatCode>
              <c:ptCount val="2"/>
              <c:pt idx="0">
                <c:v>0.201098</c:v>
              </c:pt>
              <c:pt idx="1">
                <c:v>0.203502</c:v>
              </c:pt>
            </c:numLit>
          </c:val>
        </c:ser>
        <c:ser>
          <c:idx val="1"/>
          <c:order val="1"/>
          <c:tx>
            <c:v>Mean horizon AP</c:v>
          </c:tx>
          <c:spPr>
            <a:solidFill xmlns:a="http://schemas.openxmlformats.org/drawingml/2006/main">
              <a:srgbClr val="45AAA8"/>
            </a:solidFill>
          </c:spPr>
          <c:cat>
            <c:strLit>
              <c:ptCount val="2"/>
              <c:pt idx="0">
                <c:v>F5 + P3</c:v>
              </c:pt>
              <c:pt idx="1">
                <c:v>F5 + P5</c:v>
              </c:pt>
            </c:strLit>
          </c:cat>
          <c:val>
            <c:numLit>
              <c:formatCode>0.000</c:formatCode>
              <c:ptCount val="2"/>
              <c:pt idx="0">
                <c:v>0.04028</c:v>
              </c:pt>
              <c:pt idx="1">
                <c:v>0.043174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12324A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E0E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0.24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4EAEC"/>
              </a:solidFill>
              <a:prstDash val="solid"/>
            </a:ln>
          </c:spPr>
        </c:majorGridlines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04"/>
      </c:valAx>
      <c:spPr>
        <a:solidFill xmlns:a="http://schemas.openxmlformats.org/drawingml/2006/main">
          <a:srgbClr val="FFFFFF"/>
        </a:solidFill>
        <a:ln xmlns:a="http://schemas.openxmlformats.org/drawingml/2006/main" w="0">
          <a:solidFill>
            <a:srgbClr val="FFFFFF"/>
          </a:solidFill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9E6364D-31E5-46C4-8E7C-6CB940BB6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87F86"/>
                </a:solidFill>
                <a:latin typeface="Arial"/>
                <a:ea typeface="Arial"/>
                <a:cs typeface="Arial"/>
              </a:rPr>
              <a:t>01  SYSTEM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1A1ADC-869B-481C-9E9A-3272C4D8F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9125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One vehicle history becomes one traceable maintenance action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CE926B-9B29-4CED-AD08-C2E07DB9F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9675"/>
            <a:ext cx="10668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The model ranks risk. The rule engine checks whether the evidence is stable enough to act.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D78E0B-68FE-44AC-A372-67649AC67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857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782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087F86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714AAD-B844-4E9B-AFAC-583159844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9050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risk classes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0118BD-E6F2-4A70-A112-FC9340248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20027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C0 to C4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C681E7-0DC8-435F-A2BD-B619FEDDD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2890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4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DCD840-641A-41EF-9EAF-74865DA74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76550"/>
            <a:ext cx="857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782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6A52C7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6A52C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485D4B-7028-4FC8-B554-22C3C36B9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9718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risk horizons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1C0E96-AED0-4AC0-938D-433C01C1A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2670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6 / 12 / 24 / 48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1D3A6F-EE2E-44D6-ACAA-D85F84B76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9570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4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383DAF-57AB-4BAF-B3E8-42A872CB0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52875"/>
            <a:ext cx="857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782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E35F43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E35F43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5312F6-6451-4E68-AC9A-3FB2FB89A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04812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stored decision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9F1B45-890D-409D-8825-2B4F5AE53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3434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latest active vehicle row</a:t>
            </a:r>
          </a:p>
        </p:txBody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8813d6e1264f85"/>
          <a:stretch xmlns:a="http://schemas.openxmlformats.org/drawingml/2006/main"/>
        </p:blipFill>
        <p:spPr>
          <a:xfrm xmlns:a="http://schemas.openxmlformats.org/drawingml/2006/main">
            <a:off x="3814580" y="1562100"/>
            <a:ext cx="7277464" cy="409575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D416C6-A542-4AE6-B3A9-8CEF64DFC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17526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86"/>
          </a:solidFill>
          <a:ln xmlns:a="http://schemas.openxmlformats.org/drawingml/2006/main" w="9525">
            <a:solidFill>
              <a:srgbClr val="087F86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1CBCCD-F804-4228-9EAF-A495DF43E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175260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Risk48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AC1B2C-1CC7-4BBB-927C-6E9A5CCB4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143125"/>
            <a:ext cx="0" cy="342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087F8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F20E26-CE4F-482C-B8A1-E97898E8B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25908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AAA8"/>
          </a:solidFill>
          <a:ln xmlns:a="http://schemas.openxmlformats.org/drawingml/2006/main" w="9525">
            <a:solidFill>
              <a:srgbClr val="45AAA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C62068-4AB3-46A6-AA19-7AA515E1F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259080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Risk24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E57C0E-D73D-4CF2-BBC7-D2FEE9B94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2981325"/>
            <a:ext cx="0" cy="342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45AAA8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06F750-39CF-484B-BE34-9FFB5AAAF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3529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A52C7"/>
          </a:solidFill>
          <a:ln xmlns:a="http://schemas.openxmlformats.org/drawingml/2006/main" w="9525">
            <a:solidFill>
              <a:srgbClr val="6A52C7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01D672-A6E1-491F-9899-592964D9F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35292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Risk12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65F50DD-3AC6-45A1-9066-E3B8962C2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4743450"/>
            <a:ext cx="0" cy="342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6A52C7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10C0A74-BEFE-4E04-A68D-9FB9C9F00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8768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5F43"/>
          </a:solidFill>
          <a:ln xmlns:a="http://schemas.openxmlformats.org/drawingml/2006/main" w="9525">
            <a:solidFill>
              <a:srgbClr val="E35F43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B5D79E1-6941-4E6E-A67F-9DD4E6A31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87680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Risk6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9FC6E8F-B545-4769-A779-D4E5FC18D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5267325"/>
            <a:ext cx="0" cy="342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E35F43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9F3AAB-A927-4872-83A8-27E796768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79120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Readouts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F3E160E-29A1-4892-9F57-58909AB54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895975"/>
            <a:ext cx="1095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7F86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0B50604-2698-4711-B231-AA77A6879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7912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7F86"/>
                </a:solidFill>
                <a:latin typeface="Arial"/>
                <a:ea typeface="Arial"/>
                <a:cs typeface="Arial"/>
              </a:rPr>
              <a:t>Temporal features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941FAEE-8250-4198-A82E-E5774665E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5895975"/>
            <a:ext cx="1000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A52C7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CA202CF-5AFF-4085-ADCB-1C1946077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57912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A52C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A52C7"/>
                </a:solidFill>
                <a:latin typeface="Arial"/>
                <a:ea typeface="Arial"/>
                <a:cs typeface="Arial"/>
              </a:rPr>
              <a:t>XGBoost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E788EB8-6C09-43B4-9751-B74ED6161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895975"/>
            <a:ext cx="904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5F43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CC47DA7-A662-4C98-9960-9102A9FBB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7912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35F4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35F43"/>
                </a:solidFill>
                <a:latin typeface="Arial"/>
                <a:ea typeface="Arial"/>
                <a:cs typeface="Arial"/>
              </a:rPr>
              <a:t>Action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2FBAA87-5A59-45D4-B4EE-AE989FE8A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4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A0A09F8-D870-42FD-AD71-FA306A03A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FleetCare AI  /  Group 47  /  Technical walkthrough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133AC41-AEB8-414A-A3F0-0751DF9F2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7700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0:00–0:30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DD54621-2E37-461E-B437-E838575F0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57950"/>
            <a:ext cx="4667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87443356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B9955DA-725D-4BE1-B5B5-02FB6881D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87F86"/>
                </a:solidFill>
                <a:latin typeface="Arial"/>
                <a:ea typeface="Arial"/>
                <a:cs typeface="Arial"/>
              </a:rPr>
              <a:t>02  MODEL ITERATION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5EC6B0-12D4-4E6D-8270-181FAF88D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9125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646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The experiments progressively removed leakage, weak history signals and cost dependence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AD460C-FDBE-42DC-88A8-5723FB0B2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9675"/>
            <a:ext cx="10668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Twelve experiment stages converged on vehicle-aware temporal XGBoost with no cost objective.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FC98AD-F8BB-48EC-9AC0-D3EA3C5A4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76625"/>
            <a:ext cx="10429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7E0E4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2DB0F1-6061-45F4-A421-D9B3A7154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2766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7B8D"/>
          </a:solidFill>
          <a:ln xmlns:a="http://schemas.openxmlformats.org/drawingml/2006/main" w="9525">
            <a:solidFill>
              <a:srgbClr val="667B8D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F2CDFB-A385-4551-A3B0-440A5599A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2766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6C9E2C-C50B-4EA7-9276-29843A4EE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43225"/>
            <a:ext cx="0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667B8D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808EE3-3044-4376-8D00-894E858B7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4765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Static baseline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AB82C1-1474-4DCA-9432-D1117A0E4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71462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Random Forest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DA1230-F32D-4956-AF9A-0C95D744F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2766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24A"/>
          </a:solidFill>
          <a:ln xmlns:a="http://schemas.openxmlformats.org/drawingml/2006/main" w="9525">
            <a:solidFill>
              <a:srgbClr val="12324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D2EE79-E950-48AC-8076-3EA743EDB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2766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7C4961-A349-46C2-A053-1A45BA455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676650"/>
            <a:ext cx="0" cy="238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12324A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479048-0A68-4B7D-86B4-8CDC15034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8290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Nonlinear ranking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12B154-6F57-426F-8B3A-42B74495B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06717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XGBoost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0A4700-7B6D-4DEE-8645-F5EC8ED9D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2766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86"/>
          </a:solidFill>
          <a:ln xmlns:a="http://schemas.openxmlformats.org/drawingml/2006/main" w="9525">
            <a:solidFill>
              <a:srgbClr val="087F86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A5A6DD-4626-407C-8C01-E9E7AFF7E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2766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05C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BA6A76-3B31-4CF4-826C-382766A11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943225"/>
            <a:ext cx="0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087F86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56C362-522C-409E-8A9A-0861F7AAB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4765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Vehicle split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AEA19F-AA01-41E4-B3C1-80718C01E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71462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Leakage control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8D0A82-F3CE-40D4-8B06-EFCA5671D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2766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AAA8"/>
          </a:solidFill>
          <a:ln xmlns:a="http://schemas.openxmlformats.org/drawingml/2006/main" w="9525">
            <a:solidFill>
              <a:srgbClr val="45AAA8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6A9952-8B83-4179-9298-169E4C28E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2766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6F80B5-0A32-4A76-AE14-A84DECB6F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676650"/>
            <a:ext cx="0" cy="238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45AAA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88BA3A-888D-4DB2-A5DA-2727602E6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8290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Past-only history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B11DFEB-535A-484F-90D7-3DB60D75B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06717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Rates + change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086CED1-2756-4A5C-833B-485676F79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32766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C8425"/>
          </a:solidFill>
          <a:ln xmlns:a="http://schemas.openxmlformats.org/drawingml/2006/main" w="9525">
            <a:solidFill>
              <a:srgbClr val="BC8425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22571DF-0B8E-455D-912B-D629D1540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32766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1A3CF90-D849-4B27-AD19-C1DB72AB1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43225"/>
            <a:ext cx="0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BC8425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6DC9484-DD3D-4C33-A999-48247DE9D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765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Policy rules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17C8B29-C24F-4C1D-8E28-A7166385F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1462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Persistence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D4EA1C8-461F-483A-9106-C96A9A68D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2004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A52C7"/>
          </a:solidFill>
          <a:ln xmlns:a="http://schemas.openxmlformats.org/drawingml/2006/main" w="9525">
            <a:solidFill>
              <a:srgbClr val="6A52C7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00D7804-B5BE-4F7C-9D47-3A0AF7542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20040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12C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A0E48D2-DC28-4E04-A707-285351BEF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3676650"/>
            <a:ext cx="0" cy="238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6A52C7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1F49ECD-CDE3-4A88-8FCD-EAAF3E6B1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8290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Final search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B5AD220-36A2-4D29-BF6C-6D9B690CD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06717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25 combinations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7992742-8F5F-49F6-B488-3394463DF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91125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A52C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A52C7"/>
                </a:solidFill>
                <a:latin typeface="Arial"/>
                <a:ea typeface="Arial"/>
                <a:cs typeface="Arial"/>
              </a:rPr>
              <a:t>FINAL DESIGN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03A2C1A-9C54-42AB-A803-DA9BF35A6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29250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833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XGBoost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16DE322-5B4D-4BAA-A699-77F4CD5A6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4292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87F86"/>
                </a:solidFill>
                <a:latin typeface="Arial"/>
                <a:ea typeface="Arial"/>
                <a:cs typeface="Arial"/>
              </a:rPr>
              <a:t>vehicle-level split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3B13A53-E738-4D10-B919-6873916B1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29250"/>
            <a:ext cx="2619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5AAA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5AAA8"/>
                </a:solidFill>
                <a:latin typeface="Arial"/>
                <a:ea typeface="Arial"/>
                <a:cs typeface="Arial"/>
              </a:rPr>
              <a:t>past-only temporal features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D27101A-0B80-44F1-A36B-CE25B57A1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4292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A52C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A52C7"/>
                </a:solidFill>
                <a:latin typeface="Arial"/>
                <a:ea typeface="Arial"/>
                <a:cs typeface="Arial"/>
              </a:rPr>
              <a:t>no cost objective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51189ED-3B39-490E-90BD-05F7FE6A9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4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2BCDFB0-94D8-41DB-9E8C-EB371DE1E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FleetCare AI  /  Group 47  /  Technical walkthrough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75B1F35-B887-4660-BD88-82F1CA247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7700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0:30–1:15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67B07A5-7802-407C-B10A-28D580E14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57950"/>
            <a:ext cx="4667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98962895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53558CA-7095-4C0E-B90A-9C3318D52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87F86"/>
                </a:solidFill>
                <a:latin typeface="Arial"/>
                <a:ea typeface="Arial"/>
                <a:cs typeface="Arial"/>
              </a:rPr>
              <a:t>03  MODEL SELECTION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119AF3-8E1E-48F1-8CA3-588D8552C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9125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099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Twenty-five feature and parameter combinations produced two final models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C8AEBE-EFC4-41F9-A4A6-3F534ED71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9675"/>
            <a:ext cx="10668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One model ranks near-term risk. The other produces the five-class state.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DDD8D9-DCE4-42D2-A5E9-253BD89AA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19275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87F86"/>
                </a:solidFill>
                <a:latin typeface="Arial"/>
                <a:ea typeface="Arial"/>
                <a:cs typeface="Arial"/>
              </a:rPr>
              <a:t>FEATURE SET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A53F4C-440F-4976-9C01-C9873D484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76450"/>
            <a:ext cx="219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F1  all rates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F070C7-995B-48F2-B1A8-6AE219617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190750"/>
            <a:ext cx="3143250" cy="800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4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E646A6-E660-424B-B42C-87DF6FD70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95575"/>
            <a:ext cx="219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F2  rates + change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2868B4-5F97-4E15-A5C6-55F4B5D0E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809875"/>
            <a:ext cx="3143250" cy="847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4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378723-A645-4D9D-A594-581BC04DC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14700"/>
            <a:ext cx="219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F3  short rates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6F6568-9C37-4FA8-94F5-511E1ABFC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429000"/>
            <a:ext cx="3143250" cy="895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4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FE36FB-331B-428E-968D-88E7E4862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33825"/>
            <a:ext cx="219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F4  long rates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CFA8B9-6214-4AF9-ABBC-0FD1F3506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048125"/>
            <a:ext cx="3143250" cy="9429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4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308342-82F2-45F4-82F1-45F3B47DE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52950"/>
            <a:ext cx="219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A52C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A52C7"/>
                </a:solidFill>
                <a:latin typeface="Arial"/>
                <a:ea typeface="Arial"/>
                <a:cs typeface="Arial"/>
              </a:rPr>
              <a:t>F5  rates + short change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EA2B2C-F503-4F9B-8751-445BC2D7B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667250"/>
            <a:ext cx="3143250" cy="990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718">
            <a:solidFill>
              <a:srgbClr val="6A52C7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B60771-52C2-4CA0-8F6E-7FB922286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571750"/>
            <a:ext cx="1809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5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9427FC-451A-4DE8-9816-08DAFBCE2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43852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combinations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3E6D09-EC1B-4F59-AC1C-553FF051B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72427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screened on PolicyDev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FD7181-8A38-4ED1-949C-11A2566D9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400300"/>
            <a:ext cx="1619250" cy="1619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087F8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19ECC2-25FD-4AEC-829D-8241C57BD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819275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87F86"/>
                </a:solidFill>
                <a:latin typeface="Arial"/>
                <a:ea typeface="Arial"/>
                <a:cs typeface="Arial"/>
              </a:rPr>
              <a:t>PARAMETER SET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256726-2349-4E5E-B34E-C4547A516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076450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P1  regularized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2D744D-27BF-4763-939A-E2E16473E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190750"/>
            <a:ext cx="2905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4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5204D2-283C-496D-88C6-3ABA4E0E3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695575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P2  shallow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9CEE7D-FEE1-4158-95CD-FB0E66C94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809875"/>
            <a:ext cx="2905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4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80419A8-83E4-463B-A56D-7192895BB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314700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F86"/>
                </a:solidFill>
                <a:latin typeface="Arial"/>
                <a:ea typeface="Arial"/>
                <a:cs typeface="Arial"/>
              </a:rPr>
              <a:t>P3  medium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DACDD82-EDDC-4A24-9546-CE7AECB63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429000"/>
            <a:ext cx="2905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718">
            <a:solidFill>
              <a:srgbClr val="087F86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4D03224-62E0-4432-908F-40514AF3C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933825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P4  very shallow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A554F22-B859-432C-9CA9-70F407DB9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048125"/>
            <a:ext cx="2905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4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F8AC45D-71DF-4CD6-9689-B7FDF554E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552950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A52C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A52C7"/>
                </a:solidFill>
                <a:latin typeface="Arial"/>
                <a:ea typeface="Arial"/>
                <a:cs typeface="Arial"/>
              </a:rPr>
              <a:t>P5  less regularized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F9F1CBE-D50E-47AC-97EC-75FFA1C95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667250"/>
            <a:ext cx="2905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718">
            <a:solidFill>
              <a:srgbClr val="6A52C7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78E3035-E94F-4735-BD27-F561EA45E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19550"/>
            <a:ext cx="0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2324A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895A9E7-4D4E-489F-A354-CDE2B522E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5815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24A"/>
          </a:solidFill>
          <a:ln xmlns:a="http://schemas.openxmlformats.org/drawingml/2006/main" w="9525">
            <a:solidFill>
              <a:srgbClr val="12324A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A72ACF4-B925-47A0-830F-BF2D10CD0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229225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87F86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013450C-AD0C-4F3D-9DCA-E1B085D77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772025"/>
            <a:ext cx="0" cy="457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12324A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8D26CB3-00AC-42AF-A0E3-99D0E8A6E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229225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6A52C7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85FADFB-1B9F-44F8-99B4-3B4F6962F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0673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87F86"/>
                </a:solidFill>
                <a:latin typeface="Arial"/>
                <a:ea typeface="Arial"/>
                <a:cs typeface="Arial"/>
              </a:rPr>
              <a:t>RISK RANKING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E4C7888-0E9B-41E6-B66A-A3AA2255F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2768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309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F5 + P3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E9B66F9-B543-42A4-BFD1-487A13145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638800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Mean horizon AP  0.192 ± 0.014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7FD4A82-CEDA-4934-A1D7-B5BD51933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50673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A52C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A52C7"/>
                </a:solidFill>
                <a:latin typeface="Arial"/>
                <a:ea typeface="Arial"/>
                <a:cs typeface="Arial"/>
              </a:rPr>
              <a:t>FIVE-CLASS STATE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2A7B6CC-5751-4764-B897-C2522AF1E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2768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309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F5 + P5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B4E431D-1611-4238-BB8F-5E4B7C361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638800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Macro F1  0.202 ± 0.004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3DBBDBA-7F2C-49BC-A8E7-DD13D1C0C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4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92F35D1-F5D4-4A27-8660-F44B97999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FleetCare AI  /  Group 47  /  Technical walkthrough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280E219-D93D-442E-8274-6F929A238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7700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1:15–2:00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26DE279-D2C1-45BF-92DF-DBF90A4D7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57950"/>
            <a:ext cx="4667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8855410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75C5867-8478-41E5-BC05-479CA1365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87F86"/>
                </a:solidFill>
                <a:latin typeface="Arial"/>
                <a:ea typeface="Arial"/>
                <a:cs typeface="Arial"/>
              </a:rPr>
              <a:t>04  MODEL EVALUATION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299B10-D37D-4E8F-B9B0-16BC08FA2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9125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497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Accuracy remains high because C0 dominates; Macro F1 and AP reveal the hard part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8AC93B-0F56-4C7F-9563-964DD6B41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9675"/>
            <a:ext cx="10668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Official Validation provides an independent diagnostic after PolicyDev model selection.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0B5782-9729-4447-A865-54098C4C6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66900"/>
            <a:ext cx="295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843"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E35F43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E35F43"/>
                </a:solidFill>
                <a:latin typeface="Arial"/>
                <a:ea typeface="Arial"/>
                <a:cs typeface="Arial"/>
              </a:rPr>
              <a:t>97.0%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AE9220-D9EC-417D-AF4C-19F061E39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241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overall accuracy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BD5D7D-BCD4-42BD-B06D-FC42387C6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Useful for completeness, but dominated by C0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66AA93-BCD2-4E8F-99D6-8FCE72207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809750"/>
            <a:ext cx="0" cy="385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4"/>
            </a:solidFill>
          </a:ln>
        </p:spPr>
      </p:sp>
      <p:graphicFrame>
        <p:nvGraphicFramePr>
          <p:cNvPr id="38" name="Chart"/>
          <p:cNvGraphicFramePr/>
          <p:nvPr/>
        </p:nvGraphicFramePr>
        <p:xfrm>
          <a:off xmlns:a="http://schemas.openxmlformats.org/drawingml/2006/main" x="4476750" y="1790700"/>
          <a:ext xmlns:a="http://schemas.openxmlformats.org/drawingml/2006/main" cx="6953250" cy="3000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9f3da9e11e744e8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BB3FF0-17A2-46BB-9FFA-2CEBC28BE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628775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Official Validation, five-seed mean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023C83-4D0A-41D4-89B0-875861DA4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101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Macro F1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4EAD5E-AE3D-4067-A517-538FEE43E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143500"/>
            <a:ext cx="123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75">
            <a:solidFill>
              <a:srgbClr val="D7E0E4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AB0893-9184-46F1-9EA7-AC630E8AC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143500"/>
            <a:ext cx="100545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75">
            <a:solidFill>
              <a:srgbClr val="6A52C7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FEAEFE-D680-4B3D-BEA4-AA29D2118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0101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A52C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A52C7"/>
                </a:solidFill>
                <a:latin typeface="Arial"/>
                <a:ea typeface="Arial"/>
                <a:cs typeface="Arial"/>
              </a:rPr>
              <a:t>0.203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AE30BA-4107-46B7-8A34-A2BBB65E4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0101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five-class balance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030FA0-87B2-48EA-9D7D-E1382515C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Mean horizon AP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A8F537-CCB4-41DA-8C3F-AFFEFE5A2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562600"/>
            <a:ext cx="123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75">
            <a:solidFill>
              <a:srgbClr val="D7E0E4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C97E6D-B0A1-4D8B-9FD7-32E91A328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562600"/>
            <a:ext cx="21297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75">
            <a:solidFill>
              <a:srgbClr val="087F86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27A20A-03D7-477A-8FB3-F3BC1109D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4292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7F86"/>
                </a:solidFill>
                <a:latin typeface="Arial"/>
                <a:ea typeface="Arial"/>
                <a:cs typeface="Arial"/>
              </a:rPr>
              <a:t>0.043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1D3756-4FAA-43F1-AAF5-FD8BCF48E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4292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minority-risk ranking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63AA24-45DF-497B-8F6B-32DB0795C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483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Risk6 AP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9ECE46-1A6B-468C-9BB7-E74627076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981700"/>
            <a:ext cx="123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75">
            <a:solidFill>
              <a:srgbClr val="D7E0E4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58C81B-4251-44D2-B34A-591CA8EFA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981700"/>
            <a:ext cx="15849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75">
            <a:solidFill>
              <a:srgbClr val="E35F43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998473-FE87-4754-B707-70E708F8A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8483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E35F4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35F43"/>
                </a:solidFill>
                <a:latin typeface="Arial"/>
                <a:ea typeface="Arial"/>
                <a:cs typeface="Arial"/>
              </a:rPr>
              <a:t>0.032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DCBA5A4-D0D7-4D16-AF15-F670219E4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8483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immediate-risk ranking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8193F21-6523-426A-BD13-4E1352D59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09587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87F86"/>
                </a:solidFill>
                <a:latin typeface="Arial"/>
                <a:ea typeface="Arial"/>
                <a:cs typeface="Arial"/>
              </a:rPr>
              <a:t>Decision signal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63DB9B3-68F0-4D96-B417-EB0D91485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31495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87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Use Macro F1 and horizon AP</a:t>
            </a:r>
          </a:p>
          <a:p xmlns:a="http://schemas.openxmlformats.org/drawingml/2006/main">
            <a:pPr algn="l">
              <a:defRPr sz="157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when comparing models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4265954-49D7-4FD4-9B88-E8789150C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4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0FBACFC-75EE-49F2-B888-D359F896C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FleetCare AI  /  Group 47  /  Technical walkthrough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7488E3D-D507-469D-8441-B71A0CE19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7700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2:00–2:45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26C8128-C352-4EB3-80C8-20F3E87AD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57950"/>
            <a:ext cx="4667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02830116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957E9AF-BCD1-4085-9F1C-761CA008B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87F86"/>
                </a:solidFill>
                <a:latin typeface="Arial"/>
                <a:ea typeface="Arial"/>
                <a:cs typeface="Arial"/>
              </a:rPr>
              <a:t>05  RULE ENGINE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8F6F4A-25A5-421F-8680-B70E4B0E4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9125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77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History and stability checks stop noisy class jumps from becoming maintenance actions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80D8D9-EE1D-4735-96C3-93AF00C23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9675"/>
            <a:ext cx="10668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Risk escalation starts only after the prediction passes the evidence gates.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61CD0C-B008-4DED-A6A8-BC7E74525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0"/>
            <a:ext cx="857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MODEL</a:t>
            </a:r>
          </a:p>
          <a:p xmlns:a="http://schemas.openxmlformats.org/drawingml/2006/main">
            <a:pPr algn="ctr">
              <a:defRPr sz="10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99B7AE-F391-478C-A78A-C6DD4C54A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943225"/>
            <a:ext cx="1047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2324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FEE67E-0601-4BDA-B714-A72CFB16B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05075"/>
            <a:ext cx="876300" cy="8763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7F4F3"/>
          </a:solidFill>
          <a:ln xmlns:a="http://schemas.openxmlformats.org/drawingml/2006/main" w="19050">
            <a:solidFill>
              <a:srgbClr val="087F86"/>
            </a:solidFill>
          </a:ln>
        </p:spPr>
        <p:txBody>
          <a:bodyPr xmlns:a="http://schemas.openxmlformats.org/drawingml/2006/main" anchor="ctr">
            <a:normAutofit fontScale="82763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F86"/>
                </a:solidFill>
                <a:latin typeface="Arial"/>
                <a:ea typeface="Arial"/>
                <a:cs typeface="Arial"/>
              </a:rPr>
              <a:t>History?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FC9FA9-13EC-47CE-A687-E8CEF8844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943225"/>
            <a:ext cx="1095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2324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268CC9-13CD-4BAC-958B-869DACAED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505075"/>
            <a:ext cx="876300" cy="8763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0EDFA"/>
          </a:solidFill>
          <a:ln xmlns:a="http://schemas.openxmlformats.org/drawingml/2006/main" w="19050">
            <a:solidFill>
              <a:srgbClr val="6A52C7"/>
            </a:solidFill>
          </a:ln>
        </p:spPr>
        <p:txBody>
          <a:bodyPr xmlns:a="http://schemas.openxmlformats.org/drawingml/2006/main" anchor="ctr">
            <a:normAutofit fontScale="86383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A52C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A52C7"/>
                </a:solidFill>
                <a:latin typeface="Arial"/>
                <a:ea typeface="Arial"/>
                <a:cs typeface="Arial"/>
              </a:rPr>
              <a:t>Stable?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B128BD-A845-4348-AB8A-346EE7EE6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2943225"/>
            <a:ext cx="1095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2324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BE6680-66AE-499E-8EFC-7C537933C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505075"/>
            <a:ext cx="876300" cy="8763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CEDE8"/>
          </a:solidFill>
          <a:ln xmlns:a="http://schemas.openxmlformats.org/drawingml/2006/main" w="19050">
            <a:solidFill>
              <a:srgbClr val="E35F43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E35F4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35F43"/>
                </a:solidFill>
                <a:latin typeface="Arial"/>
                <a:ea typeface="Arial"/>
                <a:cs typeface="Arial"/>
              </a:rPr>
              <a:t>Risk?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6A5FE8-7E77-447A-8E69-9CF6117EB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943225"/>
            <a:ext cx="876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2324A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79FDE2-DCF6-40CC-92D0-6663DB0C4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667000"/>
            <a:ext cx="857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E35F4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35F43"/>
                </a:solidFill>
                <a:latin typeface="Arial"/>
                <a:ea typeface="Arial"/>
                <a:cs typeface="Arial"/>
              </a:rPr>
              <a:t>ACTION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55A23B-CB84-46E6-8FE3-E8A019312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381375"/>
            <a:ext cx="0" cy="685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87F8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79354B-1C52-46A1-961D-1D0BCE6E9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105275"/>
            <a:ext cx="125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87F86"/>
                </a:solidFill>
                <a:latin typeface="Arial"/>
                <a:ea typeface="Arial"/>
                <a:cs typeface="Arial"/>
              </a:rPr>
              <a:t>TRD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E7E21C-E235-4E9F-8E88-792F15C55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314825"/>
            <a:ext cx="1924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COLLECT MORE DATA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9AD976-68B8-4B16-86F3-F0EA380DD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572000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one readout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29CC9A-C83C-4FD2-9CF9-169C51300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381375"/>
            <a:ext cx="0" cy="685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6A52C7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940582-D395-46ED-8D50-A5CA9D967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105275"/>
            <a:ext cx="125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A52C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A52C7"/>
                </a:solidFill>
                <a:latin typeface="Arial"/>
                <a:ea typeface="Arial"/>
                <a:cs typeface="Arial"/>
              </a:rPr>
              <a:t>TR0 / TRV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1330B3-D57F-4E6A-9125-9D78CE284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314825"/>
            <a:ext cx="1790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MANUAL REVIEW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DDEDD4-6013-478E-87D3-B1DE299DF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5720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short or unstable history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F3FEAE-E515-4F43-9C08-64CC980B3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971675"/>
            <a:ext cx="0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E0E4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2869C1-5A69-4878-9726-32AA94DBB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8097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35F4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35F43"/>
                </a:solidFill>
                <a:latin typeface="Arial"/>
                <a:ea typeface="Arial"/>
                <a:cs typeface="Arial"/>
              </a:rPr>
              <a:t>SEVERITY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BDBF9D-8446-4AF9-8FDB-573529CF4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22669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5F43"/>
          </a:solidFill>
          <a:ln xmlns:a="http://schemas.openxmlformats.org/drawingml/2006/main" w="9525">
            <a:solidFill>
              <a:srgbClr val="E35F43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9BDE419-FABB-4F72-A63F-AB8432A39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200275"/>
            <a:ext cx="6191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333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35F43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E35F43"/>
                </a:solidFill>
                <a:latin typeface="Arial"/>
                <a:ea typeface="Arial"/>
                <a:cs typeface="Arial"/>
              </a:rPr>
              <a:t>TR1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E5925FF-883B-4DA7-9F81-9C480A644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171700"/>
            <a:ext cx="1762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35F4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35F43"/>
                </a:solidFill>
                <a:latin typeface="Arial"/>
                <a:ea typeface="Arial"/>
                <a:cs typeface="Arial"/>
              </a:rPr>
              <a:t>PRIORITY INSPECT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D02BA6D-77BC-4D9A-86C5-DBD7EA9C9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428875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C4 + extreme Risk6 + persistence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95DBCA6-8FD5-49F5-9A73-1A44D7EF2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29813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C8425"/>
          </a:solidFill>
          <a:ln xmlns:a="http://schemas.openxmlformats.org/drawingml/2006/main" w="9525">
            <a:solidFill>
              <a:srgbClr val="BC8425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0DAE4DD-7EC7-46FE-B9C3-2F498D213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914650"/>
            <a:ext cx="6191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333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BC8425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BC8425"/>
                </a:solidFill>
                <a:latin typeface="Arial"/>
                <a:ea typeface="Arial"/>
                <a:cs typeface="Arial"/>
              </a:rPr>
              <a:t>TR2/3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1A1FA56-34FE-4202-BD64-C9BD98313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886075"/>
            <a:ext cx="1762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C842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BC8425"/>
                </a:solidFill>
                <a:latin typeface="Arial"/>
                <a:ea typeface="Arial"/>
                <a:cs typeface="Arial"/>
              </a:rPr>
              <a:t>INSPECT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7D84BF3-9C40-407A-A4A5-276494D4C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143250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C3/C4 + Risk12 or persistent Risk6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E3A165E-4B3E-42E8-B5B6-D8869A64B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36957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86"/>
          </a:solidFill>
          <a:ln xmlns:a="http://schemas.openxmlformats.org/drawingml/2006/main" w="9525">
            <a:solidFill>
              <a:srgbClr val="087F86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EFC24DB-2DC2-4AD8-AE81-8A86B0A06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629025"/>
            <a:ext cx="6191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333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087F86"/>
                </a:solidFill>
                <a:latin typeface="Arial"/>
                <a:ea typeface="Arial"/>
                <a:cs typeface="Arial"/>
              </a:rPr>
              <a:t>TR4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6E5F5B4-5671-4535-9A55-8A34EFF77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600450"/>
            <a:ext cx="1762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7F86"/>
                </a:solidFill>
                <a:latin typeface="Arial"/>
                <a:ea typeface="Arial"/>
                <a:cs typeface="Arial"/>
              </a:rPr>
              <a:t>ENHANCED MONITOR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CDE09BE-2613-4EE6-9251-55472705D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857625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C2 or Risk24 + trend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EA78EA4-A58E-4644-A4FF-4FFBA5BC0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44100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24A"/>
          </a:solidFill>
          <a:ln xmlns:a="http://schemas.openxmlformats.org/drawingml/2006/main" w="9525">
            <a:solidFill>
              <a:srgbClr val="12324A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217CF7B-7A0B-4FD5-B2AE-D4E93E9BE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343400"/>
            <a:ext cx="6191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333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TR5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956B185-CFF8-47B7-821C-B7DC80A2B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314825"/>
            <a:ext cx="1762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MONITOR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8197E31-AC36-47EB-8179-806936E9A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572000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C1 or Risk48 + trend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3EF762F-0E60-4175-A908-3291D2504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51244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E7B62"/>
          </a:solidFill>
          <a:ln xmlns:a="http://schemas.openxmlformats.org/drawingml/2006/main" w="9525">
            <a:solidFill>
              <a:srgbClr val="4E7B62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481F616-F004-411F-AA25-4E75F6097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5057775"/>
            <a:ext cx="6191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333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4E7B62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4E7B62"/>
                </a:solidFill>
                <a:latin typeface="Arial"/>
                <a:ea typeface="Arial"/>
                <a:cs typeface="Arial"/>
              </a:rPr>
              <a:t>TR6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4A565B3-0FBA-4D2D-974D-76CBB9BE6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029200"/>
            <a:ext cx="1762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E7B6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E7B62"/>
                </a:solidFill>
                <a:latin typeface="Arial"/>
                <a:ea typeface="Arial"/>
                <a:cs typeface="Arial"/>
              </a:rPr>
              <a:t>CONTINUE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28FBE77-D04B-46BA-BC7E-006142ABC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5286375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no combined evidence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E3F4C89-90EB-4B95-AD5A-C55826095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5626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Evidence required before escalation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045D2B7-69A3-4284-A357-D0AE8269D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38825"/>
            <a:ext cx="4476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class  +  horizon risk  +  recent vehicle history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517C2A9-377B-4AFF-9273-B5EE03AF7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4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5EF7C50-1356-44E5-BD41-7E2C03D24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FleetCare AI  /  Group 47  /  Technical walkthrough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CAF19BF-234A-47A5-B66C-883973EC5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7700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2:45–3:35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2712F21-36ED-48DA-9D03-539F81DF2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57950"/>
            <a:ext cx="4667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85378902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C65FA1B-21CC-4417-8EDE-81440AC91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87F86"/>
                </a:solidFill>
                <a:latin typeface="Arial"/>
                <a:ea typeface="Arial"/>
                <a:cs typeface="Arial"/>
              </a:rPr>
              <a:t>06  PRODUCTION SCRIPT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1FB3B3-F884-4696-8D17-B723EE439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9125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4959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The batch script scores the latest available vehicle history and stores the result once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A6A8C2-D270-4478-8438-D56AB8396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9675"/>
            <a:ext cx="10668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The dashboard reads the latest active row. New readouts trigger the next batch run.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525814-B310-417C-B0FC-658E66980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114550"/>
            <a:ext cx="2762250" cy="2762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4F3"/>
          </a:solidFill>
          <a:ln xmlns:a="http://schemas.openxmlformats.org/drawingml/2006/main" w="28575">
            <a:solidFill>
              <a:srgbClr val="087F8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5F208F-6AE8-4532-8065-E50990D96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8575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2759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87F86"/>
                </a:solidFill>
                <a:latin typeface="Arial"/>
                <a:ea typeface="Arial"/>
                <a:cs typeface="Arial"/>
              </a:rPr>
              <a:t>fleetcare_inference.py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CFEB4F-5F85-4026-A374-DF887A2CF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3528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889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2324A"/>
                </a:solidFill>
                <a:latin typeface="Arial"/>
                <a:ea typeface="Arial"/>
                <a:cs typeface="Arial"/>
              </a:rPr>
              <a:t>features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E03F8C-BA95-42D2-B608-FAFCCDB9E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62902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889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2324A"/>
                </a:solidFill>
                <a:latin typeface="Arial"/>
                <a:ea typeface="Arial"/>
                <a:cs typeface="Arial"/>
              </a:rPr>
              <a:t>model  ·  SHAP  ·  rules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CD5869-514B-4DC4-9103-5E6600577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2209800"/>
            <a:ext cx="819150" cy="819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24A"/>
          </a:solidFill>
          <a:ln xmlns:a="http://schemas.openxmlformats.org/drawingml/2006/main" w="9525">
            <a:solidFill>
              <a:srgbClr val="12324A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253A5D-7463-43C6-813F-544E9FCEC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9562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PostgreSQL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30F3E3-6752-471A-9D2E-8B8AA2F31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3337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truck + readouts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DB8EA8-11E4-4744-896D-4190C6B6F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4495800"/>
            <a:ext cx="819150" cy="819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A52C7"/>
          </a:solidFill>
          <a:ln xmlns:a="http://schemas.openxmlformats.org/drawingml/2006/main" w="9525">
            <a:solidFill>
              <a:srgbClr val="6A52C7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4C4B74-A00B-4FE3-BC9F-926A32782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38162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A52C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A52C7"/>
                </a:solidFill>
                <a:latin typeface="Arial"/>
                <a:ea typeface="Arial"/>
                <a:cs typeface="Arial"/>
              </a:rPr>
              <a:t>Model artifacts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0D84E7-8B35-449E-820A-7FA3D46A7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6197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model + schema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CF1044-2FC1-46A4-AB54-A8428E82B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7863" y="2209800"/>
            <a:ext cx="819150" cy="819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A52C7"/>
          </a:solidFill>
          <a:ln xmlns:a="http://schemas.openxmlformats.org/drawingml/2006/main" w="9525">
            <a:solidFill>
              <a:srgbClr val="6A52C7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DB28EB-EFE5-4F43-96AC-5BB4758C3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95625"/>
            <a:ext cx="2238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A52C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A52C7"/>
                </a:solidFill>
                <a:latin typeface="Arial"/>
                <a:ea typeface="Arial"/>
                <a:cs typeface="Arial"/>
              </a:rPr>
              <a:t>PostgreSQL public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899EE8-8696-4C2D-87B7-3C840D5A8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33750"/>
            <a:ext cx="2428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analysis + prediction_shap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4D84B8-9BE3-4C05-A824-25CC12796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4495800"/>
            <a:ext cx="819150" cy="819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5F43"/>
          </a:solidFill>
          <a:ln xmlns:a="http://schemas.openxmlformats.org/drawingml/2006/main" w="9525">
            <a:solidFill>
              <a:srgbClr val="E35F43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0C7D66-DC2D-48DB-BD93-9F256105F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538162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E35F4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35F43"/>
                </a:solidFill>
                <a:latin typeface="Arial"/>
                <a:ea typeface="Arial"/>
                <a:cs typeface="Arial"/>
              </a:rPr>
              <a:t>Dashboard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2558CF-91DA-4354-B670-6777473A0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56197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latest active row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FA552B-E3BE-4ECA-86CA-916DD0C84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619375"/>
            <a:ext cx="857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2324A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511E9A-E96B-4C7E-82E8-803B0A3F7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619375"/>
            <a:ext cx="0" cy="76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2324A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6EEF81-6234-4B46-8624-0A425CBC9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381375"/>
            <a:ext cx="904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2324A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C9E45C-9806-4871-A07A-BD2F4F965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905375"/>
            <a:ext cx="904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A52C7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4588D8-7B1E-44DC-84DD-C3EFC93B0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219575"/>
            <a:ext cx="0" cy="685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A52C7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11301D2-C715-4708-A642-70F5037C5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219575"/>
            <a:ext cx="904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A52C7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B902884-A7CF-4568-A72A-B3A26A1E3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381375"/>
            <a:ext cx="95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A52C7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AFCF7AB-C165-4144-8FBE-9CCD7D84D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619375"/>
            <a:ext cx="0" cy="76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A52C7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71D2875-09F9-4083-A835-3F4B678B0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619375"/>
            <a:ext cx="1000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A52C7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34F705D-8B52-41D2-A09E-650DF08EB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219575"/>
            <a:ext cx="95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5F43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79A9DF1-BD05-4E17-BF80-CF3420C4D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219575"/>
            <a:ext cx="0" cy="685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5F43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78C288D-EEF4-46CA-B81E-D27CF4CC1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905375"/>
            <a:ext cx="1000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5F43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874C544-6EDC-45C1-B804-4D001CD3C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79070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92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86"/>
                </a:solidFill>
                <a:latin typeface="Arial"/>
                <a:ea typeface="Arial"/>
                <a:cs typeface="Arial"/>
              </a:rPr>
              <a:t>run_model.py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1845FCD-9D66-4590-8AC4-0B8E0731D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3835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CLI entrypoint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2D6902F-F353-4430-B739-E7403F1C2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521970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481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193,095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F909349-5B98-44F4-93D8-B18EC3803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55435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readouts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E542891-6DA2-4DE8-BA00-ACB7F9C37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521970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481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F86"/>
                </a:solidFill>
                <a:latin typeface="Arial"/>
                <a:ea typeface="Arial"/>
                <a:cs typeface="Arial"/>
              </a:rPr>
              <a:t>5,037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65CD600-4BDD-41F2-94D8-205198A71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55435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predictions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D221583-CA0A-4281-BE82-35FB0D8DA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521970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481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6A52C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6A52C7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635715F-6239-4F96-A39E-6A3C9CB6F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55435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collect more data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0B4F601-61FC-46C1-A848-270C638DF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8864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87F86"/>
                </a:solidFill>
                <a:latin typeface="Arial"/>
                <a:ea typeface="Arial"/>
                <a:cs typeface="Arial"/>
              </a:rPr>
              <a:t>verified dry run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3844B27-91FB-48E9-A2D5-B25D9F684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4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D58D8C3-E4D9-4125-B695-7D2B90187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FleetCare AI  /  Group 47  /  Technical walkthrough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1FC3CF1-2BE4-496C-98B0-02CC25B05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7700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B8D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B8D"/>
                </a:solidFill>
                <a:latin typeface="Arial"/>
                <a:ea typeface="Arial"/>
                <a:cs typeface="Arial"/>
              </a:rPr>
              <a:t>3:35–4:20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F7487D4-8EC2-4794-B179-FFE5AF17E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57950"/>
            <a:ext cx="4667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80221732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2026-10-12T23:08:46.1160000Z</dcterms:created>
  <dcterms:modified xsi:type="dcterms:W3CDTF">2026-10-12T23:08:46.1160000Z</dcterms:modified>
</coreProperties>
</file>