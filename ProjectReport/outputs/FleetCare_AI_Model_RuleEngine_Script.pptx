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64ebdb288a4f21" /><Relationship Type="http://schemas.openxmlformats.org/officeDocument/2006/relationships/extended-properties" Target="/docProps/app.xml" Id="Rf5f542c3078e4ab2" /><Relationship Type="http://schemas.openxmlformats.org/officeDocument/2006/relationships/officeDocument" Target="/ppt/presentation.xml" Id="Rf846fa73fd9748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4ffdc3fad941b9"/>
  </p:sldMasterIdLst>
  <p:notesMasterIdLst>
    <p:notesMasterId xmlns:r="http://schemas.openxmlformats.org/officeDocument/2006/relationships" r:id="R5ebbc4c857e0410b"/>
  </p:notesMasterIdLst>
  <p:sldIdLst>
    <p:sldId xmlns:r="http://schemas.openxmlformats.org/officeDocument/2006/relationships" id="256" r:id="R13202d301f3f4d71"/>
    <p:sldId xmlns:r="http://schemas.openxmlformats.org/officeDocument/2006/relationships" id="257" r:id="Rf1b9b0588dda4951"/>
    <p:sldId xmlns:r="http://schemas.openxmlformats.org/officeDocument/2006/relationships" id="258" r:id="R377e571ed19444c5"/>
    <p:sldId xmlns:r="http://schemas.openxmlformats.org/officeDocument/2006/relationships" id="259" r:id="R7c592e3d157342db"/>
    <p:sldId xmlns:r="http://schemas.openxmlformats.org/officeDocument/2006/relationships" id="260" r:id="Rfbb655e060e841e6"/>
    <p:sldId xmlns:r="http://schemas.openxmlformats.org/officeDocument/2006/relationships" id="261" r:id="R3e42694a2b9743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e50ae98f43447f" /><Relationship Type="http://schemas.openxmlformats.org/officeDocument/2006/relationships/slideMaster" Target="/ppt/slideMasters/slideMaster1.xml" Id="Rd64ffdc3fad941b9" /><Relationship Type="http://schemas.openxmlformats.org/officeDocument/2006/relationships/notesMaster" Target="/ppt/notesMasters/notesMaster1.xml" Id="R5ebbc4c857e0410b" /><Relationship Type="http://schemas.openxmlformats.org/officeDocument/2006/relationships/presProps" Target="/ppt/presProps.xml" Id="Rffb9cfc493774ef7" /><Relationship Type="http://schemas.openxmlformats.org/officeDocument/2006/relationships/tableStyles" Target="/ppt/tableStyles.xml" Id="Re1ab45ef1ed44b41" /><Relationship Type="http://schemas.openxmlformats.org/officeDocument/2006/relationships/slide" Target="/ppt/slides/slide1.xml" Id="R13202d301f3f4d71" /><Relationship Type="http://schemas.openxmlformats.org/officeDocument/2006/relationships/slide" Target="/ppt/slides/slide2.xml" Id="Rf1b9b0588dda4951" /><Relationship Type="http://schemas.openxmlformats.org/officeDocument/2006/relationships/slide" Target="/ppt/slides/slide3.xml" Id="R377e571ed19444c5" /><Relationship Type="http://schemas.openxmlformats.org/officeDocument/2006/relationships/slide" Target="/ppt/slides/slide4.xml" Id="R7c592e3d157342db" /><Relationship Type="http://schemas.openxmlformats.org/officeDocument/2006/relationships/slide" Target="/ppt/slides/slide5.xml" Id="Rfbb655e060e841e6" /><Relationship Type="http://schemas.openxmlformats.org/officeDocument/2006/relationships/slide" Target="/ppt/slides/slide6.xml" Id="R3e42694a2b9743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ca83ae060143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6b217c6f454f52" /><Relationship Type="http://schemas.openxmlformats.org/officeDocument/2006/relationships/notesMaster" Target="/ppt/notesMasters/notesMaster1.xml" Id="R111b76d9a39445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24e3689a7d4f39" /><Relationship Type="http://schemas.openxmlformats.org/officeDocument/2006/relationships/notesMaster" Target="/ppt/notesMasters/notesMaster1.xml" Id="R71341201220d44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7faa3f0e314ee5" /><Relationship Type="http://schemas.openxmlformats.org/officeDocument/2006/relationships/notesMaster" Target="/ppt/notesMasters/notesMaster1.xml" Id="R48051a925a4548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fda2a324414909" /><Relationship Type="http://schemas.openxmlformats.org/officeDocument/2006/relationships/notesMaster" Target="/ppt/notesMasters/notesMaster1.xml" Id="R91d991ef6b2a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dcf24fd80e4ed5" /><Relationship Type="http://schemas.openxmlformats.org/officeDocument/2006/relationships/notesMaster" Target="/ppt/notesMasters/notesMaster1.xml" Id="R3e86b57c18ab46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ffcf7e1bad4f0e" /><Relationship Type="http://schemas.openxmlformats.org/officeDocument/2006/relationships/notesMaster" Target="/ppt/notesMasters/notesMaster1.xml" Id="R923ec0e13ada41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model outputs and final inference code in SystemCode/data/fleetcare_inference.py.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 experiment sequence in repository history: test_00, test_01, test_02-05, test_06c-10c, test_11c and test_12c. Cost experiments were reviewed but excluded from the final no-cost selection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 on the model branch. P3: 250 estimators, learning rate 0.05, depth 5. P5: 250 estimators, learning rate 0.05, depth 4 with lower regularization.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results from test_12c. Official Validation: F5/P3 Macro F1 0.201098, mean horizon AP 0.040280; F5/P5 Macro F1 0.203502, mean horizon AP 0.043174. PolicyDev winners: risk-ranking mean AP 0.192175 ± 0.014271; five-class Macro F1 0.201593 ± 0.003539. Earlier Official Validation accuracy mean 0.970194 and Macro F1 mean 0.202518.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Current thresholds: Risk48 P80, Risk24 P85, Risk12 P90 and Risk6 P95 for high-risk evidence; action escalation for TR1 and TR2 uses P99.5. TR0 precedes TRV in rule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 from 8 October 2026. Dry run produced one latest prediction for 5,037 vehicles and seven COLLECT_MORE_DATA decisions, without database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8990dd6ec4d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543530db6f44ef" /><Relationship Type="http://schemas.openxmlformats.org/officeDocument/2006/relationships/slideLayout" Target="/ppt/slideLayouts/slideLayout1.xml" Id="Rd27b75087c6143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7b75087c61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cbebc76824b18" /><Relationship Type="http://schemas.openxmlformats.org/officeDocument/2006/relationships/notesSlide" Target="/ppt/notesSlides/notesSlide1.xml" Id="R223f677d89d0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1186ab7034140" /><Relationship Type="http://schemas.openxmlformats.org/officeDocument/2006/relationships/notesSlide" Target="/ppt/notesSlides/notesSlide2.xml" Id="Rd2aabcc78f2343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dca87ce27408c" /><Relationship Type="http://schemas.openxmlformats.org/officeDocument/2006/relationships/notesSlide" Target="/ppt/notesSlides/notesSlide3.xml" Id="Rd0ad555836a641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d603e88064999" /><Relationship Type="http://schemas.openxmlformats.org/officeDocument/2006/relationships/chart" Target="/ppt/slides/charts/chart1.xml" Id="Re3f2eef9bcdf48ce" /><Relationship Type="http://schemas.openxmlformats.org/officeDocument/2006/relationships/notesSlide" Target="/ppt/notesSlides/notesSlide4.xml" Id="Rbe34ebb866d242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5e8eb7da34597" /><Relationship Type="http://schemas.openxmlformats.org/officeDocument/2006/relationships/notesSlide" Target="/ppt/notesSlides/notesSlide5.xml" Id="Raf977f548c6c4f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52b21469e4021" /><Relationship Type="http://schemas.openxmlformats.org/officeDocument/2006/relationships/notesSlide" Target="/ppt/notesSlides/notesSlide6.xml" Id="Rb32186877c2c429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3A6A6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D5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2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7E02E-D968-44A0-8732-4EC1BCD3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D9D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8D9D4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35CEC-CE05-4060-A4DB-A7BA34E6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Iteration, Evaluation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Decision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C003C-7FFB-447D-85F0-8CD81607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C9D8E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C9D8E3"/>
                </a:solidFill>
                <a:latin typeface="Arial"/>
                <a:ea typeface="Arial"/>
                <a:cs typeface="Arial"/>
              </a:rPr>
              <a:t>SCANIA Component X predictive maintenance</a:t>
            </a:r>
          </a:p>
          <a:p xmlns:a="http://schemas.openxmlformats.org/drawingml/2006/main">
            <a:pPr algn="l">
              <a:defRPr sz="1725" b="0" i="0">
                <a:solidFill>
                  <a:srgbClr val="C9D8E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C9D8E3"/>
                </a:solidFill>
                <a:latin typeface="Arial"/>
                <a:ea typeface="Arial"/>
                <a:cs typeface="Arial"/>
              </a:rPr>
              <a:t>Final model, temporal rule engine and production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D9B93-3D7A-429F-9537-B5E48297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7DBCA-9AB3-4F98-B1BC-FD7D8981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8D9D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8D9D4"/>
                </a:solidFill>
                <a:latin typeface="Arial"/>
                <a:ea typeface="Arial"/>
                <a:cs typeface="Arial"/>
              </a:rPr>
              <a:t>Five-class probability model  |  Risk6 / 12 / 24 / 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CE13F-4378-49EB-96DF-0F92355B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2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FC2D0"/>
                </a:solidFill>
                <a:latin typeface="Arial"/>
                <a:ea typeface="Arial"/>
                <a:cs typeface="Arial"/>
              </a:rPr>
              <a:t>Intelligent Reasoning Systems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B1FB1-1AF2-4EAF-B8C1-999061BF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75B0F-87C1-48E1-B1A2-1D04AD1C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413A3-F36B-4F5E-88DE-DB43C82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6EBB0-5D8C-4EB7-BA78-583A4903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34098-39CD-47F4-A38B-F0D04E0D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C2798-3650-4D63-9AF3-8F693C88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42896-D1B1-4EC1-B828-C4FD61AC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1CB78-8F5E-46BD-AC0A-AE20744C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06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86242-7AF1-4B72-A51F-978769F0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3450"/>
            <a:ext cx="990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19050">
            <a:solidFill>
              <a:srgbClr val="78D9D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D9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8D9D4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</p:spTree>
    <p:extLst>
      <p:ext uri="{BB962C8B-B14F-4D97-AF65-F5344CB8AC3E}">
        <p14:creationId xmlns:p14="http://schemas.microsoft.com/office/powerpoint/2010/main" val="701193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12C6B1-0668-401D-85BC-695613BC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0F18A-E4CA-4106-8AF1-4908999F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0047E-001A-4393-9974-54A7043D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Each iteration addressed a specific limitation found in the previous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49F70-1B19-43E6-BAD3-22FF7B20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CD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98107-35CA-4609-8132-11FD89CB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8F3A3-054A-4457-AE19-ECDB7F8B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003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E7972-BB89-4C0D-96AE-09CDBA24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Latest-state baseline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Exposed class imbalance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67D55-F093-4BC4-A3C2-EB34C79F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11348-EE76-44F9-A626-CDFEBBE8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C7460-59E8-4D88-8EC6-EF4AED1F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Nonlinear five-class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probabilities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6CE60-4DE4-4660-93EB-17E48521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93F5B-FBA7-4CC9-B95D-A00DEA2B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6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Vehicle-aware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E0AA3-6E02-471A-BFB4-35B2676C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Vehicle split and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past-only temporal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70EBF-E8F0-4281-AAB7-846F583A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5BA83-C7BD-4107-9412-92D55187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555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Multi-readout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50CB5-40C9-41A1-9FDD-A151506B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Rates, changes and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historical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6D064-CBC0-434C-95ED-2CA317E1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81D38-6989-4F91-80E6-4DF38464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55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Policy trials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1BB135-330E-407A-90F5-057D44BD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203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Calibration, cost and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capacity experiments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3E80D-AE6D-462B-94D3-37CF5BBE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638F0-6D79-477E-BF6D-48F95598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0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A2A43-DB0F-4CCD-AA9A-247A3E64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No-cost feature and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parameter selection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750A8-999B-4F1C-8BD9-0453894B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7F8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7F85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0E82E-5C9C-4B1C-BEFD-2C21FF70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project retained XGBoost with vehicle-aware history. Cost-based model selection was removed because the public dataset does not provide an operational cost model.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447A3-D67B-4194-A268-98FE02E6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1584A-8D8F-4EEC-A169-5706794D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15599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AA26C-566C-4CB3-86AB-33479778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Feature and parameter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011A4-827E-45DC-A510-EFF81159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F840D-B439-422D-B8BE-9A10C904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Five feature collections were screened against five XGBoost configurations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2476500"/>
                <a:gridCol w="3924300"/>
              </a:tblGrid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 collection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Rate, all horizons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Broad temporal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Rate + change, 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Adds absolute historical movement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Short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Focuses on 6 and 12-unit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Long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Focuses on 24 and 48-unit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F5</a:t>
                      </a:r>
                    </a:p>
                  </a:txBody>
                  <a:tcPr marL="91440" marR="91440" marT="45720" marB="45720">
                    <a:solidFill>
                      <a:srgbClr val="E4F5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Rates + short changes</a:t>
                      </a:r>
                    </a:p>
                  </a:txBody>
                  <a:tcPr marL="91440" marR="91440" marT="45720" marB="45720">
                    <a:solidFill>
                      <a:srgbClr val="E4F5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Keeps all rates and adds 6/12-unit changes</a:t>
                      </a:r>
                    </a:p>
                  </a:txBody>
                  <a:tcPr marL="91440" marR="91440" marT="45720" marB="45720">
                    <a:solidFill>
                      <a:srgbClr val="E4F5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98ADE-D73B-494E-87B6-E19E55FF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Search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9DA90-83B6-4F94-83E0-E982EB17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717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5A866-E4E7-4720-849A-97F8693E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feature / parameter combinations</a:t>
            </a:r>
          </a:p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in the first screening 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AA48E-1EB6-47F7-B33B-32D32D73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A6A6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3A6A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6175A-088B-456F-B833-DA0491D0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527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random seeds for finalists</a:t>
            </a:r>
          </a:p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42, 52, 62, 72, 82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AD531-8DD3-4C9F-B40A-DCCDA7E3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 ranking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BC922-1D12-406B-9FFE-33694C81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7F85"/>
          </a:solidFill>
          <a:ln xmlns:a="http://schemas.openxmlformats.org/drawingml/2006/main" w="9525">
            <a:solidFill>
              <a:srgbClr val="0B7F8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Five-class classification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226E3-DC86-4E56-A0E5-EBFC5F28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40BB9-C639-4841-AB8E-F23B2A1E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5330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A3F26-0354-4A3A-A932-B5DD75B6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Final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CBC5D-E8DB-46E5-B85F-C89AF885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351F5-C2F9-402E-A0D2-341517AC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PolicyDev selected the configurations; Official Validation remained excluded from model selection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16764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f2eef9bcdf48c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4411F-84F9-4920-8329-C6ED17D6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PolicyDev winners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58AF7-6FE1-4708-945F-BABA8412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7F8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7F85"/>
                </a:solidFill>
                <a:latin typeface="Arial"/>
                <a:ea typeface="Arial"/>
                <a:cs typeface="Arial"/>
              </a:rPr>
              <a:t>0.192 ± 0.014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980CB-453C-4F04-9151-A94CE51A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Mean horizon AP</a:t>
            </a:r>
          </a:p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F00CF-F5F5-4979-BA3D-117B8279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0.202 ± 0.004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0CD3E-8E1A-4DA8-AE15-1854247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385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Macro F1</a:t>
            </a:r>
          </a:p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FA221-7816-48EA-A4E3-187B7517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Accuracy 0.970</a:t>
            </a:r>
          </a:p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Macro F1 0.203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AAF69-F65E-4A08-8E44-6B3A95B3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High accuracy mainly reflects the dominant C0 class. Macro F1 and horizon AP provide a more honest view of minority-risk performance.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F940D-B96B-46BB-B92C-4A63A90D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5E30F-E865-4DD5-B971-F3F1C4D4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9336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4F955E-316B-4C82-A761-088649B0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Temporal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C2585-1403-4DCB-8848-52EAF6A6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E5DEE-36BB-4AA0-A996-EA3293B7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The model supplies probabilities; deterministic rules convert evidence into maintenance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62C85-E065-4B64-9185-46DDC219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Reliability safeguards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563D6-FEAF-4BD9-A1E8-4333B822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B8C8D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TRD</a:t>
            </a:r>
          </a:p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1 readout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4E110-AEA0-472B-9EFF-9E39BA5C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098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86A78"/>
          </a:solidFill>
          <a:ln xmlns:a="http://schemas.openxmlformats.org/drawingml/2006/main" w="9525">
            <a:solidFill>
              <a:srgbClr val="586A7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COLLECT_MORE_DATA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EEA3B-9EBF-418C-96B9-B1BCDAB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860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EB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9B61E-4085-4ED6-8396-8FD4F244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2C66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TR0</a:t>
            </a:r>
          </a:p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C3/C4 + &lt;3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6E7D8-97ED-4BE3-AEF6-4F15C42B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885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MANUAL_REVIEW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7D7E2-6FB8-4BFC-B9EE-3E0E20C0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147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A64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A1008-60CF-43A3-B58A-CAB3738C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E5A3A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TRV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low confidence + repeated jumps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6F12C-A1C9-4C12-B545-7AFB96EE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1466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9525">
            <a:solidFill>
              <a:srgbClr val="D9534F"/>
            </a:solidFill>
          </a:ln>
        </p:spPr>
        <p:txBody>
          <a:bodyPr xmlns:a="http://schemas.openxmlformats.org/drawingml/2006/main" anchor="ctr">
            <a:normAutofit fontScale="877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UNSTABLE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MANUAL_REVIEW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D75F4-5B09-4664-A39E-EBC7361D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720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7B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EDD69-E635-46B5-BEB7-CB60AD34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19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Maintenance decision ladder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9BA8B-3F0C-406F-8C62-6E26EF44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0180F-00E6-41CF-BC8E-71138E6F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C4 + Risk6 top 0.5% + persistent / fast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2BDAD-14FB-43E9-BD64-4FA6A5B6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955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9525">
            <a:solidFill>
              <a:srgbClr val="D9534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PRIORITY_INSPECT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A32FD-4539-4C35-A91F-683EE3AC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7655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TR2 / TR3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F7607-60B5-49E4-9DC7-551CA953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C3/C4 with extreme Risk12, or extreme persistent Risk6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0EDB3-32C5-4C16-A7EA-0BEF82CE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7732"/>
          </a:solidFill>
          <a:ln xmlns:a="http://schemas.openxmlformats.org/drawingml/2006/main" w="9525">
            <a:solidFill>
              <a:srgbClr val="E7773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B1DE3-90A2-4A06-87E2-A8256020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AA07B-8D17-49E2-84D3-DE75F571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C2, or high Risk24 with persistence / deterioration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14332-A89D-4BC4-AA51-88EBFC7F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576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ENHANCED_MONITOR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F5DF3-B436-445D-8704-1AAC177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3865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F5FC9-C6AF-4173-87EA-98CF433B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C1, or high Risk48 with persistence / deterioration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35032-5ECA-467D-B06A-7BE6C3CD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7F85"/>
          </a:solidFill>
          <a:ln xmlns:a="http://schemas.openxmlformats.org/drawingml/2006/main" w="9525">
            <a:solidFill>
              <a:srgbClr val="0B7F8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96EAB-8DD5-4ECC-82CD-0068F802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197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3EF2BC-7433-469F-B45E-41E6D22A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No combined evidence for escalation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8045D0-09C3-44F6-BB53-F87A05B0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197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F9D72"/>
          </a:solidFill>
          <a:ln xmlns:a="http://schemas.openxmlformats.org/drawingml/2006/main" w="9525">
            <a:solidFill>
              <a:srgbClr val="1F9D7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0150DC-E0A3-496B-A2BD-567B4D7F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Volatility safeguard: confidence &lt; 0.35, probability margin &lt; 0.03, and at least three class jumps of two or more levels within the recent five predictions.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323F6E-D7BD-4017-BC6E-142B89BA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08588E-D9E3-4EDF-BE1B-CECF421D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8366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B24454-E8C9-444B-9D31-FE1DD3CC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Production inference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5C7F8-3971-4D0A-BB37-CB87092D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119A3-D8B7-4404-903F-CD15686D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The application reads stored results; the model runs only when operational data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5257E-2EB0-4689-AE5C-DF5F83A9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428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truck_readout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truck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724B8-5D4F-4252-91AA-A4BF2A00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EA363-014A-4C22-BF2E-6F40BBD3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52625"/>
            <a:ext cx="1828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Feature engineering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current, rate, change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rolling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8AC7E-A7CE-48E4-950B-04131942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A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BD674-0343-4F7A-80BB-DDF03B42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XGBoost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P(C0…C4)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Risk6/12/24/48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74BF7-B88F-4BAD-A204-3CE02D79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6ECEF-966C-447E-93DE-87613DDD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B7F85"/>
          </a:solidFill>
          <a:ln xmlns:a="http://schemas.openxmlformats.org/drawingml/2006/main" w="9525">
            <a:solidFill>
              <a:srgbClr val="0B7F8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 engine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TR0–TR6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TRV and TRD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379EC-208B-442B-9CB8-B72F74C3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B7A6A-2873-43AC-8167-5D7C8E05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Stored output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prediction_shap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2CEA1-C4DF-4B3F-AC57-D7793D9F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8CF8D-C51E-4147-9C23-18E67AAE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52625"/>
            <a:ext cx="1428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latest row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per vehicle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32DB2-9205-4C33-BBDE-E0ED2476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Run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F1662-CF99-4489-8D65-BA8D63D3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D9D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D9D4"/>
                </a:solidFill>
                <a:latin typeface="Arial"/>
                <a:ea typeface="Arial"/>
                <a:cs typeface="Arial"/>
              </a:rPr>
              <a:t>.venv/bin/python -u SystemCode/data/run_model.py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FDEDC-A679-4407-BD6A-2E977BF5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Each vehicle receives one latest decision. Vehicles with one readout bypass the model and receive COLLECT_MORE_DATA.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968D1-DA02-477F-B5ED-22890D35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13221-50AD-406C-BAEB-3B58AC0C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7F8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7F85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10610-57F3-44AB-83F7-907AAFA4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readouts loaded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0BF7D-FD40-4751-BF54-7F93F6E9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0D16F-B4FB-41CF-B889-67801779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00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latest model predictions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A3CDA-27F2-44D0-A2BD-586AAE3C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D9534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830D8F-839A-4562-ADFB-BD6F8524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85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collect-more-data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E98E26-A722-4661-A193-F3439CAE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Dashboard queries filter to the latest analysis row per vehicle, then exclude inactive or in-maintenance vehicles.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A235AE-C98E-4912-8C43-ADFBAEB3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23B73F-B226-422A-893A-F3938AF3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5506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2026-10-12T22:32:36.7740000Z</dcterms:created>
  <dcterms:modified xsi:type="dcterms:W3CDTF">2026-10-12T22:32:36.7740000Z</dcterms:modified>
</coreProperties>
</file>