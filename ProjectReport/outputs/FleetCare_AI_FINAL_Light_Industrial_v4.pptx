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605a13e2142b9" /><Relationship Type="http://schemas.openxmlformats.org/officeDocument/2006/relationships/extended-properties" Target="/docProps/app.xml" Id="Rbf629fef6d8d4c13" /><Relationship Type="http://schemas.openxmlformats.org/officeDocument/2006/relationships/officeDocument" Target="/ppt/presentation.xml" Id="R6a652a30b9fe4e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c88c8e42d48c9"/>
  </p:sldMasterIdLst>
  <p:notesMasterIdLst>
    <p:notesMasterId xmlns:r="http://schemas.openxmlformats.org/officeDocument/2006/relationships" r:id="Red4c695985394b5e"/>
  </p:notesMasterIdLst>
  <p:sldIdLst>
    <p:sldId xmlns:r="http://schemas.openxmlformats.org/officeDocument/2006/relationships" id="256" r:id="R2b20641838d04683"/>
    <p:sldId xmlns:r="http://schemas.openxmlformats.org/officeDocument/2006/relationships" id="257" r:id="R72377a0003fc45e3"/>
    <p:sldId xmlns:r="http://schemas.openxmlformats.org/officeDocument/2006/relationships" id="258" r:id="R679b4f0ea752402e"/>
    <p:sldId xmlns:r="http://schemas.openxmlformats.org/officeDocument/2006/relationships" id="259" r:id="R38e7e66dbe2743a2"/>
    <p:sldId xmlns:r="http://schemas.openxmlformats.org/officeDocument/2006/relationships" id="260" r:id="R0309e2d9eab14836"/>
    <p:sldId xmlns:r="http://schemas.openxmlformats.org/officeDocument/2006/relationships" id="261" r:id="R73b2a0334faf45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40dbf6d00b4383" /><Relationship Type="http://schemas.openxmlformats.org/officeDocument/2006/relationships/slideMaster" Target="/ppt/slideMasters/slideMaster1.xml" Id="R988c88c8e42d48c9" /><Relationship Type="http://schemas.openxmlformats.org/officeDocument/2006/relationships/notesMaster" Target="/ppt/notesMasters/notesMaster1.xml" Id="Red4c695985394b5e" /><Relationship Type="http://schemas.openxmlformats.org/officeDocument/2006/relationships/presProps" Target="/ppt/presProps.xml" Id="R85c4b105f33d4664" /><Relationship Type="http://schemas.openxmlformats.org/officeDocument/2006/relationships/tableStyles" Target="/ppt/tableStyles.xml" Id="Rdb470d2de634448c" /><Relationship Type="http://schemas.openxmlformats.org/officeDocument/2006/relationships/slide" Target="/ppt/slides/slide1.xml" Id="R2b20641838d04683" /><Relationship Type="http://schemas.openxmlformats.org/officeDocument/2006/relationships/slide" Target="/ppt/slides/slide2.xml" Id="R72377a0003fc45e3" /><Relationship Type="http://schemas.openxmlformats.org/officeDocument/2006/relationships/slide" Target="/ppt/slides/slide3.xml" Id="R679b4f0ea752402e" /><Relationship Type="http://schemas.openxmlformats.org/officeDocument/2006/relationships/slide" Target="/ppt/slides/slide4.xml" Id="R38e7e66dbe2743a2" /><Relationship Type="http://schemas.openxmlformats.org/officeDocument/2006/relationships/slide" Target="/ppt/slides/slide5.xml" Id="R0309e2d9eab14836" /><Relationship Type="http://schemas.openxmlformats.org/officeDocument/2006/relationships/slide" Target="/ppt/slides/slide6.xml" Id="R73b2a0334faf45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bf61fd4a0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3bbf9431ad4e9c" /><Relationship Type="http://schemas.openxmlformats.org/officeDocument/2006/relationships/notesMaster" Target="/ppt/notesMasters/notesMaster1.xml" Id="R5045c039caf54c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507b84418a4dad" /><Relationship Type="http://schemas.openxmlformats.org/officeDocument/2006/relationships/notesMaster" Target="/ppt/notesMasters/notesMaster1.xml" Id="Rf476a0a244ca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1ac9d9f13a4a3f" /><Relationship Type="http://schemas.openxmlformats.org/officeDocument/2006/relationships/notesMaster" Target="/ppt/notesMasters/notesMaster1.xml" Id="R1041b914c47349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59328b0ea423b" /><Relationship Type="http://schemas.openxmlformats.org/officeDocument/2006/relationships/notesMaster" Target="/ppt/notesMasters/notesMaster1.xml" Id="R4101deac19d9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1c9db8d4b848be" /><Relationship Type="http://schemas.openxmlformats.org/officeDocument/2006/relationships/notesMaster" Target="/ppt/notesMasters/notesMaster1.xml" Id="R114adaf9700145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ccbe43fab4ba5" /><Relationship Type="http://schemas.openxmlformats.org/officeDocument/2006/relationships/notesMaster" Target="/ppt/notesMasters/notesMaster1.xml" Id="R852e5fce5e0f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code. Cover artwork generated for this presentation as a technical illustration, not a photograph of a real vehicle.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experiment sequence test_00 through test_12c. Cost experiments were reviewed but excluded from final no-cost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risk-ranking mean AP 0.192175 ± 0.014271; five-class Macro F1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The dry run produced one latest prediction for 5,037 vehicles and seven COLLECT_MORE_DATA decisions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1f1256880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c85c4898bb4360" /><Relationship Type="http://schemas.openxmlformats.org/officeDocument/2006/relationships/slideLayout" Target="/ppt/slideLayouts/slideLayout1.xml" Id="Re0537d46fa01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37d46fa01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aeed9f4d4d85" /><Relationship Type="http://schemas.openxmlformats.org/officeDocument/2006/relationships/image" Target="/ppt/media/image.png" Id="Rbadd59fc001f43c3" /><Relationship Type="http://schemas.openxmlformats.org/officeDocument/2006/relationships/notesSlide" Target="/ppt/notesSlides/notesSlide1.xml" Id="R19a6a5bdc00b4e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48a7228144c3e" /><Relationship Type="http://schemas.openxmlformats.org/officeDocument/2006/relationships/notesSlide" Target="/ppt/notesSlides/notesSlide2.xml" Id="Rdffbd03ae8dd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41325065b46b0" /><Relationship Type="http://schemas.openxmlformats.org/officeDocument/2006/relationships/notesSlide" Target="/ppt/notesSlides/notesSlide3.xml" Id="Ra298c69b657c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0363b7f604fd5" /><Relationship Type="http://schemas.openxmlformats.org/officeDocument/2006/relationships/chart" Target="/ppt/slides/charts/chart1.xml" Id="R235c2430f77b478c" /><Relationship Type="http://schemas.openxmlformats.org/officeDocument/2006/relationships/notesSlide" Target="/ppt/notesSlides/notesSlide4.xml" Id="Re2e781c4f04842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5c321af434c3a" /><Relationship Type="http://schemas.openxmlformats.org/officeDocument/2006/relationships/notesSlide" Target="/ppt/notesSlides/notesSlide5.xml" Id="R79d95259ad1d42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b6cca64d4193" /><Relationship Type="http://schemas.openxmlformats.org/officeDocument/2006/relationships/notesSlide" Target="/ppt/notesSlides/notesSlide6.xml" Id="R2ab0fb410b8348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58727E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0A332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02B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7F6F2"/>
        </a:solidFill>
        <a:ln xmlns:a="http://schemas.openxmlformats.org/drawingml/2006/main" w="0">
          <a:solidFill>
            <a:srgbClr val="F7F6F2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  <a:ln xmlns:a="http://schemas.openxmlformats.org/drawingml/2006/main" w="0">
      <a:solidFill>
        <a:srgbClr val="F7F6F2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d59fc001f43c3"/>
          <a:stretch xmlns:a="http://schemas.openxmlformats.org/drawingml/2006/main"/>
        </p:blipFill>
        <p:spPr>
          <a:xfrm xmlns:a="http://schemas.openxmlformats.org/drawingml/2006/main">
            <a:off x="2857500" y="802276"/>
            <a:ext cx="9334500" cy="525344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B43DC-840C-40FD-903A-C93E053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557AA-782A-458C-B809-D8B3AD0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0A33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D03CE-7B1E-4715-8D60-9A6F8B9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Iteration,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Evaluation and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59204-D51D-4167-BD02-32BC0B8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SCANIA Component X</a:t>
            </a:r>
          </a:p>
          <a:p xmlns:a="http://schemas.openxmlformats.org/drawingml/2006/main">
            <a:pPr algn="l">
              <a:defRPr sz="1575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predictive maintenance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DFD7E-6969-415F-BF18-15AE357F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Final model and temporal rules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Production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75E17-65E3-4355-9F85-509BDE9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DB506-5D99-4B8B-9A29-275D2AF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</p:spTree>
    <p:extLst>
      <p:ext uri="{BB962C8B-B14F-4D97-AF65-F5344CB8AC3E}">
        <p14:creationId xmlns:p14="http://schemas.microsoft.com/office/powerpoint/2010/main" val="70891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1D092E-0F7C-4085-B643-B17CECEA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0F9F9-A99A-4187-873A-226602E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A2F64-D525-45F4-9CBB-29002FD4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Six experiment stages led to the final no-cost XGBoost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49BC7-DEB5-4B42-8477-73BA916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4212-63DC-4DF3-9380-555E33D0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EF5EB-E55B-4E35-B6CD-13660C1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759FD-C3DF-4303-BE48-A8EF801D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BEAF2-569A-4C04-AFD0-5983A1E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C377-1985-48D2-9388-02D2B46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Latest-state baseline exposed severe 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AC5BD-9E76-4027-8C02-A387AE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95E2-8614-4DCA-8FB9-215FB12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A8DC8-0396-4943-B260-735C296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2DAB9-09EE-4DF2-876B-4809B0C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Nonlinear five-class probabilities improved flexibility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D7370-089B-492D-B058-922B0ED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02044-F5FF-4D59-916D-CBD1286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66685-D5E0-4266-89B4-E72B8D1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Vehicle-aware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17C5D-81A3-4355-8F7F-8228A47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Vehicle separation prevented leakage across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24DEA-9EED-4745-81F2-DF881535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DF32F-2220-4E69-BE54-15079237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59C03-C4FA-4F53-8613-2968DCA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C5728-6629-458A-BD03-1FB0C3E4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Rates, changes and past-only history used repeated readouts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E591A-7990-47E7-8E11-56BF2B8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83809-0C8C-40D1-BAD4-9491A21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BB563-8066-4790-A25B-4CDD6BE8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Policy experiments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A70E6-6ADB-4CCD-8BA6-442BAA1B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Calibration, cost and capacity rules were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64926-F1FB-41C7-92AC-B2E1CFAB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FC04E-FDE3-4782-9AD3-0B3366CB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A3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4CD7F-C437-49B8-AF41-7F133D2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DF47C-C6E0-4C2F-8356-9B3EC909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and parameter selection used no operational cost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A9203-1870-4748-BCD8-268BACF1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4542A-6ED7-4415-B651-4234951C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502B2-754A-4FA3-BDA1-CDFC7101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864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 with vehicle-aware history; cost-based selection removed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B8195-D274-476A-941C-C7A0FCE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731182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FC77F-D011-40EC-BF6B-AA3C2E85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275B-7050-4468-B4FD-C8E4A88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2B532-9A69-4603-B15E-154DDAE5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066D-8E2A-4929-ACEB-A5ED6887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08A89-8834-452F-A541-3C94F7C0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81050" y="1676400"/>
          <a:ext xmlns:a="http://schemas.openxmlformats.org/drawingml/2006/main" cx="7334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2571750"/>
                <a:gridCol w="3981450"/>
              </a:tblGrid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All rates plus 6 and 12-unit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CDE59-3655-4BC8-A445-AF002454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E855B-3E48-4244-BDD1-344A184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6EFFB-31F5-4BB3-AFF3-C539C72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/ parameter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6434E-0F8A-463D-9508-6C98F6B9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C7FA3-FA35-4281-A51B-9A64374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random seeds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24CF0-821A-45E0-9317-AA01FAD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FF61C-7E8F-439C-A176-591971C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26B12-2C2E-4306-921B-1B63705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B08A5-B1CC-4D26-AE09-E1FD9523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FIVE-CLASS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777B-935C-4703-8927-324FF355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62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8E51A-9E8A-49BF-9C2F-F5BAB79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318986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11258-B10A-4994-8DBD-34650C5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6F4E-741E-43D5-B8AB-198359A4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4E660-940D-4CF9-87D5-BB56679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PolicyDev selected the configurations; Official Validation stayed outside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BA0FD-B9C2-4A48-96A0-C06A96F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13A67-4BFE-4A2C-A747-893B71F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5c2430f77b47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EE122-CBFA-4BFC-8524-EF4C8B6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60A1E-00EC-4AA9-B45E-6B29644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C13D7-D43B-47A0-83D4-D419A55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2BDA3-9512-4652-B645-B9ED9BF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E368-F19D-4C30-9E38-4A34B484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9BFCC-AC68-4AA4-A2A0-ABB331FD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31202-72E9-4123-AB93-02AF33C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4C152-C388-4F54-A2F9-B76C61D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0B651-A3B5-4729-A17C-533C596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0.970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DAFCF-895F-4560-8568-9D6C1A2A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53503-5086-469A-BCCF-ADA4958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is dominated by C0. Macro F1 and horizon AP better reflect minority-risk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ADF91-18C6-4144-883F-3E3E5A5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2042908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CC909-9413-412E-82E3-B66424D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43F27-3D04-4C2D-8E68-6D6B1E1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A3321-D4F8-4684-8008-AF28E350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Probabilities and recent history produce a stable maintenance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D744E-C78B-45D1-952B-919B15AA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28AD5-22A7-41A7-9CAD-F20403C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E8A3A-837A-427A-AB7C-B120402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81050" y="1914525"/>
          <a:ext xmlns:a="http://schemas.openxmlformats.org/drawingml/2006/main" cx="106299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Only one readout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COLLECT_MORE_DATA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with fewer than three historical readouts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MANUAL_REVIEW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TRV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Low confidence and repeated large class jumps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UNSTABLE / MANUAL_REVIEW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6D505-3DE0-4FE1-955A-1EA5E45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81050" y="4105275"/>
          <a:ext xmlns:a="http://schemas.openxmlformats.org/drawingml/2006/main" cx="1062990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Core 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C4 + extreme Risk6 +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PRIORITY_INSPECT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TR2 / TR3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+ extreme Risk12, or extreme persistent Risk6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INSPECT</a:t>
                      </a:r>
                    </a:p>
                  </a:txBody>
                  <a:tcPr marL="91440" marR="91440" marT="45720" marB="45720">
                    <a:solidFill>
                      <a:srgbClr val="FBEDE1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C2, or high Risk24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ENHANCED_MONITOR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C1, or high Risk48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MONITOR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No combined evidence for escalation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marL="91440" marR="91440" marT="45720" marB="45720">
                    <a:solidFill>
                      <a:srgbClr val="EBF0E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F1A9F-9E41-425D-998A-A922D8C8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844429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BD54B4-88AF-46FE-B3C2-341F0361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6A8B7-4524-4A29-9786-FB26342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A98BF-2E61-40A9-8F32-94A8C573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The model creates one latest decision per vehicle and stores it for the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0AD89-D05B-4F15-9C39-6E81BD17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9646F-1987-4A83-8834-3ACF73E0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FBC1C-BB4D-4C56-A655-E1DBF765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42A20-72DB-428D-B111-251B176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2D8AB-BACA-4502-A773-0DA1933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7E623-BCDC-417D-AA1D-CEE7F20E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truck_readout +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AFC52-5445-4C57-BB7A-DCDCD9C6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81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38D7-BEFC-470A-84DC-984E8F9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794B6-8A11-44B5-B969-F71058AE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7647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F96BD-7D5F-4172-AC5D-E37A3956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current, rate, change,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7B605-8637-4223-978F-03F956D2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273DE-77F9-4FE6-87C1-9BC77C9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1C15D-9775-4056-B4ED-A131DD69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788B1-0E83-4B16-8DEC-B58EC49A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P(C0...C4) and four horizons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E64F0-2BA5-47F5-8970-37FF5AC7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8F115-ED49-4100-ADB7-8C186DC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A3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9BEB3-3538-4881-AC28-8D585A7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E1B78-1225-4EE5-9228-B1AE18F4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TR0-TR6, TRV and TRD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08838-D3BE-4966-A225-EA5F07C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811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E8EBA-BCD4-414F-9929-49BBF0E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1014D-33A0-456A-94A6-DD5F5EE5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764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Stored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95B4C-FAEB-4BD7-927C-761AD5C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7378C-0351-47A5-B271-E49F163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06260-3DE2-41DD-9DF9-751A60FC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1F07F-7FD8-4A9E-A4DD-76568EC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F0CDC-328E-45A9-AD38-201EA4C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 row per active vehicle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B7182-93BC-4030-A2FF-3F25AAF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5C663-1D8A-4CF1-A7AA-9B47F4A9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1F096-98E6-4835-9CD1-74AC062B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27E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B31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1CD39-DDEC-405B-AE4D-55A2281D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One readout bypasses the model and receives COLLECT_MORE_DATA.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AFB14E-A6E4-443D-81C9-9B92D33A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50650C-627B-4555-9A22-D9FEAD2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76BFEC-C3F0-4083-AD6B-DD22ACA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95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1E793B-3579-4804-9013-7192E6BE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A43B3D-FD1F-402B-A384-A7BE26FB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86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model predictions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BF804F-C186-4EFF-9551-0CB82B36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5ED068-D802-44AE-BD03-874E000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collect-more-data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85EE9E-8627-4803-B6EB-7C4C3D9E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Dashboard query: latest analysis row per vehicle; isactive = 1; in_maintenance IS NULL.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E21FBC-F2B9-450E-B6FE-3F19C29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326962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2026-10-12T22:42:55.8510000Z</dcterms:created>
  <dcterms:modified xsi:type="dcterms:W3CDTF">2026-10-12T22:42:55.8510000Z</dcterms:modified>
</coreProperties>
</file>