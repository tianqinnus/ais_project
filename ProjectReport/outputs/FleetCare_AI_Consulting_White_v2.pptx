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8968c4b4db4eb6" /><Relationship Type="http://schemas.openxmlformats.org/officeDocument/2006/relationships/extended-properties" Target="/docProps/app.xml" Id="R26c748f002be4427" /><Relationship Type="http://schemas.openxmlformats.org/officeDocument/2006/relationships/officeDocument" Target="/ppt/presentation.xml" Id="Rb2316164b4094c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b35b5bed3bb4662"/>
  </p:sldMasterIdLst>
  <p:notesMasterIdLst>
    <p:notesMasterId xmlns:r="http://schemas.openxmlformats.org/officeDocument/2006/relationships" r:id="Raaf823de68994502"/>
  </p:notesMasterIdLst>
  <p:sldIdLst>
    <p:sldId xmlns:r="http://schemas.openxmlformats.org/officeDocument/2006/relationships" id="256" r:id="R3039a0896e094883"/>
    <p:sldId xmlns:r="http://schemas.openxmlformats.org/officeDocument/2006/relationships" id="257" r:id="R75538b7a36864262"/>
    <p:sldId xmlns:r="http://schemas.openxmlformats.org/officeDocument/2006/relationships" id="258" r:id="Rc3907829a0e24d91"/>
    <p:sldId xmlns:r="http://schemas.openxmlformats.org/officeDocument/2006/relationships" id="259" r:id="Rfa24ca42958a4e47"/>
    <p:sldId xmlns:r="http://schemas.openxmlformats.org/officeDocument/2006/relationships" id="260" r:id="R5c1835299def4799"/>
    <p:sldId xmlns:r="http://schemas.openxmlformats.org/officeDocument/2006/relationships" id="261" r:id="Rf84c7915b9b749f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56f4d710854143" /><Relationship Type="http://schemas.openxmlformats.org/officeDocument/2006/relationships/slideMaster" Target="/ppt/slideMasters/slideMaster1.xml" Id="R9b35b5bed3bb4662" /><Relationship Type="http://schemas.openxmlformats.org/officeDocument/2006/relationships/notesMaster" Target="/ppt/notesMasters/notesMaster1.xml" Id="Raaf823de68994502" /><Relationship Type="http://schemas.openxmlformats.org/officeDocument/2006/relationships/presProps" Target="/ppt/presProps.xml" Id="R2c8a24f80e7f4e54" /><Relationship Type="http://schemas.openxmlformats.org/officeDocument/2006/relationships/tableStyles" Target="/ppt/tableStyles.xml" Id="R7e557395e73e4819" /><Relationship Type="http://schemas.openxmlformats.org/officeDocument/2006/relationships/slide" Target="/ppt/slides/slide1.xml" Id="R3039a0896e094883" /><Relationship Type="http://schemas.openxmlformats.org/officeDocument/2006/relationships/slide" Target="/ppt/slides/slide2.xml" Id="R75538b7a36864262" /><Relationship Type="http://schemas.openxmlformats.org/officeDocument/2006/relationships/slide" Target="/ppt/slides/slide3.xml" Id="Rc3907829a0e24d91" /><Relationship Type="http://schemas.openxmlformats.org/officeDocument/2006/relationships/slide" Target="/ppt/slides/slide4.xml" Id="Rfa24ca42958a4e47" /><Relationship Type="http://schemas.openxmlformats.org/officeDocument/2006/relationships/slide" Target="/ppt/slides/slide5.xml" Id="R5c1835299def4799" /><Relationship Type="http://schemas.openxmlformats.org/officeDocument/2006/relationships/slide" Target="/ppt/slides/slide6.xml" Id="Rf84c7915b9b749f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d14fe70f9184c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124f2a4331441a" /><Relationship Type="http://schemas.openxmlformats.org/officeDocument/2006/relationships/notesMaster" Target="/ppt/notesMasters/notesMaster1.xml" Id="Rcae75013eba1477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6e7bf8806c454a" /><Relationship Type="http://schemas.openxmlformats.org/officeDocument/2006/relationships/notesMaster" Target="/ppt/notesMasters/notesMaster1.xml" Id="R6ab35f0fd48e492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ca09dd02b6d475d" /><Relationship Type="http://schemas.openxmlformats.org/officeDocument/2006/relationships/notesMaster" Target="/ppt/notesMasters/notesMaster1.xml" Id="R56ab2f123887482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e24dac2f4cd42ee" /><Relationship Type="http://schemas.openxmlformats.org/officeDocument/2006/relationships/notesMaster" Target="/ppt/notesMasters/notesMaster1.xml" Id="R0eac300192c649d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b0ff12871fc47f8" /><Relationship Type="http://schemas.openxmlformats.org/officeDocument/2006/relationships/notesMaster" Target="/ppt/notesMasters/notesMaster1.xml" Id="Ra86248845e354c8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c1baa67818a4356" /><Relationship Type="http://schemas.openxmlformats.org/officeDocument/2006/relationships/notesMaster" Target="/ppt/notesMasters/notesMaster1.xml" Id="Rd6062110d36e48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five-class model outputs class probabilities and four cumulative horizon risks. The dashboard reads the stored latest decision and does not rerun the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Experiment sequence from repository test_00 through test_12c. Cost-based selection was removed because the public data does not contain an operational cost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User-provided test_12c output. F5 with P3 medium selected for horizon risk ranking. F5 with P5 less regularized selected for five-class classification.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Validation means: accuracy 0.970, Macro F1 approximately 0.203, mean horizon AP 0.043 for F5/P5, and Risk6 AP 0.032. Accuracy is dominated by the majority C0 class.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TRD handles vehicles with only one readout. TR0 and TRV route insufficient or unstable histories to manual review. TR1 through TR6 use class, horizon risk, persistence and deterioration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SystemCode/data/run_model.py and SystemCode/data/fleetcare_inference.py. Verified dry run: 193,095 readouts, 5,037 predictions and 7 COLLECT_MORE_DATA vehicles. Dashboard query filters isactive = 1 and in_maintenance IS NULL.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5f7d74948d4df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41c3903da3495a" /><Relationship Type="http://schemas.openxmlformats.org/officeDocument/2006/relationships/slideLayout" Target="/ppt/slideLayouts/slideLayout1.xml" Id="Ree7df177d80042e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7df177d80042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1e07e0098c4809" /><Relationship Type="http://schemas.openxmlformats.org/officeDocument/2006/relationships/image" Target="/ppt/media/image.png" Id="Rf9d2383d904549d0" /><Relationship Type="http://schemas.openxmlformats.org/officeDocument/2006/relationships/notesSlide" Target="/ppt/notesSlides/notesSlide1.xml" Id="R1c6f1bb0756748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bce5bfc6844e18" /><Relationship Type="http://schemas.openxmlformats.org/officeDocument/2006/relationships/notesSlide" Target="/ppt/notesSlides/notesSlide2.xml" Id="R2f62b2bccb294e8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915dcb4dec42d5" /><Relationship Type="http://schemas.openxmlformats.org/officeDocument/2006/relationships/notesSlide" Target="/ppt/notesSlides/notesSlide3.xml" Id="R4c8881442daa4bf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311a2356854516" /><Relationship Type="http://schemas.openxmlformats.org/officeDocument/2006/relationships/chart" Target="/ppt/slides/charts/chart1.xml" Id="R06e4105b0ab14245" /><Relationship Type="http://schemas.openxmlformats.org/officeDocument/2006/relationships/notesSlide" Target="/ppt/notesSlides/notesSlide4.xml" Id="Rac4a6caef99b4d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ffd883a8b3458b" /><Relationship Type="http://schemas.openxmlformats.org/officeDocument/2006/relationships/notesSlide" Target="/ppt/notesSlides/notesSlide5.xml" Id="Rd10a38aefbd1481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b2fe9ab7704dc0" /><Relationship Type="http://schemas.openxmlformats.org/officeDocument/2006/relationships/notesSlide" Target="/ppt/notesSlides/notesSlide6.xml" Id="Rdd841224f7a949a0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Macro F1</c:v>
          </c:tx>
          <c:spPr>
            <a:solidFill xmlns:a="http://schemas.openxmlformats.org/drawingml/2006/main">
              <a:srgbClr val="12324A"/>
            </a:solidFill>
          </c:spPr>
          <c:cat>
            <c:strLit>
              <c:ptCount val="2"/>
              <c:pt idx="0">
                <c:v>F5 + P3</c:v>
              </c:pt>
              <c:pt idx="1">
                <c:v>F5 + P5</c:v>
              </c:pt>
            </c:strLit>
          </c:cat>
          <c:val>
            <c:numLit>
              <c:formatCode>0.000</c:formatCode>
              <c:ptCount val="2"/>
              <c:pt idx="0">
                <c:v>0.201098</c:v>
              </c:pt>
              <c:pt idx="1">
                <c:v>0.203502</c:v>
              </c:pt>
            </c:numLit>
          </c:val>
        </c:ser>
        <c:ser>
          <c:idx val="1"/>
          <c:order val="1"/>
          <c:tx>
            <c:v>Mean horizon AP</c:v>
          </c:tx>
          <c:spPr>
            <a:solidFill xmlns:a="http://schemas.openxmlformats.org/drawingml/2006/main">
              <a:srgbClr val="45AAA8"/>
            </a:solidFill>
          </c:spPr>
          <c:cat>
            <c:strLit>
              <c:ptCount val="2"/>
              <c:pt idx="0">
                <c:v>F5 + P3</c:v>
              </c:pt>
              <c:pt idx="1">
                <c:v>F5 + P5</c:v>
              </c:pt>
            </c:strLit>
          </c:cat>
          <c:val>
            <c:numLit>
              <c:formatCode>0.000</c:formatCode>
              <c:ptCount val="2"/>
              <c:pt idx="0">
                <c:v>0.04028</c:v>
              </c:pt>
              <c:pt idx="1">
                <c:v>0.043174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2324A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24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AEC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04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70C9D1C-88E0-47D1-AC25-527E6093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01  SYSTEM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3811B6-DCDF-4CAC-98B2-492D8FCD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One vehicle history becomes one traceable maintenance 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EA145B-865A-4AA4-9F43-638D924ED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9675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The model ranks risk. The rule engine checks whether the evidence is stable enough to act.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1AB1E9-3861-4F83-8822-9A86B4605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782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1E0530-8114-4D1B-992F-AE5485223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05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risk classes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740953-2BFA-4E04-8B0F-B2F78015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2002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C0 to C4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747378-C915-4599-B79E-203F1C172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289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2CD2CB-0AF2-4B76-A6FF-72C75E4FB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7655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782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6A52C7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6A52C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DE04A4-C178-4B70-8D6D-F937F8C8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71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risk horizons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E1247F-26EC-424D-A632-FC7EEF22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2670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6 / 12 / 24 / 48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E9C6F0-3F31-4D06-94D5-0609CF8E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957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089DCF-AF0C-434F-9C22-C0466F61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52875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782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E35F43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E35F4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E9693D-1570-4FE6-A60B-929E7DD45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481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stored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A878F3-E97B-4616-938B-F5F77E2D4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3434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latest active vehicle row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d2383d904549d0"/>
          <a:stretch xmlns:a="http://schemas.openxmlformats.org/drawingml/2006/main"/>
        </p:blipFill>
        <p:spPr>
          <a:xfrm xmlns:a="http://schemas.openxmlformats.org/drawingml/2006/main">
            <a:off x="3814580" y="1562100"/>
            <a:ext cx="7277464" cy="40957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E67B12-64A7-4897-83E6-3922356A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752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6"/>
          </a:solidFill>
          <a:ln xmlns:a="http://schemas.openxmlformats.org/drawingml/2006/main" w="9525">
            <a:solidFill>
              <a:srgbClr val="087F8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83F247-0201-44E3-B3F2-FBF8B555E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7526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5968E9-6EBB-40BC-982D-7AEE7FA8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143125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87F8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7EC546-46E9-4DC9-882F-9B3E0CABA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5908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AAA8"/>
          </a:solidFill>
          <a:ln xmlns:a="http://schemas.openxmlformats.org/drawingml/2006/main" w="9525">
            <a:solidFill>
              <a:srgbClr val="45AAA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1B7ABA-F06E-45A2-A115-AE215CEC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5908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8CF821-420F-4A31-A1B2-1A85E26B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981325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45AAA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517D97-B39F-4139-87BE-5D9D3137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3529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A52C7"/>
          </a:solidFill>
          <a:ln xmlns:a="http://schemas.openxmlformats.org/drawingml/2006/main" w="9525">
            <a:solidFill>
              <a:srgbClr val="6A52C7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DBAC45-1012-4ED6-9655-FF089FC9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3529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03B1D5-6706-4CF3-AC6D-6681CFA18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474345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6A52C7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8F50F6-F72D-4CEF-9369-8AB02E263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8768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5F43"/>
          </a:solidFill>
          <a:ln xmlns:a="http://schemas.openxmlformats.org/drawingml/2006/main" w="9525">
            <a:solidFill>
              <a:srgbClr val="E35F4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AA011F-5053-4840-A438-06FF40564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8768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B0DDAB-3FE2-45CB-82E4-A8145BED6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5267325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E35F43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A32578-93DF-4D67-94EB-1B2CFFD2A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7912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Readouts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1ED193-F784-4C35-856A-A6DCF6F99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895975"/>
            <a:ext cx="109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F86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F8936F-D78E-4831-B58C-860CC60C5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7912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Temporal features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08B6A6-BA2A-4920-BFCF-B1EE7691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895975"/>
            <a:ext cx="100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A52C7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4A9B00-892F-4B35-A766-07938D4C1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57912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A52C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A52C7"/>
                </a:solidFill>
                <a:latin typeface="Arial"/>
                <a:ea typeface="Arial"/>
                <a:cs typeface="Arial"/>
              </a:rPr>
              <a:t>XGBoost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46FB1B-B707-4164-97FE-DB423BF3F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895975"/>
            <a:ext cx="904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5F43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8EA6C5-AD60-4213-BCBD-B344EB4BF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7912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35F4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35F43"/>
                </a:solidFill>
                <a:latin typeface="Arial"/>
                <a:ea typeface="Arial"/>
                <a:cs typeface="Arial"/>
              </a:rPr>
              <a:t>Action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4BCAD0E-AAB6-49D0-BB41-FC3A78EB9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4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6C97348-733B-4643-AC48-63F1F7CDB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FleetCare AI  /  Group 47  /  Technical walkthrough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EFCC022-1BB9-410E-BF96-8CABAC61F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770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0:00–0:30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8500383-2BB8-4DFB-80A4-0ED7DCE2F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466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761195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3BEB700-CC07-4D19-9828-AC935679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02  MODEL ITERATION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BDE940-FF89-47C0-800B-335E2584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646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The experiments progressively removed leakage, weak history signals and cost dependence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4AA30D-230F-4D60-9DEC-F8C859E23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9675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Twelve experiment stages converged on vehicle-aware temporal XGBoost with no cost objective.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06E49B-D4C3-4C9E-8E97-7995B6D4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76625"/>
            <a:ext cx="10429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7E0E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EEA99C-6019-44CB-B1CA-E84078DC7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276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7B8D"/>
          </a:solidFill>
          <a:ln xmlns:a="http://schemas.openxmlformats.org/drawingml/2006/main" w="9525">
            <a:solidFill>
              <a:srgbClr val="667B8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A98189-7B99-4345-82D5-4247181D6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2766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7410B5-2303-4814-ABB0-21E221A8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43225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667B8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D370BE-DE78-4B96-B4F0-EF23A8246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76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Static baseline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214DCF-3AAF-48A1-BE31-2CB05432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71462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Random Forest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28CDC8-0C32-418C-96AB-F3E81313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276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24A"/>
          </a:solidFill>
          <a:ln xmlns:a="http://schemas.openxmlformats.org/drawingml/2006/main" w="9525">
            <a:solidFill>
              <a:srgbClr val="12324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381E16-81A8-4A8C-97E9-E43D85F4E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2766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C0ACDB-40B7-4CAB-ABAD-E60FF09F0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676650"/>
            <a:ext cx="0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2324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F70C0C-6998-4461-BC0C-C9344BF36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8290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Nonlinear ranking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ED2929-C904-43D9-9022-4FF8C1472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0671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XGBoost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B6BC9E-BF9D-452D-AB12-FD469BE49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276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6"/>
          </a:solidFill>
          <a:ln xmlns:a="http://schemas.openxmlformats.org/drawingml/2006/main" w="9525">
            <a:solidFill>
              <a:srgbClr val="087F8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1E7D5C-4E53-4537-B6F5-5ED1ABAA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2766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6E27D1-A12F-4624-87BA-71FB47D3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943225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87F8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D5C8F8-D0D1-45F9-B277-26B80B5E1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76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Vehicle split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45254C-0FB6-4704-9755-13680C002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1462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Leakage control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5DA0F2-2B10-43DC-B53D-8AB3D6206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76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AAA8"/>
          </a:solidFill>
          <a:ln xmlns:a="http://schemas.openxmlformats.org/drawingml/2006/main" w="9525">
            <a:solidFill>
              <a:srgbClr val="45AAA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066628-8765-4D67-9ADF-FC362CB34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766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145161-EA12-4ECC-8B4B-40B69B1F4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676650"/>
            <a:ext cx="0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45AAA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998EDE-FD7F-4081-A67E-BFDE99955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8290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Past-only history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EA00F1-446C-45F7-88E6-E16D6037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0671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Rates + change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D46E82-B99A-4893-8CE0-5237D835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276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8425"/>
          </a:solidFill>
          <a:ln xmlns:a="http://schemas.openxmlformats.org/drawingml/2006/main" w="9525">
            <a:solidFill>
              <a:srgbClr val="BC8425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910E90-6833-413C-A9DF-E8D55B74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2766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454E80-924B-498D-92F9-6B9C19415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43225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C8425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DFD02A-8C1E-4AC1-BEB8-B77045F32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Policy rules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54EACE-5F68-4D18-BED4-C2D78622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1462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Persistence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35E52A-2AF2-4313-A822-512EB47E6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2004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A52C7"/>
          </a:solidFill>
          <a:ln xmlns:a="http://schemas.openxmlformats.org/drawingml/2006/main" w="9525">
            <a:solidFill>
              <a:srgbClr val="6A52C7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87A17E-D6D8-41B7-9685-E30ACFB6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2004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12C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E3B9DF-6F20-4587-BAB1-DF7FB16E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676650"/>
            <a:ext cx="0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6A52C7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8F97BE-6268-4F04-A6A4-DDDF8F5A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8290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Final search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F9FCC8-9024-4BAE-AC43-114F81229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0671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25 combinations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3CDAE9-94B5-4B19-AB9D-6D6993704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9112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A52C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A52C7"/>
                </a:solidFill>
                <a:latin typeface="Arial"/>
                <a:ea typeface="Arial"/>
                <a:cs typeface="Arial"/>
              </a:rPr>
              <a:t>FINAL DESIGN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ADD8A23-26BF-4EC8-A01E-41003A078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2925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XGBoost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E5E41CC-15FD-4410-9AEA-01CB964A6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4292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vehicle-level split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F8F3E5D-5375-4926-B28D-8D3FD6DCB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29250"/>
            <a:ext cx="2619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5AAA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5AAA8"/>
                </a:solidFill>
                <a:latin typeface="Arial"/>
                <a:ea typeface="Arial"/>
                <a:cs typeface="Arial"/>
              </a:rPr>
              <a:t>past-only temporal features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93BC244-4C0B-4419-84F4-61D24D52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292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A52C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A52C7"/>
                </a:solidFill>
                <a:latin typeface="Arial"/>
                <a:ea typeface="Arial"/>
                <a:cs typeface="Arial"/>
              </a:rPr>
              <a:t>no cost objective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8EB87C9-F7C6-469B-9848-F1FDB7D9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4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FEE7319-B8EF-4514-9C1A-4F5969BB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FleetCare AI  /  Group 47  /  Technical walkthrough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462B364-80C7-4AC8-8535-95FAD7A6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770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0:30–1:15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51CB8E0-7643-4741-87D9-DBBDC9807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466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651844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6B9AB43-2E1E-49C0-A4AB-EF1E5EEF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03  SELECTION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882AC7-4EE9-4E33-BC33-366D2302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099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Twenty-five feature and parameter combinations produced two final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44131E-B0C8-4C4B-A7B4-A3D49C621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9675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One model ranks near-term risk. The other produces the five-class state.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E604C9-2C15-41A0-BA88-78EBBD8F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1927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FEATURE SET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997672-6817-4A83-9440-8291526D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F1  all rates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AB6AE1-157D-439E-BFD4-E61D05F35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90750"/>
            <a:ext cx="3143250" cy="800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6CB54F-238F-412D-96B7-BB763C9E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95575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F2  rates + change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22DEA6-5537-4B5D-9136-EAAA33D6C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09875"/>
            <a:ext cx="3143250" cy="847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99A0E1-20B0-4014-9909-C9514AB2A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1470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F3  short rates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51FF42-6C2E-404B-A896-2F60903FE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29000"/>
            <a:ext cx="3143250" cy="895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3668A3-7F87-40A8-849A-B06AD27CD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33825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F4  long rates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5B9D55-0F5F-4D86-B6E7-C0343588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48125"/>
            <a:ext cx="3143250" cy="942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B535D7-93AD-4407-ACC3-112B56F58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5295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A52C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A52C7"/>
                </a:solidFill>
                <a:latin typeface="Arial"/>
                <a:ea typeface="Arial"/>
                <a:cs typeface="Arial"/>
              </a:rPr>
              <a:t>F5  rates + short change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56E6D6-EEBD-4448-B59E-B966E43FD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67250"/>
            <a:ext cx="3143250" cy="990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718">
            <a:solidFill>
              <a:srgbClr val="6A52C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EDA400-0851-461B-868E-6E4E3B7C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40030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87F8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FD2DC9-759B-46A1-AFE2-61DC4DC23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571750"/>
            <a:ext cx="180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49348B-1AD9-40C6-B572-C79881B2F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3718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combinations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F55004-0DAE-4A71-B2D3-A386112E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6576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screened on PolicyDev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947740-F644-4598-9683-59FC12AE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81927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PARAMETER SET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AF7549-F15C-4236-BB0F-AA063AAC7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764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P1  regularized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49FF13-F2A3-4F7F-87C6-8533811BE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190750"/>
            <a:ext cx="290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4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95E9A1-850F-4741-8A3E-4DF4A9D4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69557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P2  shallow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4384E0-19DC-43EF-8A4E-65AFA9F2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809875"/>
            <a:ext cx="290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8B1B4A-661A-4C52-BCDC-9E7852253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3147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P3  medium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2C75F9-F8DA-4024-8AD9-3B74CDC7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429000"/>
            <a:ext cx="290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718">
            <a:solidFill>
              <a:srgbClr val="087F86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1D052C-986A-4DCE-9037-0EDB502C6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93382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P4  very shallow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1E2585-957E-43AB-AD50-6B955146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048125"/>
            <a:ext cx="290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4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6A0042-98BF-4808-A75A-A0C03DAA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529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A52C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A52C7"/>
                </a:solidFill>
                <a:latin typeface="Arial"/>
                <a:ea typeface="Arial"/>
                <a:cs typeface="Arial"/>
              </a:rPr>
              <a:t>P5  less regularized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71E0A4-4F19-4831-90F9-95DCC2165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667250"/>
            <a:ext cx="290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718">
            <a:solidFill>
              <a:srgbClr val="6A52C7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63B0DF-9972-4C8E-B71C-7A384ECA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9550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2324A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6C4C20-AD99-46BF-B2DD-FDE4866A8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815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24A"/>
          </a:solidFill>
          <a:ln xmlns:a="http://schemas.openxmlformats.org/drawingml/2006/main" w="9525">
            <a:solidFill>
              <a:srgbClr val="12324A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4CD60A-0ADF-4B37-93A7-3D861E79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29225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87F86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777015-E2CD-47F8-8427-8226D1DBB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72025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2324A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C330B24-26CC-476A-8B20-5763D5E59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29225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6A52C7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86FF16A-EC82-41F1-9FF8-8761AC99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0673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RISK RANKING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AE14F27-E2D6-472B-BD46-A0CE72506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768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309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F5 + P3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ECD4359-71AB-44B5-A675-349977C30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3880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Mean horizon AP  0.192 ± 0.014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5BF5CB6-6768-4703-B46D-D5F1CA62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0673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A52C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A52C7"/>
                </a:solidFill>
                <a:latin typeface="Arial"/>
                <a:ea typeface="Arial"/>
                <a:cs typeface="Arial"/>
              </a:rPr>
              <a:t>FIVE-CLASS STATE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555C578-161A-4897-A365-379A6DE0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768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309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F5 + P5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3463850-725B-47C8-8A0D-2B39ED172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63880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Macro F1  0.202 ± 0.004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2AB4B4C-31B2-40FD-8906-4C315F76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4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0BD2196-6D68-4263-8AFC-086AA730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FleetCare AI  /  Group 47  /  Technical walkthrough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DDE59B8-4D9F-4F93-8BDD-E0DA2AC1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770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1:15–2:00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E54F4EA-4339-44D9-AA0E-F5573D3C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466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294483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3F6978-6709-4F31-8BFA-1C51213A8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04  MODEL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0C072E-F1EE-4B9E-A9DC-A8F4341D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497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Accuracy remains high because C0 dominates; Macro F1 and AP reveal the hard part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F50997-22E9-46BE-B5AE-57E7864EF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9675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Official Validation provides an independent diagnostic after PolicyDev model selection.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897DA5-8875-4277-B3AC-1C3C99245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66900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843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E35F43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E35F43"/>
                </a:solidFill>
                <a:latin typeface="Arial"/>
                <a:ea typeface="Arial"/>
                <a:cs typeface="Arial"/>
              </a:rPr>
              <a:t>97.0%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149A8A-705C-4782-AA24-CDFB70D71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overall accuracy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BD1E8B-F475-4E32-8A49-916FF507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Useful for completeness, but dominated by C0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4AFAA5-065C-4A60-9A4C-19713075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09750"/>
            <a:ext cx="0" cy="385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4"/>
            </a:solidFill>
          </a:ln>
        </p:spPr>
      </p:sp>
      <p:graphicFrame>
        <p:nvGraphicFramePr>
          <p:cNvPr id="38" name="Chart"/>
          <p:cNvGraphicFramePr/>
          <p:nvPr/>
        </p:nvGraphicFramePr>
        <p:xfrm>
          <a:off xmlns:a="http://schemas.openxmlformats.org/drawingml/2006/main" x="4476750" y="1790700"/>
          <a:ext xmlns:a="http://schemas.openxmlformats.org/drawingml/2006/main" cx="6953250" cy="3000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6e4105b0ab14245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82621D-76C8-4D2F-9AC7-5F4CC64EF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2877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Official Validation, five-seed mean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4DEDB3-1C64-4E26-8C4A-773C8F40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Macro F1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1561C0-6418-4FA0-8019-3DF84B314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143500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D7E0E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9500C8-8357-4A2B-AD22-FE4C9F60A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143500"/>
            <a:ext cx="100545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6A52C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FBC656-2DF6-4FC4-B317-03085E46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101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A52C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A52C7"/>
                </a:solidFill>
                <a:latin typeface="Arial"/>
                <a:ea typeface="Arial"/>
                <a:cs typeface="Arial"/>
              </a:rPr>
              <a:t>0.203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5CFCC8-FECE-487D-931A-45635F3F5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10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five-class balance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FFA047-A11F-433B-A70F-F19FC4AA5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Mean horizon 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AF8764-8215-4767-8A5B-0E5ADCA7E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62600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D7E0E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27A405-0E67-4ED8-8717-9437F6F8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62600"/>
            <a:ext cx="21297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087F8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19ABC5-E175-4F19-BE20-4A3E72395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4292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0.043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0CD935-3A1C-4BCF-815F-53D2DAB6F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4292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minority-risk ranking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8A3E80-396D-4CC3-93CD-FD3FB875A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483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Risk6 AP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0887FF-2F74-4AA5-B08F-A5C3499A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981700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D7E0E4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F9CD3B-2779-441B-8A69-B7221923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981700"/>
            <a:ext cx="1584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E35F4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88E757-2B9A-48BA-8A62-197CE1B09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848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E35F4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35F43"/>
                </a:solidFill>
                <a:latin typeface="Arial"/>
                <a:ea typeface="Arial"/>
                <a:cs typeface="Arial"/>
              </a:rPr>
              <a:t>0.032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C368CE-643E-4E17-AC95-406A1A5DC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8483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immediate-risk ranking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12D873-6B43-4D83-B5AA-CCDD451FE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0958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Decision signal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0F4B8A-8274-4ED0-B779-8FAACAE5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3149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87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Use Macro F1 and horizon AP</a:t>
            </a:r>
          </a:p>
          <a:p xmlns:a="http://schemas.openxmlformats.org/drawingml/2006/main">
            <a:pPr algn="l"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when comparing models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3F247E-DE00-4D4E-8589-44B3F1F7B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4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EABAE6-CF3F-4327-835F-BF4E67F38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FleetCare AI  /  Group 47  /  Technical walkthrough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29BB44-5AE5-4732-8D81-EFCAF3630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770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2:00–2:45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A4A157-709A-45B5-A9F0-A55B4DBAA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466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601310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C957CBB-EF07-4F6C-8500-91421DA61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05  RULE ENGINE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9E55EF-3B4F-4CE7-BEAF-465A9DD69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77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History and stability checks stop noisy class jumps from becoming maintenance actions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8E6C00-0C75-4A53-A191-F0436E45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9675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Risk escalation starts only after the prediction passes the evidence gates.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B33FEB-17AF-4EE1-8EB0-93E5C68F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0"/>
            <a:ext cx="85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MODEL</a:t>
            </a:r>
          </a:p>
          <a:p xmlns:a="http://schemas.openxmlformats.org/drawingml/2006/main">
            <a:pPr algn="ctr">
              <a:defRPr sz="10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40E51E-37A6-48F9-8EED-30D2F08F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43225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2324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912EA2-0BD3-474B-BC30-20CCB12DC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05075"/>
            <a:ext cx="876300" cy="876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7F4F3"/>
          </a:solidFill>
          <a:ln xmlns:a="http://schemas.openxmlformats.org/drawingml/2006/main" w="19050">
            <a:solidFill>
              <a:srgbClr val="087F8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History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E2C1F5-E5A1-4849-8363-6F8D6D50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943225"/>
            <a:ext cx="109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2324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AAC3A1-9B75-47B4-B415-9965EB3BF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505075"/>
            <a:ext cx="876300" cy="876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0EDFA"/>
          </a:solidFill>
          <a:ln xmlns:a="http://schemas.openxmlformats.org/drawingml/2006/main" w="19050">
            <a:solidFill>
              <a:srgbClr val="6A52C7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A52C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A52C7"/>
                </a:solidFill>
                <a:latin typeface="Arial"/>
                <a:ea typeface="Arial"/>
                <a:cs typeface="Arial"/>
              </a:rPr>
              <a:t>Stable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70E542-2FAA-4246-A0ED-102AA374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943225"/>
            <a:ext cx="109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2324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C120BA-AE20-464A-A768-FEDB2AC6B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05075"/>
            <a:ext cx="876300" cy="876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CEDE8"/>
          </a:solidFill>
          <a:ln xmlns:a="http://schemas.openxmlformats.org/drawingml/2006/main" w="19050">
            <a:solidFill>
              <a:srgbClr val="E35F4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35F4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35F43"/>
                </a:solidFill>
                <a:latin typeface="Arial"/>
                <a:ea typeface="Arial"/>
                <a:cs typeface="Arial"/>
              </a:rPr>
              <a:t>Risk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595F59-D118-4BA4-A95B-4F0BDDC5E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943225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2324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014DE3-46FE-4DB3-BFA8-5EF13A1B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67000"/>
            <a:ext cx="85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35F4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35F43"/>
                </a:solidFill>
                <a:latin typeface="Arial"/>
                <a:ea typeface="Arial"/>
                <a:cs typeface="Arial"/>
              </a:rPr>
              <a:t>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2CAEA6-4BA8-4671-9A6A-62DF8F96D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381375"/>
            <a:ext cx="0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87F8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1972ED-6BE5-4673-9036-0F1A7F1BE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05275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TRD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BBFE3D-608B-4DE0-A7E6-A58CEE350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314825"/>
            <a:ext cx="1924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COLLECT MORE 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11B4BF-DB42-4C4E-A4E1-9D2C7E4A3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57200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one readout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3BB3B4-6963-405F-8B4C-A2D76455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381375"/>
            <a:ext cx="0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A52C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0F9129-20DF-4AB5-A230-2C446A2A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105275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A52C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A52C7"/>
                </a:solidFill>
                <a:latin typeface="Arial"/>
                <a:ea typeface="Arial"/>
                <a:cs typeface="Arial"/>
              </a:rPr>
              <a:t>TR0 / TRV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07F73F-727C-4A64-9698-7ECCDE47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14825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MANUAL 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5A747D-4019-43C0-856E-3C01F3BD5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5720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short or unstable history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798C68-0B22-4BAA-A0E2-C237D2CDB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971675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0E4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F55E80-65CD-4CCE-8F43-EB937C46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809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35F4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35F43"/>
                </a:solidFill>
                <a:latin typeface="Arial"/>
                <a:ea typeface="Arial"/>
                <a:cs typeface="Arial"/>
              </a:rPr>
              <a:t>SEVERITY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E26579-D4AB-48D2-AC2D-84E7FB912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266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5F43"/>
          </a:solidFill>
          <a:ln xmlns:a="http://schemas.openxmlformats.org/drawingml/2006/main" w="9525">
            <a:solidFill>
              <a:srgbClr val="E35F4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431DED-BFB5-4208-B82F-F71D23B3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00275"/>
            <a:ext cx="619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333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35F4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E35F43"/>
                </a:solidFill>
                <a:latin typeface="Arial"/>
                <a:ea typeface="Arial"/>
                <a:cs typeface="Arial"/>
              </a:rPr>
              <a:t>TR1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AA2B72-2661-42AC-8DF1-A6B1C76E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171700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35F4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35F43"/>
                </a:solidFill>
                <a:latin typeface="Arial"/>
                <a:ea typeface="Arial"/>
                <a:cs typeface="Arial"/>
              </a:rPr>
              <a:t>PRIORITY INSPECT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AF2FFC-1FFD-4DED-88B4-D3ED737C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42887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C4 + extreme Risk6 + persistence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E8861A-2C7F-486B-9C20-CF82F508D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9813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8425"/>
          </a:solidFill>
          <a:ln xmlns:a="http://schemas.openxmlformats.org/drawingml/2006/main" w="9525">
            <a:solidFill>
              <a:srgbClr val="BC8425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28DCB3-8FA1-42EF-9C1A-7C7CC56AD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914650"/>
            <a:ext cx="619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333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C842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BC8425"/>
                </a:solidFill>
                <a:latin typeface="Arial"/>
                <a:ea typeface="Arial"/>
                <a:cs typeface="Arial"/>
              </a:rPr>
              <a:t>TR2/3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E2653E-3E2B-49E2-93E4-B9080AB0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886075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C842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C8425"/>
                </a:solidFill>
                <a:latin typeface="Arial"/>
                <a:ea typeface="Arial"/>
                <a:cs typeface="Arial"/>
              </a:rPr>
              <a:t>INSPECT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7F2829-94FA-4A8B-BB67-D72ECA64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432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C3/C4 + Risk12 or persistent Risk6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A7D4C8-9D1B-44CD-9039-A021E8AF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6957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6"/>
          </a:solidFill>
          <a:ln xmlns:a="http://schemas.openxmlformats.org/drawingml/2006/main" w="9525">
            <a:solidFill>
              <a:srgbClr val="087F86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7E59E1-0345-4290-B643-843846B21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629025"/>
            <a:ext cx="619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333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TR4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13EA86-2927-4CC6-A4AD-23AC1FD69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600450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ENHANCED MONITOR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186B44-E419-467C-AB56-6232CF10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85762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C2 or Risk24 + trend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32DFCD4-FAFE-4D47-8582-AC795DB5C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4100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24A"/>
          </a:solidFill>
          <a:ln xmlns:a="http://schemas.openxmlformats.org/drawingml/2006/main" w="9525">
            <a:solidFill>
              <a:srgbClr val="12324A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F1761E5-B5D3-4054-B27D-6D5E8C00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343400"/>
            <a:ext cx="619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333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TR5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528C422-424D-4697-AF76-F77DD79B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14825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MONITOR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DFC2DCE-E706-4092-B33C-95C5956A7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5720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C1 or Risk48 + trend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DDFB3C0-BA67-44F6-80FE-8D1A3CD1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51244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B62"/>
          </a:solidFill>
          <a:ln xmlns:a="http://schemas.openxmlformats.org/drawingml/2006/main" w="9525">
            <a:solidFill>
              <a:srgbClr val="4E7B62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99E76E4-0D05-4D83-A114-CE3F40A7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057775"/>
            <a:ext cx="619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333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E7B6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E7B62"/>
                </a:solidFill>
                <a:latin typeface="Arial"/>
                <a:ea typeface="Arial"/>
                <a:cs typeface="Arial"/>
              </a:rPr>
              <a:t>TR6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656502F-19F7-4BF7-A815-5031EDC7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29200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E7B6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E7B62"/>
                </a:solidFill>
                <a:latin typeface="Arial"/>
                <a:ea typeface="Arial"/>
                <a:cs typeface="Arial"/>
              </a:rPr>
              <a:t>CONTINUE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AF6827D-1E2E-4477-9C26-DDC0F5EF0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28637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no combined evidence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8237657-38FA-4936-97ED-D2FBA72F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626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Evidence required before escalation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AAA176A-797E-45F4-9BBC-72271F307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38825"/>
            <a:ext cx="447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class  +  horizon risk  +  recent vehicle history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5145CAF-10B9-455F-BC92-6D0DB719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4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707836E-9A60-4633-B5F6-D5895D1A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FleetCare AI  /  Group 47  /  Technical walkthrough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3CBAD79-CFF4-4AED-B777-81728111C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770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2:45–3:35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5C23F40-12F6-4E3C-BF32-A134B91DD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466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826566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B074156-DB5E-4861-8F8D-4236EC71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06  PRODUCTION SCRIPT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53CA14-84AB-43EB-89C0-F61CE14F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4959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The batch script scores the latest available vehicle history and stores the result once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A5EFFC-0226-4E6F-9330-6B87F4D9E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9675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The dashboard reads the latest active row. New readouts trigger the next batch run.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037DDB-D7B9-4440-83B1-1E91C896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114550"/>
            <a:ext cx="2762250" cy="2762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4F3"/>
          </a:solidFill>
          <a:ln xmlns:a="http://schemas.openxmlformats.org/drawingml/2006/main" w="28575">
            <a:solidFill>
              <a:srgbClr val="087F8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B00F25-D8E5-4D35-889F-4F4CB5902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57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759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fleetcare_inference.py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AE48F1-9C19-4B2D-A4E4-C4E40348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3528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2324A"/>
                </a:solidFill>
                <a:latin typeface="Arial"/>
                <a:ea typeface="Arial"/>
                <a:cs typeface="Arial"/>
              </a:rPr>
              <a:t>features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CD55F7-09B2-48B6-A337-43990A11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6290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2324A"/>
                </a:solidFill>
                <a:latin typeface="Arial"/>
                <a:ea typeface="Arial"/>
                <a:cs typeface="Arial"/>
              </a:rPr>
              <a:t>model  ·  SHAP  ·  rules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C92298-6659-4176-B19C-C42FF9C02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20980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24A"/>
          </a:solidFill>
          <a:ln xmlns:a="http://schemas.openxmlformats.org/drawingml/2006/main" w="9525">
            <a:solidFill>
              <a:srgbClr val="12324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8D71BA-0030-4D69-9BFF-C42DB458D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956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6CDDAE-8F20-4660-BC62-A1881AC99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337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truck + readouts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D4400A-1AEB-4961-84CC-B3EB069E5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49580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A52C7"/>
          </a:solidFill>
          <a:ln xmlns:a="http://schemas.openxmlformats.org/drawingml/2006/main" w="9525">
            <a:solidFill>
              <a:srgbClr val="6A52C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94AB50-4EAC-4C5C-ACDA-180B6065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3816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A52C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A52C7"/>
                </a:solidFill>
                <a:latin typeface="Arial"/>
                <a:ea typeface="Arial"/>
                <a:cs typeface="Arial"/>
              </a:rPr>
              <a:t>Model artifacts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365286-C1D7-4A99-B111-8679B21C4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6197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model + schema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0AAE06-845B-4114-A090-F9601A0B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863" y="220980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A52C7"/>
          </a:solidFill>
          <a:ln xmlns:a="http://schemas.openxmlformats.org/drawingml/2006/main" w="9525">
            <a:solidFill>
              <a:srgbClr val="6A52C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535B26-5CA0-48AF-A785-AAF9CF47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95625"/>
            <a:ext cx="2238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A52C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A52C7"/>
                </a:solidFill>
                <a:latin typeface="Arial"/>
                <a:ea typeface="Arial"/>
                <a:cs typeface="Arial"/>
              </a:rPr>
              <a:t>PostgreSQL public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1BBDD7-3696-4857-B72E-7CB7F5D3D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analysis + prediction_shap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6D87C0-967F-4C23-8D09-470E081C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449580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5F43"/>
          </a:solidFill>
          <a:ln xmlns:a="http://schemas.openxmlformats.org/drawingml/2006/main" w="9525">
            <a:solidFill>
              <a:srgbClr val="E35F4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752D8B-5A03-4FFD-8000-310ED6929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3816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35F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35F43"/>
                </a:solidFill>
                <a:latin typeface="Arial"/>
                <a:ea typeface="Arial"/>
                <a:cs typeface="Arial"/>
              </a:rPr>
              <a:t>Dashboard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C2E2C5-305E-42AB-AB92-A1E63ADA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6197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latest active row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D2A86C-B80F-453D-93B4-754F5A5A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19375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2324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DA284A-11C6-4ABC-BA1E-4F4DF593E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19375"/>
            <a:ext cx="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2324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4A1BBD-A476-4EA2-807B-C09D1A2E6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381375"/>
            <a:ext cx="904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2324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A36E45-79BB-43AF-AE37-B9C985DAF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905375"/>
            <a:ext cx="904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A52C7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C20B94-4076-4AD7-A7B7-2DE4A4A2C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19575"/>
            <a:ext cx="0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A52C7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5CC6CC-32BF-4A7B-845E-F2C8796DC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19575"/>
            <a:ext cx="904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A52C7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97D680-ADB5-4387-ADE5-A2489B17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381375"/>
            <a:ext cx="95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A52C7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999C0B-C4B9-43B2-BB5F-1A588513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619375"/>
            <a:ext cx="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A52C7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163589-7707-438C-971F-6EAEC623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619375"/>
            <a:ext cx="100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A52C7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3AD582-9516-4B3D-9281-54648099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219575"/>
            <a:ext cx="95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5F43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85B5F7-118B-4632-98A1-DA0830CA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219575"/>
            <a:ext cx="0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5F43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EF05D0-7B27-4E53-8569-1E19A2EEC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905375"/>
            <a:ext cx="100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5F43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B939F3-0FA6-4E09-884C-5EF3DFC9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907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run_model.py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2A09D4-12D7-4FF4-8DF9-2A86D5E49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383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CLI entrypoint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BE058A0-80B3-4C19-834A-6DA57058C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2197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481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193,095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DA0812-0D70-4D09-A1C4-0DD4D0195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5435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readouts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0941EB4-EF22-4EB1-9A9E-4F1CCF298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2197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481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5,037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15F59C-5378-4BAE-8BC0-B52213A9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5435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predictions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CA31807-4522-4F06-BC3E-430A2A6E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2197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481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6A52C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6A52C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8E1F836-0596-404E-806D-909EA7BA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5435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collect more data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9DE9A76-D81F-4C28-9EC8-617EABE8B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8864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verified dry run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AF60FAE-736D-4C1F-BCBB-1A976D12A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4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ABF4D53-DDB0-42D8-9B88-95010A9F5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FleetCare AI  /  Group 47  /  Technical walkthrough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1C163A6-EB12-4992-BBF8-F6BC195C0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770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3:35–4:20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BE220F3-1105-401F-B42D-48C99BB0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466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060372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2026-10-12T23:09:23.8220000Z</dcterms:created>
  <dcterms:modified xsi:type="dcterms:W3CDTF">2026-10-12T23:09:23.8220000Z</dcterms:modified>
</coreProperties>
</file>